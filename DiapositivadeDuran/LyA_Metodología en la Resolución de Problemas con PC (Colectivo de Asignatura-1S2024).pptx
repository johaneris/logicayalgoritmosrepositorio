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5"/>
  </p:handoutMasterIdLst>
  <p:sldIdLst>
    <p:sldId id="258" r:id="rId2"/>
    <p:sldId id="273" r:id="rId3"/>
    <p:sldId id="262" r:id="rId4"/>
    <p:sldId id="263" r:id="rId5"/>
    <p:sldId id="264" r:id="rId6"/>
    <p:sldId id="274" r:id="rId7"/>
    <p:sldId id="265" r:id="rId8"/>
    <p:sldId id="266" r:id="rId9"/>
    <p:sldId id="267" r:id="rId10"/>
    <p:sldId id="268" r:id="rId11"/>
    <p:sldId id="269" r:id="rId12"/>
    <p:sldId id="270" r:id="rId13"/>
    <p:sldId id="260" r:id="rId14"/>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7C20"/>
    <a:srgbClr val="D71920"/>
    <a:srgbClr val="C8B160"/>
    <a:srgbClr val="0099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Estilo medio 3 - Énfasis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1" d="100"/>
          <a:sy n="91" d="100"/>
        </p:scale>
        <p:origin x="126" y="84"/>
      </p:cViewPr>
      <p:guideLst/>
    </p:cSldViewPr>
  </p:slideViewPr>
  <p:notesTextViewPr>
    <p:cViewPr>
      <p:scale>
        <a:sx n="1" d="1"/>
        <a:sy n="1" d="1"/>
      </p:scale>
      <p:origin x="0" y="0"/>
    </p:cViewPr>
  </p:notesTextViewPr>
  <p:notesViewPr>
    <p:cSldViewPr snapToGrid="0">
      <p:cViewPr varScale="1">
        <p:scale>
          <a:sx n="56" d="100"/>
          <a:sy n="56" d="100"/>
        </p:scale>
        <p:origin x="2856"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NI" dirty="0"/>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57612F-F4F6-49E7-9E06-3D5220FEBB27}" type="datetimeFigureOut">
              <a:rPr lang="es-NI" smtClean="0"/>
              <a:t>9/3/2024</a:t>
            </a:fld>
            <a:endParaRPr lang="es-NI" dirty="0"/>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NI" dirty="0"/>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084567-83D8-42DA-AC87-6626250FF122}" type="slidenum">
              <a:rPr lang="es-NI" smtClean="0"/>
              <a:t>‹Nº›</a:t>
            </a:fld>
            <a:endParaRPr lang="es-NI" dirty="0"/>
          </a:p>
        </p:txBody>
      </p:sp>
    </p:spTree>
    <p:extLst>
      <p:ext uri="{BB962C8B-B14F-4D97-AF65-F5344CB8AC3E}">
        <p14:creationId xmlns:p14="http://schemas.microsoft.com/office/powerpoint/2010/main" val="138373146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7" name="Rectángulo 6"/>
          <p:cNvSpPr/>
          <p:nvPr userDrawn="1"/>
        </p:nvSpPr>
        <p:spPr>
          <a:xfrm>
            <a:off x="0" y="1709738"/>
            <a:ext cx="12192000" cy="5148262"/>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ln>
                <a:noFill/>
              </a:ln>
            </a:endParaRPr>
          </a:p>
        </p:txBody>
      </p:sp>
      <p:sp>
        <p:nvSpPr>
          <p:cNvPr id="2" name="Título 1"/>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es-ES" dirty="0" smtClean="0"/>
              <a:t>Haga clic para modificar el estilo de título del patrón</a:t>
            </a:r>
            <a:endParaRPr lang="es-NI" dirty="0"/>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smtClean="0"/>
              <a:t>Editar el estilo de texto del patrón</a:t>
            </a:r>
          </a:p>
        </p:txBody>
      </p:sp>
      <p:pic>
        <p:nvPicPr>
          <p:cNvPr id="4" name="Imagen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15910"/>
            <a:ext cx="5306096" cy="1416727"/>
          </a:xfrm>
          <a:prstGeom prst="rect">
            <a:avLst/>
          </a:prstGeom>
        </p:spPr>
      </p:pic>
    </p:spTree>
    <p:extLst>
      <p:ext uri="{BB962C8B-B14F-4D97-AF65-F5344CB8AC3E}">
        <p14:creationId xmlns:p14="http://schemas.microsoft.com/office/powerpoint/2010/main" val="388124845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solidFill>
                  <a:schemeClr val="tx1">
                    <a:lumMod val="75000"/>
                    <a:lumOff val="25000"/>
                  </a:schemeClr>
                </a:solidFill>
              </a:defRPr>
            </a:lvl1pPr>
          </a:lstStyle>
          <a:p>
            <a:r>
              <a:rPr lang="es-ES" dirty="0" smtClean="0"/>
              <a:t>Haga clic para modificar el estilo de título del patrón</a:t>
            </a:r>
            <a:endParaRPr lang="es-NI"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smtClean="0"/>
              <a:t>Haga clic para editar el estilo de subtítulo del patrón</a:t>
            </a:r>
            <a:endParaRPr lang="es-NI" dirty="0"/>
          </a:p>
        </p:txBody>
      </p:sp>
      <p:sp>
        <p:nvSpPr>
          <p:cNvPr id="8" name="Rectángulo 7"/>
          <p:cNvSpPr/>
          <p:nvPr userDrawn="1"/>
        </p:nvSpPr>
        <p:spPr>
          <a:xfrm>
            <a:off x="0" y="-1"/>
            <a:ext cx="12192000" cy="1122364"/>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ln>
                <a:noFill/>
              </a:ln>
            </a:endParaRPr>
          </a:p>
        </p:txBody>
      </p:sp>
      <p:pic>
        <p:nvPicPr>
          <p:cNvPr id="9" name="Imagen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52533" y="-36372"/>
            <a:ext cx="2139467" cy="1195106"/>
          </a:xfrm>
          <a:prstGeom prst="rect">
            <a:avLst/>
          </a:prstGeom>
        </p:spPr>
      </p:pic>
    </p:spTree>
    <p:extLst>
      <p:ext uri="{BB962C8B-B14F-4D97-AF65-F5344CB8AC3E}">
        <p14:creationId xmlns:p14="http://schemas.microsoft.com/office/powerpoint/2010/main" val="2660770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solidFill>
                  <a:schemeClr val="tx1">
                    <a:lumMod val="75000"/>
                    <a:lumOff val="25000"/>
                  </a:schemeClr>
                </a:solidFill>
              </a:defRPr>
            </a:lvl1pPr>
          </a:lstStyle>
          <a:p>
            <a:r>
              <a:rPr lang="es-ES" dirty="0" smtClean="0"/>
              <a:t>Haga clic para modificar el estilo de título del patrón</a:t>
            </a:r>
            <a:endParaRPr lang="es-NI" dirty="0"/>
          </a:p>
        </p:txBody>
      </p:sp>
      <p:sp>
        <p:nvSpPr>
          <p:cNvPr id="3" name="Marcador de contenido 2"/>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smtClean="0"/>
              <a:t>Editar el estilo de texto del patrón</a:t>
            </a:r>
          </a:p>
          <a:p>
            <a:pPr lvl="1"/>
            <a:r>
              <a:rPr lang="es-ES" dirty="0" smtClean="0"/>
              <a:t>Segundo nivel</a:t>
            </a:r>
          </a:p>
          <a:p>
            <a:pPr lvl="2"/>
            <a:r>
              <a:rPr lang="es-ES" dirty="0" smtClean="0"/>
              <a:t>Tercer nivel</a:t>
            </a:r>
          </a:p>
          <a:p>
            <a:pPr lvl="3"/>
            <a:r>
              <a:rPr lang="es-ES" dirty="0" smtClean="0"/>
              <a:t>Cuarto nivel</a:t>
            </a:r>
          </a:p>
          <a:p>
            <a:pPr lvl="4"/>
            <a:r>
              <a:rPr lang="es-ES" dirty="0" smtClean="0"/>
              <a:t>Quinto nivel</a:t>
            </a:r>
            <a:endParaRPr lang="es-NI" dirty="0"/>
          </a:p>
        </p:txBody>
      </p:sp>
      <p:pic>
        <p:nvPicPr>
          <p:cNvPr id="7" name="Imagen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51054" y="6921"/>
            <a:ext cx="1040946" cy="581472"/>
          </a:xfrm>
          <a:prstGeom prst="rect">
            <a:avLst/>
          </a:prstGeom>
        </p:spPr>
      </p:pic>
      <p:sp>
        <p:nvSpPr>
          <p:cNvPr id="8" name="Rectángulo 7"/>
          <p:cNvSpPr/>
          <p:nvPr userDrawn="1"/>
        </p:nvSpPr>
        <p:spPr>
          <a:xfrm>
            <a:off x="0" y="6542468"/>
            <a:ext cx="12192000" cy="315532"/>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ln>
                <a:noFill/>
              </a:ln>
            </a:endParaRPr>
          </a:p>
        </p:txBody>
      </p:sp>
    </p:spTree>
    <p:extLst>
      <p:ext uri="{BB962C8B-B14F-4D97-AF65-F5344CB8AC3E}">
        <p14:creationId xmlns:p14="http://schemas.microsoft.com/office/powerpoint/2010/main" val="3940911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solidFill>
                  <a:schemeClr val="tx1">
                    <a:lumMod val="75000"/>
                    <a:lumOff val="25000"/>
                  </a:schemeClr>
                </a:solidFill>
              </a:defRPr>
            </a:lvl1pPr>
          </a:lstStyle>
          <a:p>
            <a:r>
              <a:rPr lang="es-ES" dirty="0" smtClean="0"/>
              <a:t>Haga clic para modificar el estilo de título del patrón</a:t>
            </a:r>
            <a:endParaRPr lang="es-NI" dirty="0"/>
          </a:p>
        </p:txBody>
      </p:sp>
      <p:sp>
        <p:nvSpPr>
          <p:cNvPr id="3" name="Marcador de contenido 2"/>
          <p:cNvSpPr>
            <a:spLocks noGrp="1"/>
          </p:cNvSpPr>
          <p:nvPr>
            <p:ph sz="half" idx="1"/>
          </p:nvPr>
        </p:nvSpPr>
        <p:spPr>
          <a:xfrm>
            <a:off x="838200" y="1825625"/>
            <a:ext cx="5181600" cy="4351338"/>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s-ES" dirty="0" smtClean="0"/>
              <a:t>Editar el estilo de texto del patrón</a:t>
            </a:r>
          </a:p>
          <a:p>
            <a:pPr lvl="1"/>
            <a:r>
              <a:rPr lang="es-ES" dirty="0" smtClean="0"/>
              <a:t>Segundo nivel</a:t>
            </a:r>
          </a:p>
          <a:p>
            <a:pPr lvl="2"/>
            <a:r>
              <a:rPr lang="es-ES" dirty="0" smtClean="0"/>
              <a:t>Tercer nivel</a:t>
            </a:r>
          </a:p>
          <a:p>
            <a:pPr lvl="3"/>
            <a:r>
              <a:rPr lang="es-ES" dirty="0" smtClean="0"/>
              <a:t>Cuarto nivel</a:t>
            </a:r>
          </a:p>
          <a:p>
            <a:pPr lvl="4"/>
            <a:r>
              <a:rPr lang="es-ES" dirty="0" smtClean="0"/>
              <a:t>Quinto nivel</a:t>
            </a:r>
            <a:endParaRPr lang="es-NI" dirty="0"/>
          </a:p>
        </p:txBody>
      </p:sp>
      <p:sp>
        <p:nvSpPr>
          <p:cNvPr id="4" name="Marcador de contenido 3"/>
          <p:cNvSpPr>
            <a:spLocks noGrp="1"/>
          </p:cNvSpPr>
          <p:nvPr>
            <p:ph sz="half" idx="2"/>
          </p:nvPr>
        </p:nvSpPr>
        <p:spPr>
          <a:xfrm>
            <a:off x="6172200" y="1825625"/>
            <a:ext cx="5181600" cy="4351338"/>
          </a:xfrm>
        </p:spPr>
        <p:txBody>
          <a:bodyPr/>
          <a:lstStyle/>
          <a:p>
            <a:pPr lvl="0"/>
            <a:r>
              <a:rPr lang="es-ES" dirty="0" smtClean="0"/>
              <a:t>Editar el estilo de texto del patrón</a:t>
            </a:r>
          </a:p>
          <a:p>
            <a:pPr lvl="1"/>
            <a:r>
              <a:rPr lang="es-ES" dirty="0" smtClean="0"/>
              <a:t>Segundo nivel</a:t>
            </a:r>
          </a:p>
          <a:p>
            <a:pPr lvl="2"/>
            <a:r>
              <a:rPr lang="es-ES" dirty="0" smtClean="0"/>
              <a:t>Tercer nivel</a:t>
            </a:r>
          </a:p>
          <a:p>
            <a:pPr lvl="3"/>
            <a:r>
              <a:rPr lang="es-ES" dirty="0" smtClean="0"/>
              <a:t>Cuarto nivel</a:t>
            </a:r>
          </a:p>
          <a:p>
            <a:pPr lvl="4"/>
            <a:r>
              <a:rPr lang="es-ES" dirty="0" smtClean="0"/>
              <a:t>Quinto nivel</a:t>
            </a:r>
            <a:endParaRPr lang="es-NI" dirty="0"/>
          </a:p>
        </p:txBody>
      </p:sp>
      <p:sp>
        <p:nvSpPr>
          <p:cNvPr id="9" name="Rectángulo 8"/>
          <p:cNvSpPr/>
          <p:nvPr userDrawn="1"/>
        </p:nvSpPr>
        <p:spPr>
          <a:xfrm>
            <a:off x="0" y="6542468"/>
            <a:ext cx="12192000" cy="315532"/>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ln>
                <a:noFill/>
              </a:ln>
            </a:endParaRPr>
          </a:p>
        </p:txBody>
      </p:sp>
      <p:pic>
        <p:nvPicPr>
          <p:cNvPr id="7" name="Imagen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51054" y="6921"/>
            <a:ext cx="1040946" cy="581472"/>
          </a:xfrm>
          <a:prstGeom prst="rect">
            <a:avLst/>
          </a:prstGeom>
        </p:spPr>
      </p:pic>
    </p:spTree>
    <p:extLst>
      <p:ext uri="{BB962C8B-B14F-4D97-AF65-F5344CB8AC3E}">
        <p14:creationId xmlns:p14="http://schemas.microsoft.com/office/powerpoint/2010/main" val="243098950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Rectángulo 4"/>
          <p:cNvSpPr/>
          <p:nvPr userDrawn="1"/>
        </p:nvSpPr>
        <p:spPr>
          <a:xfrm>
            <a:off x="0" y="6349284"/>
            <a:ext cx="12192000" cy="508715"/>
          </a:xfrm>
          <a:prstGeom prst="rect">
            <a:avLst/>
          </a:prstGeom>
          <a:solidFill>
            <a:srgbClr val="F47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ln>
                <a:noFill/>
              </a:ln>
            </a:endParaRPr>
          </a:p>
        </p:txBody>
      </p:sp>
      <p:pic>
        <p:nvPicPr>
          <p:cNvPr id="3" name="Imagen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02455" y="2253803"/>
            <a:ext cx="7187089" cy="1918952"/>
          </a:xfrm>
          <a:prstGeom prst="rect">
            <a:avLst/>
          </a:prstGeom>
        </p:spPr>
      </p:pic>
    </p:spTree>
    <p:extLst>
      <p:ext uri="{BB962C8B-B14F-4D97-AF65-F5344CB8AC3E}">
        <p14:creationId xmlns:p14="http://schemas.microsoft.com/office/powerpoint/2010/main" val="41978857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smtClean="0"/>
              <a:t>Haga clic para modificar el estilo de título del patrón</a:t>
            </a:r>
            <a:endParaRPr lang="es-NI"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smtClean="0"/>
              <a:t>Editar el estilo de texto del patrón</a:t>
            </a:r>
          </a:p>
          <a:p>
            <a:pPr lvl="1"/>
            <a:r>
              <a:rPr lang="es-ES" dirty="0" smtClean="0"/>
              <a:t>Segundo nivel</a:t>
            </a:r>
          </a:p>
          <a:p>
            <a:pPr lvl="2"/>
            <a:r>
              <a:rPr lang="es-ES" dirty="0" smtClean="0"/>
              <a:t>Tercer nivel</a:t>
            </a:r>
          </a:p>
          <a:p>
            <a:pPr lvl="3"/>
            <a:r>
              <a:rPr lang="es-ES" dirty="0" smtClean="0"/>
              <a:t>Cuarto nivel</a:t>
            </a:r>
          </a:p>
          <a:p>
            <a:pPr lvl="4"/>
            <a:r>
              <a:rPr lang="es-ES" dirty="0" smtClean="0"/>
              <a:t>Quinto nivel</a:t>
            </a:r>
            <a:endParaRPr lang="es-NI" dirty="0"/>
          </a:p>
        </p:txBody>
      </p:sp>
    </p:spTree>
    <p:extLst>
      <p:ext uri="{BB962C8B-B14F-4D97-AF65-F5344CB8AC3E}">
        <p14:creationId xmlns:p14="http://schemas.microsoft.com/office/powerpoint/2010/main" val="4044447819"/>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50" r:id="rId3"/>
    <p:sldLayoutId id="2147483652" r:id="rId4"/>
    <p:sldLayoutId id="2147483655" r:id="rId5"/>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786773" y="2049516"/>
            <a:ext cx="6094468" cy="841813"/>
          </a:xfrm>
        </p:spPr>
        <p:txBody>
          <a:bodyPr>
            <a:normAutofit fontScale="90000"/>
          </a:bodyPr>
          <a:lstStyle/>
          <a:p>
            <a:r>
              <a:rPr lang="es-ES" dirty="0" smtClean="0"/>
              <a:t>Lógica y Algoritmos</a:t>
            </a:r>
            <a:endParaRPr lang="es-NI" dirty="0"/>
          </a:p>
        </p:txBody>
      </p:sp>
      <p:sp>
        <p:nvSpPr>
          <p:cNvPr id="3" name="Marcador de texto 2"/>
          <p:cNvSpPr>
            <a:spLocks noGrp="1"/>
          </p:cNvSpPr>
          <p:nvPr>
            <p:ph type="body" idx="1"/>
          </p:nvPr>
        </p:nvSpPr>
        <p:spPr>
          <a:xfrm>
            <a:off x="3007490" y="3033931"/>
            <a:ext cx="6399266" cy="3114621"/>
          </a:xfrm>
        </p:spPr>
        <p:txBody>
          <a:bodyPr>
            <a:noAutofit/>
          </a:bodyPr>
          <a:lstStyle/>
          <a:p>
            <a:r>
              <a:rPr lang="es-ES" dirty="0" smtClean="0"/>
              <a:t>Unidad I: Metodología de la Programación</a:t>
            </a:r>
          </a:p>
          <a:p>
            <a:r>
              <a:rPr lang="es-ES" sz="2000" dirty="0" smtClean="0"/>
              <a:t>Temas:</a:t>
            </a:r>
          </a:p>
          <a:p>
            <a:pPr marL="342900" indent="-342900">
              <a:buFont typeface="Wingdings" panose="05000000000000000000" pitchFamily="2" charset="2"/>
              <a:buChar char="§"/>
            </a:pPr>
            <a:r>
              <a:rPr lang="es-NI" sz="2000" dirty="0" smtClean="0"/>
              <a:t>Técnicas </a:t>
            </a:r>
            <a:r>
              <a:rPr lang="es-NI" sz="2000" dirty="0"/>
              <a:t>de </a:t>
            </a:r>
            <a:r>
              <a:rPr lang="es-NI" sz="2000" dirty="0" smtClean="0"/>
              <a:t>programación</a:t>
            </a:r>
            <a:endParaRPr lang="es-NI" sz="2000" dirty="0"/>
          </a:p>
          <a:p>
            <a:pPr marL="342900" indent="-342900">
              <a:buFont typeface="Wingdings" panose="05000000000000000000" pitchFamily="2" charset="2"/>
              <a:buChar char="§"/>
            </a:pPr>
            <a:r>
              <a:rPr lang="es-NI" sz="2000" dirty="0" smtClean="0"/>
              <a:t>Representación </a:t>
            </a:r>
            <a:r>
              <a:rPr lang="es-NI" sz="2000" dirty="0"/>
              <a:t>de datos en memoria </a:t>
            </a:r>
            <a:r>
              <a:rPr lang="es-NI" sz="2000" dirty="0" smtClean="0"/>
              <a:t>RAM</a:t>
            </a:r>
            <a:endParaRPr lang="es-NI" sz="2000" dirty="0"/>
          </a:p>
          <a:p>
            <a:pPr marL="342900" indent="-342900">
              <a:buFont typeface="Wingdings" panose="05000000000000000000" pitchFamily="2" charset="2"/>
              <a:buChar char="§"/>
            </a:pPr>
            <a:r>
              <a:rPr lang="es-NI" sz="2000" dirty="0" smtClean="0"/>
              <a:t>Fases </a:t>
            </a:r>
            <a:r>
              <a:rPr lang="es-NI" sz="2000" dirty="0"/>
              <a:t>en la resolución de </a:t>
            </a:r>
            <a:r>
              <a:rPr lang="es-NI" sz="2000" dirty="0" smtClean="0"/>
              <a:t>problemas</a:t>
            </a:r>
          </a:p>
          <a:p>
            <a:endParaRPr lang="es-ES" sz="2000" dirty="0"/>
          </a:p>
          <a:p>
            <a:r>
              <a:rPr lang="es-ES" sz="2000" dirty="0" smtClean="0"/>
              <a:t>Docentes: Colectivo de Asignatura (1S2024)</a:t>
            </a:r>
            <a:endParaRPr lang="es-NI" sz="2000" dirty="0"/>
          </a:p>
        </p:txBody>
      </p:sp>
    </p:spTree>
    <p:extLst>
      <p:ext uri="{BB962C8B-B14F-4D97-AF65-F5344CB8AC3E}">
        <p14:creationId xmlns:p14="http://schemas.microsoft.com/office/powerpoint/2010/main" val="7715604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3846789" y="115614"/>
            <a:ext cx="2490949" cy="707886"/>
          </a:xfrm>
          <a:prstGeom prst="rect">
            <a:avLst/>
          </a:prstGeom>
          <a:noFill/>
        </p:spPr>
        <p:txBody>
          <a:bodyPr wrap="square" rtlCol="0">
            <a:spAutoFit/>
          </a:bodyPr>
          <a:lstStyle/>
          <a:p>
            <a:pPr algn="ctr"/>
            <a:r>
              <a:rPr lang="es-ES" sz="4000" dirty="0" smtClean="0">
                <a:solidFill>
                  <a:schemeClr val="bg1"/>
                </a:solidFill>
              </a:rPr>
              <a:t>Algoritmos</a:t>
            </a:r>
            <a:endParaRPr lang="es-NI" sz="4000" dirty="0">
              <a:solidFill>
                <a:schemeClr val="bg1"/>
              </a:solidFill>
            </a:endParaRPr>
          </a:p>
        </p:txBody>
      </p:sp>
      <p:sp>
        <p:nvSpPr>
          <p:cNvPr id="2" name="CuadroTexto 1"/>
          <p:cNvSpPr txBox="1"/>
          <p:nvPr/>
        </p:nvSpPr>
        <p:spPr>
          <a:xfrm>
            <a:off x="315912" y="1321089"/>
            <a:ext cx="11571288" cy="4708981"/>
          </a:xfrm>
          <a:prstGeom prst="rect">
            <a:avLst/>
          </a:prstGeom>
          <a:noFill/>
        </p:spPr>
        <p:txBody>
          <a:bodyPr wrap="square" rtlCol="0">
            <a:spAutoFit/>
          </a:bodyPr>
          <a:lstStyle/>
          <a:p>
            <a:pPr marL="342900" indent="-342900" algn="just">
              <a:buFont typeface="Wingdings" panose="05000000000000000000" pitchFamily="2" charset="2"/>
              <a:buChar char="§"/>
            </a:pPr>
            <a:r>
              <a:rPr lang="es-ES" sz="2000" dirty="0" smtClean="0"/>
              <a:t>La idea de algoritmo, es natural como la vida misma, ya que siempre encierra una secuencia de pasos – exentos de ambigüedades – que lleva a la solución de un problema. Un ejemplo clásico de algoritmo, es la receta para elaborar un plato de cocina; otro algoritmo típico, son los pasos necesarios para cambiar una llanta ponchada a un auto.</a:t>
            </a:r>
          </a:p>
          <a:p>
            <a:pPr algn="just"/>
            <a:endParaRPr lang="es-ES" sz="2000" dirty="0"/>
          </a:p>
          <a:p>
            <a:pPr marL="342900" indent="-342900" algn="just">
              <a:buFont typeface="Wingdings" panose="05000000000000000000" pitchFamily="2" charset="2"/>
              <a:buChar char="§"/>
            </a:pPr>
            <a:r>
              <a:rPr lang="es-ES" sz="2000" b="1" dirty="0"/>
              <a:t>Las características que debe cumplir un algoritmo son:</a:t>
            </a:r>
          </a:p>
          <a:p>
            <a:pPr marL="800100" lvl="1" indent="-342900" algn="just">
              <a:buFont typeface="Arial" panose="020B0604020202020204" pitchFamily="34" charset="0"/>
              <a:buChar char="•"/>
            </a:pPr>
            <a:r>
              <a:rPr lang="es-ES" sz="2000" dirty="0" smtClean="0"/>
              <a:t>Un algoritmo debe ser </a:t>
            </a:r>
            <a:r>
              <a:rPr lang="es-ES" sz="2000" b="1" dirty="0" smtClean="0"/>
              <a:t>preciso</a:t>
            </a:r>
            <a:r>
              <a:rPr lang="es-ES" sz="2000" dirty="0" smtClean="0"/>
              <a:t> e indicar el orden de realización de cada paso.</a:t>
            </a:r>
          </a:p>
          <a:p>
            <a:pPr marL="800100" lvl="1" indent="-342900" algn="just">
              <a:buFont typeface="Arial" panose="020B0604020202020204" pitchFamily="34" charset="0"/>
              <a:buChar char="•"/>
            </a:pPr>
            <a:r>
              <a:rPr lang="es-ES" sz="2000" dirty="0" smtClean="0"/>
              <a:t>Un algoritmo debe estar </a:t>
            </a:r>
            <a:r>
              <a:rPr lang="es-ES" sz="2000" b="1" dirty="0" smtClean="0"/>
              <a:t>definido</a:t>
            </a:r>
            <a:r>
              <a:rPr lang="es-ES" sz="2000" dirty="0" smtClean="0"/>
              <a:t>: si se sigue un algoritmo dos veces, se debe obtener el mismo resultado cada vez.</a:t>
            </a:r>
          </a:p>
          <a:p>
            <a:pPr marL="800100" lvl="1" indent="-342900" algn="just">
              <a:buFont typeface="Arial" panose="020B0604020202020204" pitchFamily="34" charset="0"/>
              <a:buChar char="•"/>
            </a:pPr>
            <a:r>
              <a:rPr lang="es-ES" sz="2000" dirty="0" smtClean="0"/>
              <a:t>Un algoritmo debe ser </a:t>
            </a:r>
            <a:r>
              <a:rPr lang="es-ES" sz="2000" b="1" dirty="0" smtClean="0"/>
              <a:t>finito</a:t>
            </a:r>
            <a:r>
              <a:rPr lang="es-ES" sz="2000" dirty="0" smtClean="0"/>
              <a:t>: si se sigue un algoritmo, se debe terminar en algún momento.</a:t>
            </a:r>
            <a:endParaRPr lang="es-ES" sz="2000" dirty="0"/>
          </a:p>
          <a:p>
            <a:pPr algn="just"/>
            <a:endParaRPr lang="es-ES" sz="2000" dirty="0"/>
          </a:p>
          <a:p>
            <a:pPr marL="342900" indent="-342900" algn="just">
              <a:buFont typeface="Wingdings" panose="05000000000000000000" pitchFamily="2" charset="2"/>
              <a:buChar char="§"/>
            </a:pPr>
            <a:r>
              <a:rPr lang="es-ES" sz="2000" b="1" dirty="0"/>
              <a:t>Debe constar de tres partes:</a:t>
            </a:r>
          </a:p>
          <a:p>
            <a:pPr marL="800100" lvl="1" indent="-342900" algn="just">
              <a:buFont typeface="Arial" panose="020B0604020202020204" pitchFamily="34" charset="0"/>
              <a:buChar char="•"/>
            </a:pPr>
            <a:r>
              <a:rPr lang="es-ES" sz="2000" b="1" dirty="0"/>
              <a:t>Entrada</a:t>
            </a:r>
            <a:r>
              <a:rPr lang="es-ES" sz="2000" dirty="0"/>
              <a:t>: </a:t>
            </a:r>
            <a:r>
              <a:rPr lang="es-ES" sz="2000" dirty="0" smtClean="0"/>
              <a:t>Datos suministrados al algoritmo.</a:t>
            </a:r>
            <a:endParaRPr lang="es-ES" sz="2000" dirty="0"/>
          </a:p>
          <a:p>
            <a:pPr marL="800100" lvl="1" indent="-342900" algn="just">
              <a:buFont typeface="Arial" panose="020B0604020202020204" pitchFamily="34" charset="0"/>
              <a:buChar char="•"/>
            </a:pPr>
            <a:r>
              <a:rPr lang="es-ES" sz="2000" b="1" dirty="0"/>
              <a:t>Proceso</a:t>
            </a:r>
            <a:r>
              <a:rPr lang="es-ES" sz="2000" dirty="0"/>
              <a:t>: Cálculos necesarios para encontrar la solución del </a:t>
            </a:r>
            <a:r>
              <a:rPr lang="es-ES" sz="2000" dirty="0" smtClean="0"/>
              <a:t>problema.</a:t>
            </a:r>
            <a:endParaRPr lang="es-ES" sz="2000" dirty="0"/>
          </a:p>
          <a:p>
            <a:pPr marL="800100" lvl="1" indent="-342900" algn="just">
              <a:buFont typeface="Arial" panose="020B0604020202020204" pitchFamily="34" charset="0"/>
              <a:buChar char="•"/>
            </a:pPr>
            <a:r>
              <a:rPr lang="es-ES" sz="2000" b="1" dirty="0"/>
              <a:t>Salida</a:t>
            </a:r>
            <a:r>
              <a:rPr lang="es-ES" sz="2000" dirty="0"/>
              <a:t>: </a:t>
            </a:r>
            <a:r>
              <a:rPr lang="es-ES" sz="2000" dirty="0" smtClean="0"/>
              <a:t>Respuestas dadas por </a:t>
            </a:r>
            <a:r>
              <a:rPr lang="es-ES" sz="2000" dirty="0"/>
              <a:t>el algoritmo o resultados finales </a:t>
            </a:r>
            <a:r>
              <a:rPr lang="es-ES" sz="2000" dirty="0" smtClean="0"/>
              <a:t>de </a:t>
            </a:r>
            <a:r>
              <a:rPr lang="es-ES" sz="2000" dirty="0"/>
              <a:t>los </a:t>
            </a:r>
            <a:r>
              <a:rPr lang="es-ES" sz="2000" dirty="0" smtClean="0"/>
              <a:t>cálculos.</a:t>
            </a:r>
            <a:endParaRPr lang="es-NI" sz="2000" dirty="0"/>
          </a:p>
        </p:txBody>
      </p:sp>
    </p:spTree>
    <p:extLst>
      <p:ext uri="{BB962C8B-B14F-4D97-AF65-F5344CB8AC3E}">
        <p14:creationId xmlns:p14="http://schemas.microsoft.com/office/powerpoint/2010/main" val="3402569395"/>
      </p:ext>
    </p:extLst>
  </p:cSld>
  <p:clrMapOvr>
    <a:masterClrMapping/>
  </p:clrMapOvr>
  <p:transition spd="slow">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242793" y="1237130"/>
            <a:ext cx="3908793" cy="461665"/>
          </a:xfrm>
          <a:prstGeom prst="rect">
            <a:avLst/>
          </a:prstGeom>
          <a:noFill/>
        </p:spPr>
        <p:txBody>
          <a:bodyPr wrap="square" rtlCol="0">
            <a:spAutoFit/>
          </a:bodyPr>
          <a:lstStyle/>
          <a:p>
            <a:r>
              <a:rPr lang="es-ES" sz="2400" b="1" dirty="0" smtClean="0"/>
              <a:t>Programación Estructurada</a:t>
            </a:r>
            <a:endParaRPr lang="es-NI" sz="2400" b="1" dirty="0"/>
          </a:p>
        </p:txBody>
      </p:sp>
      <p:sp>
        <p:nvSpPr>
          <p:cNvPr id="6" name="CuadroTexto 5"/>
          <p:cNvSpPr txBox="1"/>
          <p:nvPr/>
        </p:nvSpPr>
        <p:spPr>
          <a:xfrm>
            <a:off x="1902373" y="115614"/>
            <a:ext cx="5833242" cy="707886"/>
          </a:xfrm>
          <a:prstGeom prst="rect">
            <a:avLst/>
          </a:prstGeom>
          <a:noFill/>
        </p:spPr>
        <p:txBody>
          <a:bodyPr wrap="square" rtlCol="0">
            <a:spAutoFit/>
          </a:bodyPr>
          <a:lstStyle/>
          <a:p>
            <a:pPr algn="ctr"/>
            <a:r>
              <a:rPr lang="es-ES" sz="4000" dirty="0" smtClean="0">
                <a:solidFill>
                  <a:schemeClr val="bg1"/>
                </a:solidFill>
              </a:rPr>
              <a:t>Técnicas de Programación</a:t>
            </a:r>
            <a:endParaRPr lang="es-NI" sz="4000" dirty="0">
              <a:solidFill>
                <a:schemeClr val="bg1"/>
              </a:solidFill>
            </a:endParaRPr>
          </a:p>
        </p:txBody>
      </p:sp>
      <p:sp>
        <p:nvSpPr>
          <p:cNvPr id="5" name="CuadroTexto 4"/>
          <p:cNvSpPr txBox="1"/>
          <p:nvPr/>
        </p:nvSpPr>
        <p:spPr>
          <a:xfrm>
            <a:off x="242793" y="1698795"/>
            <a:ext cx="11623386" cy="4401205"/>
          </a:xfrm>
          <a:prstGeom prst="rect">
            <a:avLst/>
          </a:prstGeom>
          <a:noFill/>
        </p:spPr>
        <p:txBody>
          <a:bodyPr wrap="square" rtlCol="0">
            <a:spAutoFit/>
          </a:bodyPr>
          <a:lstStyle/>
          <a:p>
            <a:pPr algn="just"/>
            <a:r>
              <a:rPr lang="es-NI" sz="2000" dirty="0"/>
              <a:t>Esta forma de programar, se basa en un famoso teorema desarrollado por Edsger Dijkstra, que demuestra que todo programa puede escribirse utilizando únicamente tres estructuras básicas de </a:t>
            </a:r>
            <a:r>
              <a:rPr lang="es-NI" sz="2000" dirty="0" smtClean="0"/>
              <a:t>control.</a:t>
            </a:r>
            <a:endParaRPr lang="es-NI" sz="2000" dirty="0"/>
          </a:p>
          <a:p>
            <a:pPr marL="342900" indent="-342900" algn="just">
              <a:buFont typeface="Wingdings" panose="05000000000000000000" pitchFamily="2" charset="2"/>
              <a:buChar char="§"/>
            </a:pPr>
            <a:r>
              <a:rPr lang="es-NI" sz="2000" b="1" dirty="0"/>
              <a:t>Secuencia</a:t>
            </a:r>
            <a:r>
              <a:rPr lang="es-NI" sz="2000" dirty="0"/>
              <a:t>: </a:t>
            </a:r>
            <a:r>
              <a:rPr lang="es-NI" sz="2000" dirty="0" smtClean="0"/>
              <a:t>El </a:t>
            </a:r>
            <a:r>
              <a:rPr lang="es-NI" sz="2000" dirty="0"/>
              <a:t>bloque secuencial de instrucciones, ejecutadas sucesivamente, una detrás de otra.</a:t>
            </a:r>
          </a:p>
          <a:p>
            <a:pPr marL="342900" indent="-342900" algn="just">
              <a:buFont typeface="Wingdings" panose="05000000000000000000" pitchFamily="2" charset="2"/>
              <a:buChar char="§"/>
            </a:pPr>
            <a:r>
              <a:rPr lang="es-NI" sz="2000" b="1" dirty="0"/>
              <a:t>Selección: </a:t>
            </a:r>
            <a:r>
              <a:rPr lang="es-NI" sz="2000" dirty="0" smtClean="0"/>
              <a:t>Por ejemplo, la </a:t>
            </a:r>
            <a:r>
              <a:rPr lang="es-NI" sz="2000" dirty="0"/>
              <a:t>instrucción condicional con doble alternativa, de la forma:</a:t>
            </a:r>
          </a:p>
          <a:p>
            <a:pPr lvl="1" algn="just"/>
            <a:r>
              <a:rPr lang="es-NI" sz="2000" i="1" dirty="0"/>
              <a:t>if (condición) then</a:t>
            </a:r>
          </a:p>
          <a:p>
            <a:pPr lvl="1" algn="just"/>
            <a:r>
              <a:rPr lang="es-NI" sz="2000" i="1" dirty="0" smtClean="0"/>
              <a:t>	instrucción-1</a:t>
            </a:r>
            <a:endParaRPr lang="es-NI" sz="2000" i="1" dirty="0"/>
          </a:p>
          <a:p>
            <a:pPr lvl="1" algn="just"/>
            <a:r>
              <a:rPr lang="es-NI" sz="2000" i="1" dirty="0" smtClean="0"/>
              <a:t>else</a:t>
            </a:r>
            <a:endParaRPr lang="es-NI" sz="2000" i="1" dirty="0"/>
          </a:p>
          <a:p>
            <a:pPr lvl="1" algn="just"/>
            <a:r>
              <a:rPr lang="es-NI" sz="2000" i="1" dirty="0" smtClean="0"/>
              <a:t>	instrucción-2</a:t>
            </a:r>
            <a:endParaRPr lang="es-NI" sz="2000" i="1" dirty="0"/>
          </a:p>
          <a:p>
            <a:pPr marL="342900" indent="-342900" algn="just">
              <a:buFont typeface="Wingdings" panose="05000000000000000000" pitchFamily="2" charset="2"/>
              <a:buChar char="§"/>
            </a:pPr>
            <a:r>
              <a:rPr lang="es-NI" sz="2000" b="1" dirty="0"/>
              <a:t>Iteración: </a:t>
            </a:r>
            <a:r>
              <a:rPr lang="es-NI" sz="2000" dirty="0" smtClean="0"/>
              <a:t>Por </a:t>
            </a:r>
            <a:r>
              <a:rPr lang="es-NI" sz="2000" dirty="0"/>
              <a:t>ejemplo, el bucle condicional que ejecuta la instrucción repetidamente mientras la condición se cumpla.</a:t>
            </a:r>
          </a:p>
          <a:p>
            <a:pPr lvl="1" algn="just"/>
            <a:r>
              <a:rPr lang="es-NI" sz="2000" i="1" dirty="0" smtClean="0"/>
              <a:t>while (condición</a:t>
            </a:r>
            <a:r>
              <a:rPr lang="es-NI" sz="2000" i="1" dirty="0"/>
              <a:t>)</a:t>
            </a:r>
          </a:p>
          <a:p>
            <a:pPr lvl="1" algn="just"/>
            <a:r>
              <a:rPr lang="es-NI" sz="2000" i="1" dirty="0" smtClean="0"/>
              <a:t>	instrucción</a:t>
            </a:r>
            <a:endParaRPr lang="es-NI" sz="2000" i="1" dirty="0"/>
          </a:p>
          <a:p>
            <a:pPr lvl="1" algn="just"/>
            <a:r>
              <a:rPr lang="es-NI" sz="2000" i="1" dirty="0" smtClean="0"/>
              <a:t>Adicionalmente</a:t>
            </a:r>
            <a:r>
              <a:rPr lang="es-NI" sz="2000" b="1" dirty="0"/>
              <a:t>:</a:t>
            </a:r>
          </a:p>
          <a:p>
            <a:pPr marL="342900" indent="-342900" algn="just">
              <a:buFont typeface="Wingdings" panose="05000000000000000000" pitchFamily="2" charset="2"/>
              <a:buChar char="§"/>
            </a:pPr>
            <a:r>
              <a:rPr lang="es-NI" sz="2000" b="1" dirty="0"/>
              <a:t>Segmentación: </a:t>
            </a:r>
            <a:r>
              <a:rPr lang="es-NI" sz="2000" dirty="0"/>
              <a:t>P</a:t>
            </a:r>
            <a:r>
              <a:rPr lang="es-NI" sz="2000" dirty="0" smtClean="0"/>
              <a:t>ara </a:t>
            </a:r>
            <a:r>
              <a:rPr lang="es-NI" sz="2000" dirty="0"/>
              <a:t>dividir el programa en </a:t>
            </a:r>
            <a:r>
              <a:rPr lang="es-NI" sz="2000" dirty="0" smtClean="0"/>
              <a:t>módulos/funciones</a:t>
            </a:r>
            <a:r>
              <a:rPr lang="es-NI" sz="2000" dirty="0"/>
              <a:t>.</a:t>
            </a:r>
          </a:p>
        </p:txBody>
      </p:sp>
    </p:spTree>
    <p:extLst>
      <p:ext uri="{BB962C8B-B14F-4D97-AF65-F5344CB8AC3E}">
        <p14:creationId xmlns:p14="http://schemas.microsoft.com/office/powerpoint/2010/main" val="2443004596"/>
      </p:ext>
    </p:extLst>
  </p:cSld>
  <p:clrMapOvr>
    <a:masterClrMapping/>
  </p:clrMapOvr>
  <p:transition spd="slow">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Imagen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44383" y="3821743"/>
            <a:ext cx="697230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CuadroTexto 4"/>
          <p:cNvSpPr txBox="1">
            <a:spLocks noChangeArrowheads="1"/>
          </p:cNvSpPr>
          <p:nvPr/>
        </p:nvSpPr>
        <p:spPr bwMode="auto">
          <a:xfrm>
            <a:off x="6511989" y="2018755"/>
            <a:ext cx="4440428"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s-ES" altLang="es-NI" b="1" dirty="0"/>
              <a:t>Programación Modular</a:t>
            </a:r>
          </a:p>
          <a:p>
            <a:endParaRPr lang="es-ES" altLang="es-NI" b="1" dirty="0"/>
          </a:p>
          <a:p>
            <a:r>
              <a:rPr lang="es-ES" altLang="es-NI" b="1" dirty="0"/>
              <a:t>Características </a:t>
            </a:r>
            <a:r>
              <a:rPr lang="es-ES" altLang="es-NI" b="1" dirty="0" smtClean="0"/>
              <a:t>generales:</a:t>
            </a:r>
            <a:endParaRPr lang="es-ES" altLang="es-NI" b="1" dirty="0"/>
          </a:p>
          <a:p>
            <a:pPr marL="285750" indent="-285750">
              <a:buFont typeface="Arial" panose="020B0604020202020204" pitchFamily="34" charset="0"/>
              <a:buChar char="•"/>
            </a:pPr>
            <a:r>
              <a:rPr lang="es-ES" altLang="es-NI" dirty="0"/>
              <a:t>Divide y </a:t>
            </a:r>
            <a:r>
              <a:rPr lang="es-ES" altLang="es-NI" dirty="0" smtClean="0"/>
              <a:t>vencerás</a:t>
            </a:r>
            <a:endParaRPr lang="es-ES" altLang="es-NI" dirty="0"/>
          </a:p>
          <a:p>
            <a:pPr marL="285750" indent="-285750">
              <a:buFont typeface="Arial" panose="020B0604020202020204" pitchFamily="34" charset="0"/>
              <a:buChar char="•"/>
            </a:pPr>
            <a:r>
              <a:rPr lang="es-ES" altLang="es-NI" dirty="0"/>
              <a:t>Diseño descendente (Top-Down)</a:t>
            </a:r>
          </a:p>
          <a:p>
            <a:pPr marL="285750" indent="-285750">
              <a:buFont typeface="Arial" panose="020B0604020202020204" pitchFamily="34" charset="0"/>
              <a:buChar char="•"/>
            </a:pPr>
            <a:r>
              <a:rPr lang="es-ES" altLang="es-NI" dirty="0" smtClean="0"/>
              <a:t>Los módulos son </a:t>
            </a:r>
            <a:r>
              <a:rPr lang="es-ES" altLang="es-NI" dirty="0"/>
              <a:t>independientes entre sí</a:t>
            </a:r>
            <a:endParaRPr lang="es-NI" altLang="es-NI" dirty="0"/>
          </a:p>
        </p:txBody>
      </p:sp>
      <p:pic>
        <p:nvPicPr>
          <p:cNvPr id="4" name="Imagen 3" descr="https://miro.medium.com/v2/resize:fit:700/1*qME4HpbNX-E52HWeVJjVe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183" y="1472243"/>
            <a:ext cx="5611813"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uadroTexto 5"/>
          <p:cNvSpPr txBox="1"/>
          <p:nvPr/>
        </p:nvSpPr>
        <p:spPr>
          <a:xfrm>
            <a:off x="1860331" y="115614"/>
            <a:ext cx="5896304" cy="707886"/>
          </a:xfrm>
          <a:prstGeom prst="rect">
            <a:avLst/>
          </a:prstGeom>
          <a:noFill/>
        </p:spPr>
        <p:txBody>
          <a:bodyPr wrap="square" rtlCol="0">
            <a:spAutoFit/>
          </a:bodyPr>
          <a:lstStyle/>
          <a:p>
            <a:pPr algn="ctr"/>
            <a:r>
              <a:rPr lang="es-ES" sz="4000" dirty="0" smtClean="0">
                <a:solidFill>
                  <a:schemeClr val="bg1"/>
                </a:solidFill>
              </a:rPr>
              <a:t>Técnicas de Programación</a:t>
            </a:r>
            <a:endParaRPr lang="es-NI" sz="4000" dirty="0">
              <a:solidFill>
                <a:schemeClr val="bg1"/>
              </a:solidFill>
            </a:endParaRPr>
          </a:p>
        </p:txBody>
      </p:sp>
    </p:spTree>
    <p:extLst>
      <p:ext uri="{BB962C8B-B14F-4D97-AF65-F5344CB8AC3E}">
        <p14:creationId xmlns:p14="http://schemas.microsoft.com/office/powerpoint/2010/main" val="2970714310"/>
      </p:ext>
    </p:extLst>
  </p:cSld>
  <p:clrMapOvr>
    <a:masterClrMapping/>
  </p:clrMapOvr>
  <p:transition spd="slow">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1765737" y="115614"/>
            <a:ext cx="6001407" cy="707886"/>
          </a:xfrm>
          <a:prstGeom prst="rect">
            <a:avLst/>
          </a:prstGeom>
          <a:noFill/>
        </p:spPr>
        <p:txBody>
          <a:bodyPr wrap="square" rtlCol="0">
            <a:spAutoFit/>
          </a:bodyPr>
          <a:lstStyle/>
          <a:p>
            <a:pPr algn="ctr"/>
            <a:r>
              <a:rPr lang="es-ES" sz="4000" dirty="0" smtClean="0">
                <a:solidFill>
                  <a:schemeClr val="bg1"/>
                </a:solidFill>
              </a:rPr>
              <a:t>Técnicas de Programación</a:t>
            </a:r>
            <a:endParaRPr lang="es-NI" sz="4000" dirty="0">
              <a:solidFill>
                <a:schemeClr val="bg1"/>
              </a:solidFill>
            </a:endParaRPr>
          </a:p>
        </p:txBody>
      </p:sp>
      <p:sp>
        <p:nvSpPr>
          <p:cNvPr id="8" name="CuadroTexto 7"/>
          <p:cNvSpPr txBox="1"/>
          <p:nvPr/>
        </p:nvSpPr>
        <p:spPr>
          <a:xfrm>
            <a:off x="242793" y="1237130"/>
            <a:ext cx="5790145" cy="461665"/>
          </a:xfrm>
          <a:prstGeom prst="rect">
            <a:avLst/>
          </a:prstGeom>
          <a:noFill/>
        </p:spPr>
        <p:txBody>
          <a:bodyPr wrap="square" rtlCol="0">
            <a:spAutoFit/>
          </a:bodyPr>
          <a:lstStyle/>
          <a:p>
            <a:r>
              <a:rPr lang="es-ES" sz="2400" b="1" dirty="0" smtClean="0"/>
              <a:t>Programación Orientada a Objetos (POO</a:t>
            </a:r>
            <a:r>
              <a:rPr lang="es-ES" sz="2400" b="1" dirty="0"/>
              <a:t>)</a:t>
            </a:r>
            <a:endParaRPr lang="es-NI" sz="2400" b="1" dirty="0"/>
          </a:p>
        </p:txBody>
      </p:sp>
      <p:sp>
        <p:nvSpPr>
          <p:cNvPr id="2" name="CuadroTexto 1"/>
          <p:cNvSpPr txBox="1"/>
          <p:nvPr/>
        </p:nvSpPr>
        <p:spPr>
          <a:xfrm>
            <a:off x="242794" y="1775011"/>
            <a:ext cx="11708952" cy="4401205"/>
          </a:xfrm>
          <a:prstGeom prst="rect">
            <a:avLst/>
          </a:prstGeom>
          <a:noFill/>
        </p:spPr>
        <p:txBody>
          <a:bodyPr wrap="square" rtlCol="0">
            <a:spAutoFit/>
          </a:bodyPr>
          <a:lstStyle/>
          <a:p>
            <a:pPr marL="342900" indent="-342900" algn="just">
              <a:buFont typeface="Wingdings" panose="05000000000000000000" pitchFamily="2" charset="2"/>
              <a:buChar char="§"/>
            </a:pPr>
            <a:r>
              <a:rPr lang="es-NI" sz="2000" dirty="0" smtClean="0"/>
              <a:t>Al </a:t>
            </a:r>
            <a:r>
              <a:rPr lang="es-NI" sz="2000" dirty="0"/>
              <a:t>contrario del enfoque </a:t>
            </a:r>
            <a:r>
              <a:rPr lang="es-NI" sz="2000" dirty="0" smtClean="0"/>
              <a:t>estructurado, que </a:t>
            </a:r>
            <a:r>
              <a:rPr lang="es-NI" sz="2000" dirty="0"/>
              <a:t>se basaba en la interrogante: ¿qué hace este programa?, el enfoque orientado a objetos responde a otra interrogante: ¿qué objetos del mundo real </a:t>
            </a:r>
            <a:r>
              <a:rPr lang="es-NI" sz="2000" dirty="0" smtClean="0"/>
              <a:t>puedo modelar?</a:t>
            </a:r>
          </a:p>
          <a:p>
            <a:pPr marL="342900" indent="-342900" algn="just">
              <a:buFont typeface="Wingdings" panose="05000000000000000000" pitchFamily="2" charset="2"/>
              <a:buChar char="§"/>
            </a:pPr>
            <a:endParaRPr lang="es-NI" sz="2000" dirty="0"/>
          </a:p>
          <a:p>
            <a:pPr marL="342900" indent="-342900" algn="just">
              <a:buFont typeface="Wingdings" panose="05000000000000000000" pitchFamily="2" charset="2"/>
              <a:buChar char="§"/>
            </a:pPr>
            <a:r>
              <a:rPr lang="es-NI" sz="2000" dirty="0" smtClean="0"/>
              <a:t>La POO, </a:t>
            </a:r>
            <a:r>
              <a:rPr lang="es-NI" sz="2000" dirty="0"/>
              <a:t>se basa en el hecho de que se debe dividir el programa, no en tareas, sino en modelos de objetos físicos o simulados. </a:t>
            </a:r>
            <a:r>
              <a:rPr lang="es-NI" sz="2000" dirty="0"/>
              <a:t>Esta </a:t>
            </a:r>
            <a:r>
              <a:rPr lang="es-NI" sz="2000" dirty="0"/>
              <a:t>idea </a:t>
            </a:r>
            <a:r>
              <a:rPr lang="es-NI" sz="2000" dirty="0"/>
              <a:t>se </a:t>
            </a:r>
            <a:r>
              <a:rPr lang="es-NI" sz="2000" dirty="0"/>
              <a:t>vuelve más </a:t>
            </a:r>
            <a:r>
              <a:rPr lang="es-NI" sz="2000" dirty="0"/>
              <a:t>clara, </a:t>
            </a:r>
            <a:r>
              <a:rPr lang="es-NI" sz="2000" dirty="0"/>
              <a:t>cuando se consideran objetos físicos en términos de sus clases, </a:t>
            </a:r>
            <a:r>
              <a:rPr lang="es-NI" sz="2000" dirty="0" smtClean="0"/>
              <a:t>propiedades, comportamiento </a:t>
            </a:r>
            <a:r>
              <a:rPr lang="es-NI" sz="2000" dirty="0"/>
              <a:t>y sus objetos </a:t>
            </a:r>
            <a:r>
              <a:rPr lang="es-NI" sz="2000" dirty="0" smtClean="0"/>
              <a:t>instanciados.</a:t>
            </a:r>
            <a:endParaRPr lang="es-NI" sz="2000" dirty="0"/>
          </a:p>
          <a:p>
            <a:pPr marL="342900" indent="-342900" algn="just">
              <a:buFont typeface="Wingdings" panose="05000000000000000000" pitchFamily="2" charset="2"/>
              <a:buChar char="§"/>
            </a:pPr>
            <a:endParaRPr lang="es-NI" sz="2000" dirty="0"/>
          </a:p>
          <a:p>
            <a:pPr marL="342900" indent="-342900" algn="just">
              <a:buFont typeface="Wingdings" panose="05000000000000000000" pitchFamily="2" charset="2"/>
              <a:buChar char="§"/>
            </a:pPr>
            <a:r>
              <a:rPr lang="es-NI" sz="2000" dirty="0" smtClean="0"/>
              <a:t>La </a:t>
            </a:r>
            <a:r>
              <a:rPr lang="es-NI" sz="2000" dirty="0"/>
              <a:t>idea fundamental de la orientación a objetos y de los lenguajes que implementan este paradigma de programación, es combinar (encapsular) en una sola </a:t>
            </a:r>
            <a:r>
              <a:rPr lang="es-NI" sz="2000" dirty="0"/>
              <a:t>unidad, </a:t>
            </a:r>
            <a:r>
              <a:rPr lang="es-NI" sz="2000" dirty="0"/>
              <a:t>tanto los datos como las funciones que operan (manipulan) sobre los datos. </a:t>
            </a:r>
            <a:r>
              <a:rPr lang="es-NI" sz="2000" dirty="0"/>
              <a:t>Esta característica permite modelar los objetos del mundo </a:t>
            </a:r>
            <a:r>
              <a:rPr lang="es-NI" sz="2000" dirty="0"/>
              <a:t>real, </a:t>
            </a:r>
            <a:r>
              <a:rPr lang="es-NI" sz="2000" dirty="0"/>
              <a:t>de un modo mucho más eficiente que con funciones y datos. </a:t>
            </a:r>
            <a:r>
              <a:rPr lang="es-NI" sz="2000" dirty="0"/>
              <a:t>Esta unidad de programación se denomina objeto. </a:t>
            </a:r>
            <a:endParaRPr lang="es-NI" sz="2000" dirty="0" smtClean="0"/>
          </a:p>
          <a:p>
            <a:pPr marL="342900" indent="-342900" algn="just">
              <a:buFont typeface="Wingdings" panose="05000000000000000000" pitchFamily="2" charset="2"/>
              <a:buChar char="§"/>
            </a:pPr>
            <a:endParaRPr lang="es-NI" sz="2000" dirty="0"/>
          </a:p>
          <a:p>
            <a:pPr marL="342900" indent="-342900" algn="just">
              <a:buFont typeface="Wingdings" panose="05000000000000000000" pitchFamily="2" charset="2"/>
              <a:buChar char="§"/>
            </a:pPr>
            <a:r>
              <a:rPr lang="es-NI" sz="2000" b="1" dirty="0" smtClean="0"/>
              <a:t>Características </a:t>
            </a:r>
            <a:r>
              <a:rPr lang="es-NI" sz="2000" b="1" dirty="0"/>
              <a:t>principales</a:t>
            </a:r>
            <a:r>
              <a:rPr lang="es-NI" sz="2000" dirty="0"/>
              <a:t>: Abstracción, </a:t>
            </a:r>
            <a:r>
              <a:rPr lang="es-NI" sz="2000" dirty="0" smtClean="0"/>
              <a:t>Encapsulación, Clases-Objetos, Herencia </a:t>
            </a:r>
            <a:r>
              <a:rPr lang="es-NI" sz="2000" dirty="0"/>
              <a:t>y </a:t>
            </a:r>
            <a:r>
              <a:rPr lang="es-NI" sz="2000" dirty="0" smtClean="0"/>
              <a:t>Polimorfismo.</a:t>
            </a:r>
            <a:endParaRPr lang="es-NI" sz="2000" dirty="0"/>
          </a:p>
        </p:txBody>
      </p:sp>
    </p:spTree>
    <p:extLst>
      <p:ext uri="{BB962C8B-B14F-4D97-AF65-F5344CB8AC3E}">
        <p14:creationId xmlns:p14="http://schemas.microsoft.com/office/powerpoint/2010/main" val="1500377011"/>
      </p:ext>
    </p:extLst>
  </p:cSld>
  <p:clrMapOvr>
    <a:masterClrMapping/>
  </p:clrMapOvr>
  <p:transition spd="slow">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Imagen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2794" y="2314399"/>
            <a:ext cx="6492867" cy="3021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uadroTexto 6"/>
          <p:cNvSpPr txBox="1"/>
          <p:nvPr/>
        </p:nvSpPr>
        <p:spPr>
          <a:xfrm>
            <a:off x="242794" y="1237130"/>
            <a:ext cx="4651936" cy="461665"/>
          </a:xfrm>
          <a:prstGeom prst="rect">
            <a:avLst/>
          </a:prstGeom>
          <a:noFill/>
        </p:spPr>
        <p:txBody>
          <a:bodyPr wrap="square" rtlCol="0">
            <a:spAutoFit/>
          </a:bodyPr>
          <a:lstStyle/>
          <a:p>
            <a:r>
              <a:rPr lang="es-ES" sz="2400" b="1" dirty="0" smtClean="0"/>
              <a:t>Programación Orientada a Objetos</a:t>
            </a:r>
            <a:endParaRPr lang="es-NI" sz="2400" b="1" dirty="0"/>
          </a:p>
        </p:txBody>
      </p:sp>
      <p:sp>
        <p:nvSpPr>
          <p:cNvPr id="8" name="CuadroTexto 7"/>
          <p:cNvSpPr txBox="1"/>
          <p:nvPr/>
        </p:nvSpPr>
        <p:spPr>
          <a:xfrm>
            <a:off x="1891863" y="115614"/>
            <a:ext cx="5843752" cy="707886"/>
          </a:xfrm>
          <a:prstGeom prst="rect">
            <a:avLst/>
          </a:prstGeom>
          <a:noFill/>
        </p:spPr>
        <p:txBody>
          <a:bodyPr wrap="square" rtlCol="0">
            <a:spAutoFit/>
          </a:bodyPr>
          <a:lstStyle/>
          <a:p>
            <a:pPr algn="ctr"/>
            <a:r>
              <a:rPr lang="es-ES" sz="4000" dirty="0" smtClean="0">
                <a:solidFill>
                  <a:schemeClr val="bg1"/>
                </a:solidFill>
              </a:rPr>
              <a:t>Técnicas de Programación</a:t>
            </a:r>
            <a:endParaRPr lang="es-NI" sz="4000" dirty="0">
              <a:solidFill>
                <a:schemeClr val="bg1"/>
              </a:solidFill>
            </a:endParaRPr>
          </a:p>
        </p:txBody>
      </p:sp>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3333" y="1698795"/>
            <a:ext cx="4145836" cy="4626701"/>
          </a:xfrm>
          <a:prstGeom prst="rect">
            <a:avLst/>
          </a:prstGeom>
        </p:spPr>
      </p:pic>
    </p:spTree>
    <p:extLst>
      <p:ext uri="{BB962C8B-B14F-4D97-AF65-F5344CB8AC3E}">
        <p14:creationId xmlns:p14="http://schemas.microsoft.com/office/powerpoint/2010/main" val="561502551"/>
      </p:ext>
    </p:extLst>
  </p:cSld>
  <p:clrMapOvr>
    <a:masterClrMapping/>
  </p:clrMapOvr>
  <p:transition spd="slow">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Qué es una memoria 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8984" y="1431962"/>
            <a:ext cx="3947235" cy="1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9"/>
          <p:cNvGrpSpPr>
            <a:grpSpLocks/>
          </p:cNvGrpSpPr>
          <p:nvPr/>
        </p:nvGrpSpPr>
        <p:grpSpPr bwMode="auto">
          <a:xfrm>
            <a:off x="6960059" y="3423984"/>
            <a:ext cx="3896969" cy="2918708"/>
            <a:chOff x="1701" y="1263"/>
            <a:chExt cx="3214" cy="1868"/>
          </a:xfrm>
        </p:grpSpPr>
        <p:sp>
          <p:nvSpPr>
            <p:cNvPr id="8" name="Rectangle 4"/>
            <p:cNvSpPr>
              <a:spLocks noChangeArrowheads="1"/>
            </p:cNvSpPr>
            <p:nvPr/>
          </p:nvSpPr>
          <p:spPr bwMode="auto">
            <a:xfrm>
              <a:off x="1701" y="1499"/>
              <a:ext cx="1951" cy="726"/>
            </a:xfrm>
            <a:prstGeom prst="rect">
              <a:avLst/>
            </a:prstGeom>
            <a:solidFill>
              <a:srgbClr val="FFCC99"/>
            </a:solidFill>
            <a:ln w="9525">
              <a:solidFill>
                <a:schemeClr val="tx1"/>
              </a:solidFill>
              <a:miter lim="800000"/>
              <a:headEnd/>
              <a:tailEnd/>
            </a:ln>
          </p:spPr>
          <p:txBody>
            <a:bodyPr wrap="none" anchor="ct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pPr algn="ctr" eaLnBrk="1" hangingPunct="1">
                <a:spcBef>
                  <a:spcPct val="0"/>
                </a:spcBef>
                <a:buClrTx/>
                <a:buSzTx/>
                <a:buFontTx/>
                <a:buNone/>
              </a:pPr>
              <a:r>
                <a:rPr lang="es-ES" altLang="es-NI" sz="1800" dirty="0">
                  <a:latin typeface="Times New Roman" panose="02020603050405020304" pitchFamily="18" charset="0"/>
                </a:rPr>
                <a:t>Memoria disponible </a:t>
              </a:r>
            </a:p>
            <a:p>
              <a:pPr algn="ctr" eaLnBrk="1" hangingPunct="1">
                <a:spcBef>
                  <a:spcPct val="0"/>
                </a:spcBef>
                <a:buClrTx/>
                <a:buSzTx/>
                <a:buFontTx/>
                <a:buNone/>
              </a:pPr>
              <a:r>
                <a:rPr lang="es-ES" altLang="es-NI" sz="1800" dirty="0">
                  <a:latin typeface="Times New Roman" panose="02020603050405020304" pitchFamily="18" charset="0"/>
                </a:rPr>
                <a:t>para el programa</a:t>
              </a:r>
            </a:p>
          </p:txBody>
        </p:sp>
        <p:sp>
          <p:nvSpPr>
            <p:cNvPr id="9" name="Rectangle 5"/>
            <p:cNvSpPr>
              <a:spLocks noChangeArrowheads="1"/>
            </p:cNvSpPr>
            <p:nvPr/>
          </p:nvSpPr>
          <p:spPr bwMode="auto">
            <a:xfrm>
              <a:off x="1701" y="2225"/>
              <a:ext cx="1951" cy="453"/>
            </a:xfrm>
            <a:prstGeom prst="rect">
              <a:avLst/>
            </a:prstGeom>
            <a:solidFill>
              <a:srgbClr val="FF9999"/>
            </a:solidFill>
            <a:ln w="9525">
              <a:solidFill>
                <a:schemeClr val="tx1"/>
              </a:solidFill>
              <a:miter lim="800000"/>
              <a:headEnd/>
              <a:tailEnd/>
            </a:ln>
          </p:spPr>
          <p:txBody>
            <a:bodyPr wrap="none" anchor="ct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pPr algn="ctr" eaLnBrk="1" hangingPunct="1">
                <a:spcBef>
                  <a:spcPct val="0"/>
                </a:spcBef>
                <a:buClrTx/>
                <a:buSzTx/>
                <a:buFontTx/>
                <a:buNone/>
              </a:pPr>
              <a:r>
                <a:rPr lang="es-ES" altLang="es-NI" sz="1800" dirty="0">
                  <a:latin typeface="Times New Roman" panose="02020603050405020304" pitchFamily="18" charset="0"/>
                </a:rPr>
                <a:t>Variables estáticas</a:t>
              </a:r>
            </a:p>
          </p:txBody>
        </p:sp>
        <p:sp>
          <p:nvSpPr>
            <p:cNvPr id="10" name="Rectangle 6"/>
            <p:cNvSpPr>
              <a:spLocks noChangeArrowheads="1"/>
            </p:cNvSpPr>
            <p:nvPr/>
          </p:nvSpPr>
          <p:spPr bwMode="auto">
            <a:xfrm>
              <a:off x="1701" y="2678"/>
              <a:ext cx="1951" cy="453"/>
            </a:xfrm>
            <a:prstGeom prst="rect">
              <a:avLst/>
            </a:prstGeom>
            <a:solidFill>
              <a:srgbClr val="FF99FF"/>
            </a:solidFill>
            <a:ln w="9525">
              <a:solidFill>
                <a:schemeClr val="tx1"/>
              </a:solidFill>
              <a:miter lim="800000"/>
              <a:headEnd/>
              <a:tailEnd/>
            </a:ln>
          </p:spPr>
          <p:txBody>
            <a:bodyPr wrap="none" anchor="ct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pPr algn="ctr" eaLnBrk="1" hangingPunct="1">
                <a:spcBef>
                  <a:spcPct val="0"/>
                </a:spcBef>
                <a:buClrTx/>
                <a:buSzTx/>
                <a:buFontTx/>
                <a:buNone/>
              </a:pPr>
              <a:r>
                <a:rPr lang="es-ES" altLang="es-NI" sz="1800" dirty="0">
                  <a:latin typeface="Times New Roman" panose="02020603050405020304" pitchFamily="18" charset="0"/>
                </a:rPr>
                <a:t>Código del programa</a:t>
              </a:r>
            </a:p>
          </p:txBody>
        </p:sp>
        <p:sp>
          <p:nvSpPr>
            <p:cNvPr id="11" name="Text Box 7"/>
            <p:cNvSpPr txBox="1">
              <a:spLocks noChangeArrowheads="1"/>
            </p:cNvSpPr>
            <p:nvPr/>
          </p:nvSpPr>
          <p:spPr bwMode="auto">
            <a:xfrm>
              <a:off x="1896" y="1263"/>
              <a:ext cx="1562"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pPr eaLnBrk="1" hangingPunct="1">
                <a:spcBef>
                  <a:spcPct val="0"/>
                </a:spcBef>
                <a:buClrTx/>
                <a:buSzTx/>
                <a:buFontTx/>
                <a:buNone/>
              </a:pPr>
              <a:r>
                <a:rPr lang="es-ES" altLang="es-NI" sz="1800" dirty="0">
                  <a:latin typeface="Times New Roman" panose="02020603050405020304" pitchFamily="18" charset="0"/>
                </a:rPr>
                <a:t>Mapa de Memoria</a:t>
              </a:r>
            </a:p>
          </p:txBody>
        </p:sp>
        <p:sp>
          <p:nvSpPr>
            <p:cNvPr id="12" name="Text Box 8"/>
            <p:cNvSpPr txBox="1">
              <a:spLocks noChangeArrowheads="1"/>
            </p:cNvSpPr>
            <p:nvPr/>
          </p:nvSpPr>
          <p:spPr bwMode="auto">
            <a:xfrm>
              <a:off x="3652" y="1744"/>
              <a:ext cx="1263"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pPr eaLnBrk="1" hangingPunct="1">
                <a:spcBef>
                  <a:spcPct val="0"/>
                </a:spcBef>
                <a:buClrTx/>
                <a:buSzTx/>
                <a:buFontTx/>
                <a:buNone/>
              </a:pPr>
              <a:r>
                <a:rPr lang="es-ES" altLang="es-NI" sz="1800" dirty="0">
                  <a:latin typeface="Times New Roman" panose="02020603050405020304" pitchFamily="18" charset="0"/>
                </a:rPr>
                <a:t>Dirección </a:t>
              </a:r>
              <a:r>
                <a:rPr lang="es-ES" altLang="es-NI" sz="1800" dirty="0" smtClean="0">
                  <a:latin typeface="Times New Roman" panose="02020603050405020304" pitchFamily="18" charset="0"/>
                </a:rPr>
                <a:t>alta</a:t>
              </a:r>
              <a:endParaRPr lang="es-ES" altLang="es-NI" sz="1800" dirty="0">
                <a:latin typeface="Times New Roman" panose="02020603050405020304" pitchFamily="18" charset="0"/>
              </a:endParaRPr>
            </a:p>
          </p:txBody>
        </p:sp>
      </p:grpSp>
      <p:sp>
        <p:nvSpPr>
          <p:cNvPr id="13" name="CuadroTexto 12"/>
          <p:cNvSpPr txBox="1"/>
          <p:nvPr/>
        </p:nvSpPr>
        <p:spPr>
          <a:xfrm>
            <a:off x="2153153" y="115614"/>
            <a:ext cx="5582461" cy="707886"/>
          </a:xfrm>
          <a:prstGeom prst="rect">
            <a:avLst/>
          </a:prstGeom>
          <a:noFill/>
        </p:spPr>
        <p:txBody>
          <a:bodyPr wrap="square" rtlCol="0">
            <a:spAutoFit/>
          </a:bodyPr>
          <a:lstStyle/>
          <a:p>
            <a:pPr algn="ctr"/>
            <a:r>
              <a:rPr lang="es-ES" sz="4000" dirty="0" smtClean="0">
                <a:solidFill>
                  <a:schemeClr val="bg1"/>
                </a:solidFill>
              </a:rPr>
              <a:t>Memoria RAM</a:t>
            </a:r>
            <a:endParaRPr lang="es-NI" sz="4000" dirty="0">
              <a:solidFill>
                <a:schemeClr val="bg1"/>
              </a:solidFill>
            </a:endParaRPr>
          </a:p>
        </p:txBody>
      </p:sp>
      <p:sp>
        <p:nvSpPr>
          <p:cNvPr id="17" name="Text Box 8"/>
          <p:cNvSpPr txBox="1">
            <a:spLocks noChangeArrowheads="1"/>
          </p:cNvSpPr>
          <p:nvPr/>
        </p:nvSpPr>
        <p:spPr bwMode="auto">
          <a:xfrm>
            <a:off x="9325643" y="5804418"/>
            <a:ext cx="1531385" cy="36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anose="020B0502020104020203" pitchFamily="34" charset="0"/>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defRPr>
            </a:lvl3pPr>
            <a:lvl4pPr marL="1600200" indent="-228600">
              <a:spcBef>
                <a:spcPct val="20000"/>
              </a:spcBef>
              <a:buClr>
                <a:srgbClr val="C32D2E"/>
              </a:buClr>
              <a:buFont typeface="Wingdings 2" panose="05020102010507070707" pitchFamily="18" charset="2"/>
              <a:buChar char=""/>
              <a:defRPr sz="2000">
                <a:solidFill>
                  <a:schemeClr val="tx1"/>
                </a:solidFill>
                <a:latin typeface="Gill Sans MT" panose="020B0502020104020203" pitchFamily="34" charset="0"/>
              </a:defRPr>
            </a:lvl4pPr>
            <a:lvl5pPr marL="2057400" indent="-228600">
              <a:spcBef>
                <a:spcPct val="20000"/>
              </a:spcBef>
              <a:buClr>
                <a:srgbClr val="84AA33"/>
              </a:buClr>
              <a:buFont typeface="Wingdings 2" panose="05020102010507070707" pitchFamily="18" charset="2"/>
              <a:buChar char=""/>
              <a:defRPr sz="2000">
                <a:solidFill>
                  <a:schemeClr val="tx1"/>
                </a:solidFill>
                <a:latin typeface="Gill Sans MT" panose="020B0502020104020203" pitchFamily="34" charset="0"/>
              </a:defRPr>
            </a:lvl5pPr>
            <a:lvl6pPr marL="25146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6pPr>
            <a:lvl7pPr marL="29718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7pPr>
            <a:lvl8pPr marL="34290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8pPr>
            <a:lvl9pPr marL="3886200" indent="-228600" eaLnBrk="0" fontAlgn="base" hangingPunct="0">
              <a:spcBef>
                <a:spcPct val="20000"/>
              </a:spcBef>
              <a:spcAft>
                <a:spcPct val="0"/>
              </a:spcAft>
              <a:buClr>
                <a:srgbClr val="84AA33"/>
              </a:buClr>
              <a:buFont typeface="Wingdings 2" panose="05020102010507070707" pitchFamily="18" charset="2"/>
              <a:buChar char=""/>
              <a:defRPr sz="2000">
                <a:solidFill>
                  <a:schemeClr val="tx1"/>
                </a:solidFill>
                <a:latin typeface="Gill Sans MT" panose="020B0502020104020203" pitchFamily="34" charset="0"/>
              </a:defRPr>
            </a:lvl9pPr>
          </a:lstStyle>
          <a:p>
            <a:pPr eaLnBrk="1" hangingPunct="1">
              <a:spcBef>
                <a:spcPct val="0"/>
              </a:spcBef>
              <a:buClrTx/>
              <a:buSzTx/>
              <a:buFontTx/>
              <a:buNone/>
            </a:pPr>
            <a:r>
              <a:rPr lang="es-ES" altLang="es-NI" sz="1800" dirty="0">
                <a:latin typeface="Times New Roman" panose="02020603050405020304" pitchFamily="18" charset="0"/>
              </a:rPr>
              <a:t>Dirección </a:t>
            </a:r>
            <a:r>
              <a:rPr lang="es-ES" altLang="es-NI" sz="1800" dirty="0" smtClean="0">
                <a:latin typeface="Times New Roman" panose="02020603050405020304" pitchFamily="18" charset="0"/>
              </a:rPr>
              <a:t>baja</a:t>
            </a:r>
            <a:endParaRPr lang="es-ES" altLang="es-NI" sz="1800" dirty="0">
              <a:latin typeface="Times New Roman" panose="02020603050405020304" pitchFamily="18" charset="0"/>
            </a:endParaRPr>
          </a:p>
        </p:txBody>
      </p:sp>
      <p:grpSp>
        <p:nvGrpSpPr>
          <p:cNvPr id="15" name="Grupo 14"/>
          <p:cNvGrpSpPr/>
          <p:nvPr/>
        </p:nvGrpSpPr>
        <p:grpSpPr>
          <a:xfrm>
            <a:off x="400428" y="1367430"/>
            <a:ext cx="5183187" cy="5296932"/>
            <a:chOff x="400428" y="1367430"/>
            <a:chExt cx="5183187" cy="5296932"/>
          </a:xfrm>
        </p:grpSpPr>
        <p:grpSp>
          <p:nvGrpSpPr>
            <p:cNvPr id="14" name="Grupo 13"/>
            <p:cNvGrpSpPr/>
            <p:nvPr/>
          </p:nvGrpSpPr>
          <p:grpSpPr>
            <a:xfrm>
              <a:off x="400428" y="1367430"/>
              <a:ext cx="5183187" cy="5296932"/>
              <a:chOff x="400428" y="1367430"/>
              <a:chExt cx="5183187" cy="5296932"/>
            </a:xfrm>
          </p:grpSpPr>
          <p:grpSp>
            <p:nvGrpSpPr>
              <p:cNvPr id="3" name="Grupo 2"/>
              <p:cNvGrpSpPr/>
              <p:nvPr/>
            </p:nvGrpSpPr>
            <p:grpSpPr>
              <a:xfrm>
                <a:off x="400428" y="1431962"/>
                <a:ext cx="5183187" cy="5232400"/>
                <a:chOff x="400428" y="1431962"/>
                <a:chExt cx="5183187" cy="5232400"/>
              </a:xfrm>
            </p:grpSpPr>
            <p:grpSp>
              <p:nvGrpSpPr>
                <p:cNvPr id="6148" name="Grupo 2"/>
                <p:cNvGrpSpPr>
                  <a:grpSpLocks/>
                </p:cNvGrpSpPr>
                <p:nvPr/>
              </p:nvGrpSpPr>
              <p:grpSpPr bwMode="auto">
                <a:xfrm>
                  <a:off x="400428" y="1431962"/>
                  <a:ext cx="5183187" cy="5232400"/>
                  <a:chOff x="467544" y="980728"/>
                  <a:chExt cx="5183187" cy="5232400"/>
                </a:xfrm>
              </p:grpSpPr>
              <p:pic>
                <p:nvPicPr>
                  <p:cNvPr id="6149" name="Picture 4" descr="https://www.zator.com/Hardware/Images_esp/H4_2-F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980728"/>
                    <a:ext cx="5183187"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Imagen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7544" y="5948070"/>
                    <a:ext cx="8953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Rectángulo 1"/>
                <p:cNvSpPr/>
                <p:nvPr/>
              </p:nvSpPr>
              <p:spPr>
                <a:xfrm>
                  <a:off x="1912883" y="1431962"/>
                  <a:ext cx="2354317" cy="3337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grpSp>
          <p:sp>
            <p:nvSpPr>
              <p:cNvPr id="4" name="CuadroTexto 3"/>
              <p:cNvSpPr txBox="1"/>
              <p:nvPr/>
            </p:nvSpPr>
            <p:spPr>
              <a:xfrm>
                <a:off x="1615166" y="1367430"/>
                <a:ext cx="2753710" cy="369332"/>
              </a:xfrm>
              <a:prstGeom prst="rect">
                <a:avLst/>
              </a:prstGeom>
              <a:noFill/>
            </p:spPr>
            <p:txBody>
              <a:bodyPr wrap="square" rtlCol="0">
                <a:spAutoFit/>
              </a:bodyPr>
              <a:lstStyle/>
              <a:p>
                <a:r>
                  <a:rPr lang="es-ES" b="1" dirty="0" smtClean="0"/>
                  <a:t>Mapa de la Memoria RAM</a:t>
                </a:r>
                <a:endParaRPr lang="es-NI" b="1" dirty="0"/>
              </a:p>
            </p:txBody>
          </p:sp>
        </p:grpSp>
        <p:sp>
          <p:nvSpPr>
            <p:cNvPr id="5" name="Rectángulo 4"/>
            <p:cNvSpPr/>
            <p:nvPr/>
          </p:nvSpPr>
          <p:spPr>
            <a:xfrm>
              <a:off x="3363310" y="4687614"/>
              <a:ext cx="1397876" cy="4834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grpSp>
      <p:sp>
        <p:nvSpPr>
          <p:cNvPr id="16" name="CuadroTexto 15"/>
          <p:cNvSpPr txBox="1"/>
          <p:nvPr/>
        </p:nvSpPr>
        <p:spPr>
          <a:xfrm>
            <a:off x="3300764" y="4621728"/>
            <a:ext cx="2136223" cy="523220"/>
          </a:xfrm>
          <a:prstGeom prst="rect">
            <a:avLst/>
          </a:prstGeom>
          <a:noFill/>
        </p:spPr>
        <p:txBody>
          <a:bodyPr wrap="square" rtlCol="0">
            <a:spAutoFit/>
          </a:bodyPr>
          <a:lstStyle/>
          <a:p>
            <a:pPr algn="ctr"/>
            <a:r>
              <a:rPr lang="es-ES" sz="1400" dirty="0" smtClean="0"/>
              <a:t>Reservado para usuarios del Sistema Operativo</a:t>
            </a:r>
            <a:endParaRPr lang="es-NI" sz="1400" dirty="0"/>
          </a:p>
        </p:txBody>
      </p:sp>
    </p:spTree>
    <p:extLst>
      <p:ext uri="{BB962C8B-B14F-4D97-AF65-F5344CB8AC3E}">
        <p14:creationId xmlns:p14="http://schemas.microsoft.com/office/powerpoint/2010/main" val="237309229"/>
      </p:ext>
    </p:extLst>
  </p:cSld>
  <p:clrMapOvr>
    <a:masterClrMapping/>
  </p:clrMapOvr>
  <p:transition spd="slow">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0" name="Grupo 1"/>
          <p:cNvGrpSpPr>
            <a:grpSpLocks/>
          </p:cNvGrpSpPr>
          <p:nvPr/>
        </p:nvGrpSpPr>
        <p:grpSpPr bwMode="auto">
          <a:xfrm>
            <a:off x="1774411" y="1323798"/>
            <a:ext cx="7022748" cy="5066491"/>
            <a:chOff x="-396552" y="908720"/>
            <a:chExt cx="6685616" cy="4752528"/>
          </a:xfrm>
        </p:grpSpPr>
        <p:pic>
          <p:nvPicPr>
            <p:cNvPr id="7172" name="Picture 2" descr="Intel,AMD Intel i7 CPU Processor Chip, For Computer, Memory Size: Various Densi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532525">
              <a:off x="-396552" y="922056"/>
              <a:ext cx="1439863"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8" descr="estructura generica de un sistema microprocesad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908720"/>
              <a:ext cx="5173448" cy="4752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CuadroTexto 5"/>
          <p:cNvSpPr txBox="1"/>
          <p:nvPr/>
        </p:nvSpPr>
        <p:spPr>
          <a:xfrm>
            <a:off x="1765739" y="171896"/>
            <a:ext cx="7210098" cy="707886"/>
          </a:xfrm>
          <a:prstGeom prst="rect">
            <a:avLst/>
          </a:prstGeom>
          <a:noFill/>
        </p:spPr>
        <p:txBody>
          <a:bodyPr wrap="square" rtlCol="0">
            <a:spAutoFit/>
          </a:bodyPr>
          <a:lstStyle/>
          <a:p>
            <a:pPr algn="ctr"/>
            <a:r>
              <a:rPr lang="es-ES" sz="4000" dirty="0" smtClean="0">
                <a:solidFill>
                  <a:schemeClr val="bg1"/>
                </a:solidFill>
              </a:rPr>
              <a:t>Unidad Central de Proceso (CPU)</a:t>
            </a:r>
            <a:endParaRPr lang="es-NI" sz="4000" dirty="0">
              <a:solidFill>
                <a:schemeClr val="bg1"/>
              </a:solidFill>
            </a:endParaRPr>
          </a:p>
        </p:txBody>
      </p:sp>
    </p:spTree>
    <p:extLst>
      <p:ext uri="{BB962C8B-B14F-4D97-AF65-F5344CB8AC3E}">
        <p14:creationId xmlns:p14="http://schemas.microsoft.com/office/powerpoint/2010/main" val="3844401692"/>
      </p:ext>
    </p:extLst>
  </p:cSld>
  <p:clrMapOvr>
    <a:masterClrMapping/>
  </p:clrMapOvr>
  <p:transition spd="slow">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2627586" y="105104"/>
            <a:ext cx="6022430" cy="707886"/>
          </a:xfrm>
          <a:prstGeom prst="rect">
            <a:avLst/>
          </a:prstGeom>
          <a:noFill/>
        </p:spPr>
        <p:txBody>
          <a:bodyPr wrap="square" rtlCol="0">
            <a:spAutoFit/>
          </a:bodyPr>
          <a:lstStyle/>
          <a:p>
            <a:pPr algn="ctr"/>
            <a:r>
              <a:rPr lang="es-ES" sz="4000" dirty="0" smtClean="0">
                <a:solidFill>
                  <a:schemeClr val="bg1"/>
                </a:solidFill>
              </a:rPr>
              <a:t>Arquitectura Von Neumann</a:t>
            </a:r>
            <a:endParaRPr lang="es-NI" sz="4000" dirty="0">
              <a:solidFill>
                <a:schemeClr val="bg1"/>
              </a:solidFill>
            </a:endParaRPr>
          </a:p>
        </p:txBody>
      </p:sp>
      <p:grpSp>
        <p:nvGrpSpPr>
          <p:cNvPr id="3" name="Grupo 2"/>
          <p:cNvGrpSpPr/>
          <p:nvPr/>
        </p:nvGrpSpPr>
        <p:grpSpPr>
          <a:xfrm>
            <a:off x="1470026" y="1278144"/>
            <a:ext cx="8987768" cy="5049084"/>
            <a:chOff x="1470026" y="1278144"/>
            <a:chExt cx="8987768" cy="5049084"/>
          </a:xfrm>
        </p:grpSpPr>
        <p:grpSp>
          <p:nvGrpSpPr>
            <p:cNvPr id="8194" name="Grupo 5"/>
            <p:cNvGrpSpPr>
              <a:grpSpLocks/>
            </p:cNvGrpSpPr>
            <p:nvPr/>
          </p:nvGrpSpPr>
          <p:grpSpPr bwMode="auto">
            <a:xfrm>
              <a:off x="1470026" y="1337829"/>
              <a:ext cx="8987768" cy="4989399"/>
              <a:chOff x="477052" y="781259"/>
              <a:chExt cx="8766382" cy="4735973"/>
            </a:xfrm>
          </p:grpSpPr>
          <p:pic>
            <p:nvPicPr>
              <p:cNvPr id="8196" name="Imagen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7052" y="781259"/>
                <a:ext cx="8766382" cy="453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Imagen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81726" y="5125241"/>
                <a:ext cx="742950" cy="39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 name="Imagen 1"/>
            <p:cNvPicPr>
              <a:picLocks noChangeAspect="1"/>
            </p:cNvPicPr>
            <p:nvPr/>
          </p:nvPicPr>
          <p:blipFill>
            <a:blip r:embed="rId4"/>
            <a:stretch>
              <a:fillRect/>
            </a:stretch>
          </p:blipFill>
          <p:spPr>
            <a:xfrm>
              <a:off x="5497185" y="1278144"/>
              <a:ext cx="933450" cy="342900"/>
            </a:xfrm>
            <a:prstGeom prst="rect">
              <a:avLst/>
            </a:prstGeom>
          </p:spPr>
        </p:pic>
      </p:grpSp>
    </p:spTree>
    <p:extLst>
      <p:ext uri="{BB962C8B-B14F-4D97-AF65-F5344CB8AC3E}">
        <p14:creationId xmlns:p14="http://schemas.microsoft.com/office/powerpoint/2010/main" val="326125577"/>
      </p:ext>
    </p:extLst>
  </p:cSld>
  <p:clrMapOvr>
    <a:masterClrMapping/>
  </p:clrMapOvr>
  <p:transition spd="slow">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ángulo 1"/>
          <p:cNvSpPr>
            <a:spLocks noChangeArrowheads="1"/>
          </p:cNvSpPr>
          <p:nvPr/>
        </p:nvSpPr>
        <p:spPr bwMode="auto">
          <a:xfrm>
            <a:off x="474554" y="1383862"/>
            <a:ext cx="5001336" cy="4552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800100" indent="-3429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257300" indent="-3429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15000"/>
              </a:lnSpc>
              <a:spcBef>
                <a:spcPct val="0"/>
              </a:spcBef>
              <a:buFont typeface="Calibri" panose="020F0502020204030204" pitchFamily="34" charset="0"/>
              <a:buAutoNum type="arabicPeriod"/>
            </a:pPr>
            <a:r>
              <a:rPr lang="es-NI" altLang="es-NI" sz="2800" dirty="0">
                <a:latin typeface="Arial" panose="020B0604020202020204" pitchFamily="34" charset="0"/>
                <a:ea typeface="Calibri" panose="020F0502020204030204" pitchFamily="34" charset="0"/>
                <a:cs typeface="Times New Roman" panose="02020603050405020304" pitchFamily="18" charset="0"/>
              </a:rPr>
              <a:t>Análisis del problema</a:t>
            </a:r>
          </a:p>
          <a:p>
            <a:pPr algn="just">
              <a:lnSpc>
                <a:spcPct val="115000"/>
              </a:lnSpc>
              <a:spcBef>
                <a:spcPct val="0"/>
              </a:spcBef>
              <a:buFont typeface="Calibri" panose="020F0502020204030204" pitchFamily="34" charset="0"/>
              <a:buAutoNum type="arabicPeriod"/>
            </a:pPr>
            <a:r>
              <a:rPr lang="es-NI" altLang="es-NI" sz="2800" dirty="0">
                <a:latin typeface="Arial" panose="020B0604020202020204" pitchFamily="34" charset="0"/>
                <a:ea typeface="Calibri" panose="020F0502020204030204" pitchFamily="34" charset="0"/>
                <a:cs typeface="Times New Roman" panose="02020603050405020304" pitchFamily="18" charset="0"/>
              </a:rPr>
              <a:t>Diseño de la salida</a:t>
            </a:r>
          </a:p>
          <a:p>
            <a:pPr algn="just">
              <a:lnSpc>
                <a:spcPct val="115000"/>
              </a:lnSpc>
              <a:spcBef>
                <a:spcPct val="0"/>
              </a:spcBef>
              <a:buFont typeface="Calibri" panose="020F0502020204030204" pitchFamily="34" charset="0"/>
              <a:buAutoNum type="arabicPeriod"/>
            </a:pPr>
            <a:r>
              <a:rPr lang="es-NI" altLang="es-NI" sz="2800" dirty="0">
                <a:latin typeface="Arial" panose="020B0604020202020204" pitchFamily="34" charset="0"/>
                <a:ea typeface="Calibri" panose="020F0502020204030204" pitchFamily="34" charset="0"/>
                <a:cs typeface="Times New Roman" panose="02020603050405020304" pitchFamily="18" charset="0"/>
              </a:rPr>
              <a:t>Codificación del programa</a:t>
            </a:r>
          </a:p>
          <a:p>
            <a:pPr algn="just">
              <a:lnSpc>
                <a:spcPct val="115000"/>
              </a:lnSpc>
              <a:spcBef>
                <a:spcPct val="0"/>
              </a:spcBef>
              <a:buFont typeface="Calibri" panose="020F0502020204030204" pitchFamily="34" charset="0"/>
              <a:buAutoNum type="arabicPeriod"/>
            </a:pPr>
            <a:r>
              <a:rPr lang="es-NI" altLang="es-NI" sz="2800" dirty="0">
                <a:latin typeface="Arial" panose="020B0604020202020204" pitchFamily="34" charset="0"/>
                <a:ea typeface="Calibri" panose="020F0502020204030204" pitchFamily="34" charset="0"/>
                <a:cs typeface="Times New Roman" panose="02020603050405020304" pitchFamily="18" charset="0"/>
              </a:rPr>
              <a:t>Compilación</a:t>
            </a:r>
          </a:p>
          <a:p>
            <a:pPr algn="just">
              <a:lnSpc>
                <a:spcPct val="115000"/>
              </a:lnSpc>
              <a:spcBef>
                <a:spcPct val="0"/>
              </a:spcBef>
              <a:buFont typeface="Calibri" panose="020F0502020204030204" pitchFamily="34" charset="0"/>
              <a:buAutoNum type="arabicPeriod"/>
            </a:pPr>
            <a:r>
              <a:rPr lang="es-NI" altLang="es-NI" sz="2800" dirty="0">
                <a:latin typeface="Arial" panose="020B0604020202020204" pitchFamily="34" charset="0"/>
                <a:ea typeface="Calibri" panose="020F0502020204030204" pitchFamily="34" charset="0"/>
                <a:cs typeface="Times New Roman" panose="02020603050405020304" pitchFamily="18" charset="0"/>
              </a:rPr>
              <a:t>Ejecución</a:t>
            </a:r>
          </a:p>
          <a:p>
            <a:pPr algn="just">
              <a:lnSpc>
                <a:spcPct val="115000"/>
              </a:lnSpc>
              <a:spcBef>
                <a:spcPct val="0"/>
              </a:spcBef>
              <a:buFont typeface="Calibri" panose="020F0502020204030204" pitchFamily="34" charset="0"/>
              <a:buAutoNum type="arabicPeriod"/>
            </a:pPr>
            <a:r>
              <a:rPr lang="es-NI" altLang="es-NI" sz="2800" dirty="0">
                <a:latin typeface="Arial" panose="020B0604020202020204" pitchFamily="34" charset="0"/>
                <a:ea typeface="Calibri" panose="020F0502020204030204" pitchFamily="34" charset="0"/>
                <a:cs typeface="Times New Roman" panose="02020603050405020304" pitchFamily="18" charset="0"/>
              </a:rPr>
              <a:t>Verificación</a:t>
            </a:r>
          </a:p>
          <a:p>
            <a:pPr algn="just">
              <a:lnSpc>
                <a:spcPct val="115000"/>
              </a:lnSpc>
              <a:spcBef>
                <a:spcPct val="0"/>
              </a:spcBef>
              <a:buFont typeface="Calibri" panose="020F0502020204030204" pitchFamily="34" charset="0"/>
              <a:buAutoNum type="arabicPeriod"/>
            </a:pPr>
            <a:r>
              <a:rPr lang="es-NI" altLang="es-NI" sz="2800" dirty="0">
                <a:latin typeface="Arial" panose="020B0604020202020204" pitchFamily="34" charset="0"/>
                <a:ea typeface="Calibri" panose="020F0502020204030204" pitchFamily="34" charset="0"/>
                <a:cs typeface="Times New Roman" panose="02020603050405020304" pitchFamily="18" charset="0"/>
              </a:rPr>
              <a:t>Depuración</a:t>
            </a:r>
          </a:p>
          <a:p>
            <a:pPr algn="just">
              <a:lnSpc>
                <a:spcPct val="115000"/>
              </a:lnSpc>
              <a:spcBef>
                <a:spcPct val="0"/>
              </a:spcBef>
              <a:buFont typeface="Calibri" panose="020F0502020204030204" pitchFamily="34" charset="0"/>
              <a:buAutoNum type="arabicPeriod"/>
            </a:pPr>
            <a:r>
              <a:rPr lang="es-NI" altLang="es-NI" sz="2800" dirty="0">
                <a:latin typeface="Arial" panose="020B0604020202020204" pitchFamily="34" charset="0"/>
                <a:ea typeface="Calibri" panose="020F0502020204030204" pitchFamily="34" charset="0"/>
                <a:cs typeface="Times New Roman" panose="02020603050405020304" pitchFamily="18" charset="0"/>
              </a:rPr>
              <a:t>Documentación</a:t>
            </a:r>
          </a:p>
          <a:p>
            <a:pPr algn="just">
              <a:lnSpc>
                <a:spcPct val="115000"/>
              </a:lnSpc>
              <a:spcBef>
                <a:spcPct val="0"/>
              </a:spcBef>
              <a:buFont typeface="Calibri" panose="020F0502020204030204" pitchFamily="34" charset="0"/>
              <a:buAutoNum type="arabicPeriod"/>
            </a:pPr>
            <a:r>
              <a:rPr lang="es-NI" altLang="es-NI" sz="2800" dirty="0">
                <a:latin typeface="Arial" panose="020B0604020202020204" pitchFamily="34" charset="0"/>
                <a:ea typeface="Calibri" panose="020F0502020204030204" pitchFamily="34" charset="0"/>
                <a:cs typeface="Times New Roman" panose="02020603050405020304" pitchFamily="18" charset="0"/>
              </a:rPr>
              <a:t>Mantenimiento</a:t>
            </a:r>
            <a:endParaRPr lang="es-ES" altLang="es-NI" sz="2800" dirty="0">
              <a:latin typeface="Arial" panose="020B0604020202020204" pitchFamily="34" charset="0"/>
              <a:ea typeface="Calibri" panose="020F0502020204030204" pitchFamily="34" charset="0"/>
              <a:cs typeface="Times New Roman" panose="02020603050405020304" pitchFamily="18" charset="0"/>
            </a:endParaRPr>
          </a:p>
        </p:txBody>
      </p:sp>
      <p:sp>
        <p:nvSpPr>
          <p:cNvPr id="4" name="CuadroTexto 3"/>
          <p:cNvSpPr txBox="1"/>
          <p:nvPr/>
        </p:nvSpPr>
        <p:spPr>
          <a:xfrm>
            <a:off x="903891" y="252248"/>
            <a:ext cx="8177050" cy="584775"/>
          </a:xfrm>
          <a:prstGeom prst="rect">
            <a:avLst/>
          </a:prstGeom>
          <a:noFill/>
        </p:spPr>
        <p:txBody>
          <a:bodyPr wrap="square" rtlCol="0">
            <a:spAutoFit/>
          </a:bodyPr>
          <a:lstStyle/>
          <a:p>
            <a:pPr algn="ctr"/>
            <a:r>
              <a:rPr lang="es-ES" sz="3200" dirty="0" smtClean="0">
                <a:solidFill>
                  <a:schemeClr val="bg1"/>
                </a:solidFill>
              </a:rPr>
              <a:t>Fases de la Resolución de Problemas con PC</a:t>
            </a:r>
            <a:endParaRPr lang="es-NI" sz="3200" dirty="0">
              <a:solidFill>
                <a:schemeClr val="bg1"/>
              </a:solidFill>
            </a:endParaRPr>
          </a:p>
        </p:txBody>
      </p:sp>
    </p:spTree>
    <p:extLst>
      <p:ext uri="{BB962C8B-B14F-4D97-AF65-F5344CB8AC3E}">
        <p14:creationId xmlns:p14="http://schemas.microsoft.com/office/powerpoint/2010/main" val="4078835165"/>
      </p:ext>
    </p:extLst>
  </p:cSld>
  <p:clrMapOvr>
    <a:masterClrMapping/>
  </p:clrMapOvr>
  <p:transition spd="slow">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ángulo 1"/>
          <p:cNvSpPr>
            <a:spLocks noChangeArrowheads="1"/>
          </p:cNvSpPr>
          <p:nvPr/>
        </p:nvSpPr>
        <p:spPr bwMode="auto">
          <a:xfrm>
            <a:off x="349524" y="1392294"/>
            <a:ext cx="11548185"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es-NI" altLang="es-NI" sz="2400" dirty="0" smtClean="0">
                <a:latin typeface="Arial" panose="020B0604020202020204" pitchFamily="34" charset="0"/>
                <a:cs typeface="Arial" panose="020B0604020202020204" pitchFamily="34" charset="0"/>
              </a:rPr>
              <a:t>A </a:t>
            </a:r>
            <a:r>
              <a:rPr lang="es-NI" altLang="es-NI" sz="2400" dirty="0">
                <a:latin typeface="Arial" panose="020B0604020202020204" pitchFamily="34" charset="0"/>
                <a:cs typeface="Arial" panose="020B0604020202020204" pitchFamily="34" charset="0"/>
              </a:rPr>
              <a:t>fin de resolver un problema utilizando </a:t>
            </a:r>
            <a:r>
              <a:rPr lang="es-NI" altLang="es-NI" sz="2400" dirty="0" smtClean="0">
                <a:latin typeface="Arial" panose="020B0604020202020204" pitchFamily="34" charset="0"/>
                <a:cs typeface="Arial" panose="020B0604020202020204" pitchFamily="34" charset="0"/>
              </a:rPr>
              <a:t>una computadora, </a:t>
            </a:r>
            <a:r>
              <a:rPr lang="es-NI" altLang="es-NI" sz="2400" dirty="0">
                <a:latin typeface="Arial" panose="020B0604020202020204" pitchFamily="34" charset="0"/>
                <a:cs typeface="Arial" panose="020B0604020202020204" pitchFamily="34" charset="0"/>
              </a:rPr>
              <a:t>debe seguirse una serie de pasos que permiten avanzar por etapas bien definidas hacia la solución</a:t>
            </a:r>
            <a:r>
              <a:rPr lang="es-NI" altLang="es-NI" sz="2400" dirty="0" smtClean="0">
                <a:latin typeface="Arial" panose="020B0604020202020204" pitchFamily="34" charset="0"/>
                <a:cs typeface="Arial" panose="020B0604020202020204" pitchFamily="34" charset="0"/>
              </a:rPr>
              <a:t>.</a:t>
            </a:r>
          </a:p>
          <a:p>
            <a:pPr algn="just">
              <a:spcBef>
                <a:spcPct val="0"/>
              </a:spcBef>
              <a:buFontTx/>
              <a:buNone/>
            </a:pPr>
            <a:endParaRPr lang="es-ES" altLang="es-NI" sz="2400" dirty="0">
              <a:latin typeface="Arial" panose="020B0604020202020204" pitchFamily="34" charset="0"/>
              <a:cs typeface="Arial" panose="020B0604020202020204" pitchFamily="34" charset="0"/>
            </a:endParaRPr>
          </a:p>
          <a:p>
            <a:pPr algn="just">
              <a:spcBef>
                <a:spcPct val="0"/>
              </a:spcBef>
              <a:buFontTx/>
              <a:buNone/>
            </a:pPr>
            <a:r>
              <a:rPr lang="es-NI" altLang="es-NI" sz="2400" b="1" u="sng" dirty="0">
                <a:latin typeface="Arial" panose="020B0604020202020204" pitchFamily="34" charset="0"/>
                <a:cs typeface="Arial" panose="020B0604020202020204" pitchFamily="34" charset="0"/>
              </a:rPr>
              <a:t>Análisis del problema</a:t>
            </a:r>
            <a:r>
              <a:rPr lang="es-NI" altLang="es-NI" sz="2400" dirty="0">
                <a:latin typeface="Arial" panose="020B0604020202020204" pitchFamily="34" charset="0"/>
                <a:cs typeface="Arial" panose="020B0604020202020204" pitchFamily="34" charset="0"/>
              </a:rPr>
              <a:t>: En esta </a:t>
            </a:r>
            <a:r>
              <a:rPr lang="es-NI" altLang="es-NI" sz="2400" dirty="0" smtClean="0">
                <a:latin typeface="Arial" panose="020B0604020202020204" pitchFamily="34" charset="0"/>
                <a:cs typeface="Arial" panose="020B0604020202020204" pitchFamily="34" charset="0"/>
              </a:rPr>
              <a:t>etapa, </a:t>
            </a:r>
            <a:r>
              <a:rPr lang="es-NI" altLang="es-NI" sz="2400" dirty="0">
                <a:latin typeface="Arial" panose="020B0604020202020204" pitchFamily="34" charset="0"/>
                <a:cs typeface="Arial" panose="020B0604020202020204" pitchFamily="34" charset="0"/>
              </a:rPr>
              <a:t>se debe definir y tener claro lo que el programa tiene que hacer junto con las tareas que debe realizar para llevar a cabo la </a:t>
            </a:r>
            <a:r>
              <a:rPr lang="es-NI" altLang="es-NI" sz="2400" dirty="0" smtClean="0">
                <a:latin typeface="Arial" panose="020B0604020202020204" pitchFamily="34" charset="0"/>
                <a:cs typeface="Arial" panose="020B0604020202020204" pitchFamily="34" charset="0"/>
              </a:rPr>
              <a:t>solución: </a:t>
            </a:r>
            <a:r>
              <a:rPr lang="es-NI" altLang="es-NI" sz="2400" dirty="0">
                <a:latin typeface="Arial" panose="020B0604020202020204" pitchFamily="34" charset="0"/>
                <a:cs typeface="Arial" panose="020B0604020202020204" pitchFamily="34" charset="0"/>
              </a:rPr>
              <a:t>qué datos necesito para realizar las tareas, qué formato deben tener los datos de entrada, de dónde provienen los datos de entrada, cómo se obtienen esos datos, cómo interactúan los datos entre sí para obtener el </a:t>
            </a:r>
            <a:r>
              <a:rPr lang="es-NI" altLang="es-NI" sz="2400" dirty="0" smtClean="0">
                <a:latin typeface="Arial" panose="020B0604020202020204" pitchFamily="34" charset="0"/>
                <a:cs typeface="Arial" panose="020B0604020202020204" pitchFamily="34" charset="0"/>
              </a:rPr>
              <a:t>resultado, </a:t>
            </a:r>
            <a:r>
              <a:rPr lang="es-NI" altLang="es-NI" sz="2400" dirty="0">
                <a:latin typeface="Arial" panose="020B0604020202020204" pitchFamily="34" charset="0"/>
                <a:cs typeface="Arial" panose="020B0604020202020204" pitchFamily="34" charset="0"/>
              </a:rPr>
              <a:t>y cuál será el resultado que se desea obtener.</a:t>
            </a:r>
          </a:p>
          <a:p>
            <a:pPr algn="just">
              <a:spcBef>
                <a:spcPct val="0"/>
              </a:spcBef>
              <a:buFontTx/>
              <a:buNone/>
            </a:pPr>
            <a:endParaRPr lang="es-NI" altLang="es-NI" sz="2400" dirty="0">
              <a:latin typeface="Arial" panose="020B0604020202020204" pitchFamily="34" charset="0"/>
              <a:cs typeface="Arial" panose="020B0604020202020204" pitchFamily="34" charset="0"/>
            </a:endParaRPr>
          </a:p>
          <a:p>
            <a:pPr algn="just">
              <a:spcBef>
                <a:spcPct val="0"/>
              </a:spcBef>
              <a:buFontTx/>
              <a:buNone/>
            </a:pPr>
            <a:r>
              <a:rPr lang="es-NI" altLang="es-NI" sz="2400" dirty="0">
                <a:latin typeface="Arial" panose="020B0604020202020204" pitchFamily="34" charset="0"/>
                <a:cs typeface="Arial" panose="020B0604020202020204" pitchFamily="34" charset="0"/>
              </a:rPr>
              <a:t>Básicamente, en esta fase se </a:t>
            </a:r>
            <a:r>
              <a:rPr lang="es-NI" altLang="es-NI" sz="2400" dirty="0" smtClean="0">
                <a:latin typeface="Arial" panose="020B0604020202020204" pitchFamily="34" charset="0"/>
                <a:cs typeface="Arial" panose="020B0604020202020204" pitchFamily="34" charset="0"/>
              </a:rPr>
              <a:t>deben recopilar </a:t>
            </a:r>
            <a:r>
              <a:rPr lang="es-NI" altLang="es-NI" sz="2400" dirty="0">
                <a:latin typeface="Arial" panose="020B0604020202020204" pitchFamily="34" charset="0"/>
                <a:cs typeface="Arial" panose="020B0604020202020204" pitchFamily="34" charset="0"/>
              </a:rPr>
              <a:t>todos los requerimientos y especificaciones (entrada y salida) del problema</a:t>
            </a:r>
            <a:r>
              <a:rPr lang="es-NI" altLang="es-NI" sz="2400" dirty="0" smtClean="0">
                <a:latin typeface="Arial" panose="020B0604020202020204" pitchFamily="34" charset="0"/>
                <a:cs typeface="Arial" panose="020B0604020202020204" pitchFamily="34" charset="0"/>
              </a:rPr>
              <a:t>.</a:t>
            </a:r>
            <a:endParaRPr lang="es-NI" altLang="es-NI" sz="2400" dirty="0">
              <a:latin typeface="Arial" panose="020B0604020202020204" pitchFamily="34" charset="0"/>
              <a:cs typeface="Arial" panose="020B0604020202020204" pitchFamily="34" charset="0"/>
            </a:endParaRPr>
          </a:p>
        </p:txBody>
      </p:sp>
      <p:sp>
        <p:nvSpPr>
          <p:cNvPr id="6" name="CuadroTexto 5"/>
          <p:cNvSpPr txBox="1"/>
          <p:nvPr/>
        </p:nvSpPr>
        <p:spPr>
          <a:xfrm>
            <a:off x="1240221" y="231228"/>
            <a:ext cx="7840719" cy="553998"/>
          </a:xfrm>
          <a:prstGeom prst="rect">
            <a:avLst/>
          </a:prstGeom>
          <a:noFill/>
        </p:spPr>
        <p:txBody>
          <a:bodyPr wrap="square" rtlCol="0">
            <a:spAutoFit/>
          </a:bodyPr>
          <a:lstStyle/>
          <a:p>
            <a:pPr algn="ctr"/>
            <a:r>
              <a:rPr lang="es-ES" sz="3000" dirty="0" smtClean="0">
                <a:solidFill>
                  <a:schemeClr val="bg1"/>
                </a:solidFill>
              </a:rPr>
              <a:t>Fases de la Resolución de Problemas con PC</a:t>
            </a:r>
            <a:endParaRPr lang="es-NI" sz="3000" dirty="0">
              <a:solidFill>
                <a:schemeClr val="bg1"/>
              </a:solidFill>
            </a:endParaRPr>
          </a:p>
        </p:txBody>
      </p:sp>
    </p:spTree>
    <p:extLst>
      <p:ext uri="{BB962C8B-B14F-4D97-AF65-F5344CB8AC3E}">
        <p14:creationId xmlns:p14="http://schemas.microsoft.com/office/powerpoint/2010/main" val="381700082"/>
      </p:ext>
    </p:extLst>
  </p:cSld>
  <p:clrMapOvr>
    <a:masterClrMapping/>
  </p:clrMapOvr>
  <p:transition spd="slow">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7" name="Grupo 1"/>
          <p:cNvGrpSpPr>
            <a:grpSpLocks/>
          </p:cNvGrpSpPr>
          <p:nvPr/>
        </p:nvGrpSpPr>
        <p:grpSpPr bwMode="auto">
          <a:xfrm>
            <a:off x="1420760" y="1118795"/>
            <a:ext cx="8524875" cy="5445205"/>
            <a:chOff x="323850" y="765175"/>
            <a:chExt cx="8524875" cy="5538788"/>
          </a:xfrm>
        </p:grpSpPr>
        <p:pic>
          <p:nvPicPr>
            <p:cNvPr id="11268" name="Imagen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3850" y="765175"/>
              <a:ext cx="8524875"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Imagen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4963" y="3627438"/>
              <a:ext cx="440055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CuadroTexto 5"/>
            <p:cNvSpPr txBox="1">
              <a:spLocks noChangeArrowheads="1"/>
            </p:cNvSpPr>
            <p:nvPr/>
          </p:nvSpPr>
          <p:spPr bwMode="auto">
            <a:xfrm>
              <a:off x="4979988" y="3641725"/>
              <a:ext cx="3868737" cy="134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es-NI" altLang="es-NI" sz="1600" b="1" dirty="0">
                  <a:latin typeface="Arial" panose="020B0604020202020204" pitchFamily="34" charset="0"/>
                  <a:cs typeface="Arial" panose="020B0604020202020204" pitchFamily="34" charset="0"/>
                </a:rPr>
                <a:t>Ejemplo</a:t>
              </a:r>
              <a:r>
                <a:rPr lang="es-NI" altLang="es-NI" sz="1600" dirty="0">
                  <a:latin typeface="Arial" panose="020B0604020202020204" pitchFamily="34" charset="0"/>
                  <a:cs typeface="Arial" panose="020B0604020202020204" pitchFamily="34" charset="0"/>
                </a:rPr>
                <a:t>: Si el programa es para el cálculo de un interés bancario, debe conocer no sólo la tasa de interés y el capital, sino </a:t>
              </a:r>
              <a:r>
                <a:rPr lang="es-NI" altLang="es-NI" sz="1600" dirty="0" smtClean="0">
                  <a:latin typeface="Arial" panose="020B0604020202020204" pitchFamily="34" charset="0"/>
                  <a:cs typeface="Arial" panose="020B0604020202020204" pitchFamily="34" charset="0"/>
                </a:rPr>
                <a:t>también, </a:t>
              </a:r>
              <a:r>
                <a:rPr lang="es-NI" altLang="es-NI" sz="1600" dirty="0">
                  <a:latin typeface="Arial" panose="020B0604020202020204" pitchFamily="34" charset="0"/>
                  <a:cs typeface="Arial" panose="020B0604020202020204" pitchFamily="34" charset="0"/>
                </a:rPr>
                <a:t>el período de tiempo de depósito del capital.</a:t>
              </a:r>
            </a:p>
          </p:txBody>
        </p:sp>
      </p:grpSp>
      <p:sp>
        <p:nvSpPr>
          <p:cNvPr id="7" name="CuadroTexto 6"/>
          <p:cNvSpPr txBox="1"/>
          <p:nvPr/>
        </p:nvSpPr>
        <p:spPr>
          <a:xfrm>
            <a:off x="2727373" y="245660"/>
            <a:ext cx="5470697" cy="584775"/>
          </a:xfrm>
          <a:prstGeom prst="rect">
            <a:avLst/>
          </a:prstGeom>
          <a:noFill/>
        </p:spPr>
        <p:txBody>
          <a:bodyPr wrap="square" rtlCol="0">
            <a:spAutoFit/>
          </a:bodyPr>
          <a:lstStyle/>
          <a:p>
            <a:pPr algn="ctr"/>
            <a:r>
              <a:rPr lang="es-ES" sz="3200" dirty="0" smtClean="0">
                <a:solidFill>
                  <a:schemeClr val="bg1"/>
                </a:solidFill>
              </a:rPr>
              <a:t>Fase de Análisis del Problema</a:t>
            </a:r>
            <a:endParaRPr lang="es-NI" sz="3200" dirty="0">
              <a:solidFill>
                <a:schemeClr val="bg1"/>
              </a:solidFill>
            </a:endParaRPr>
          </a:p>
        </p:txBody>
      </p:sp>
    </p:spTree>
    <p:extLst>
      <p:ext uri="{BB962C8B-B14F-4D97-AF65-F5344CB8AC3E}">
        <p14:creationId xmlns:p14="http://schemas.microsoft.com/office/powerpoint/2010/main" val="3267082722"/>
      </p:ext>
    </p:extLst>
  </p:cSld>
  <p:clrMapOvr>
    <a:masterClrMapping/>
  </p:clrMapOvr>
  <p:transition spd="slow">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0464185"/>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1062</TotalTime>
  <Words>790</Words>
  <Application>Microsoft Office PowerPoint</Application>
  <PresentationFormat>Panorámica</PresentationFormat>
  <Paragraphs>82</Paragraphs>
  <Slides>13</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13</vt:i4>
      </vt:variant>
    </vt:vector>
  </HeadingPairs>
  <TitlesOfParts>
    <vt:vector size="20" baseType="lpstr">
      <vt:lpstr>Arial</vt:lpstr>
      <vt:lpstr>Calibri</vt:lpstr>
      <vt:lpstr>Franklin Gothic Book</vt:lpstr>
      <vt:lpstr>Franklin Gothic Medium</vt:lpstr>
      <vt:lpstr>Times New Roman</vt:lpstr>
      <vt:lpstr>Wingdings</vt:lpstr>
      <vt:lpstr>Tema de Office</vt:lpstr>
      <vt:lpstr>Lógica y Algoritmos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Gloria Cordero</dc:creator>
  <cp:lastModifiedBy>César Marín López</cp:lastModifiedBy>
  <cp:revision>44</cp:revision>
  <dcterms:created xsi:type="dcterms:W3CDTF">2019-03-11T22:56:21Z</dcterms:created>
  <dcterms:modified xsi:type="dcterms:W3CDTF">2024-03-09T17:36:12Z</dcterms:modified>
</cp:coreProperties>
</file>