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gif" ContentType="image/gif"/>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handoutMasterIdLst>
    <p:handoutMasterId r:id="rId38"/>
  </p:handoutMasterIdLst>
  <p:sldIdLst>
    <p:sldId id="258" r:id="rId2"/>
    <p:sldId id="298" r:id="rId3"/>
    <p:sldId id="256" r:id="rId4"/>
    <p:sldId id="259" r:id="rId5"/>
    <p:sldId id="257" r:id="rId6"/>
    <p:sldId id="264" r:id="rId7"/>
    <p:sldId id="263" r:id="rId8"/>
    <p:sldId id="267" r:id="rId9"/>
    <p:sldId id="266" r:id="rId10"/>
    <p:sldId id="265" r:id="rId11"/>
    <p:sldId id="270" r:id="rId12"/>
    <p:sldId id="271" r:id="rId13"/>
    <p:sldId id="269" r:id="rId14"/>
    <p:sldId id="272" r:id="rId15"/>
    <p:sldId id="273" r:id="rId16"/>
    <p:sldId id="268" r:id="rId17"/>
    <p:sldId id="277" r:id="rId18"/>
    <p:sldId id="276" r:id="rId19"/>
    <p:sldId id="275" r:id="rId20"/>
    <p:sldId id="281" r:id="rId21"/>
    <p:sldId id="283" r:id="rId22"/>
    <p:sldId id="284" r:id="rId23"/>
    <p:sldId id="286" r:id="rId24"/>
    <p:sldId id="285" r:id="rId25"/>
    <p:sldId id="287" r:id="rId26"/>
    <p:sldId id="288" r:id="rId27"/>
    <p:sldId id="289" r:id="rId28"/>
    <p:sldId id="290" r:id="rId29"/>
    <p:sldId id="291" r:id="rId30"/>
    <p:sldId id="292" r:id="rId31"/>
    <p:sldId id="293" r:id="rId32"/>
    <p:sldId id="294" r:id="rId33"/>
    <p:sldId id="295" r:id="rId34"/>
    <p:sldId id="296" r:id="rId35"/>
    <p:sldId id="297" r:id="rId36"/>
    <p:sldId id="260" r:id="rId37"/>
  </p:sldIdLst>
  <p:sldSz cx="12192000" cy="6858000"/>
  <p:notesSz cx="6858000" cy="9144000"/>
  <p:defaultTextStyle>
    <a:defPPr>
      <a:defRPr lang="es-N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9A8"/>
    <a:srgbClr val="F47C20"/>
    <a:srgbClr val="D71920"/>
    <a:srgbClr val="C8B16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Estilo medio 2 - Énfasis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5BE263C-DBD7-4A20-BB59-AAB30ACAA65A}" styleName="Estilo medio 3 - Énfasis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0E3FDE45-AF77-4B5C-9715-49D594BDF05E}" styleName="Estilo claro 1 - Acento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5DA37D80-6434-44D0-A028-1B22A696006F}" styleName="Estilo claro 3 - Acento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636" autoAdjust="0"/>
    <p:restoredTop sz="94660"/>
  </p:normalViewPr>
  <p:slideViewPr>
    <p:cSldViewPr snapToGrid="0">
      <p:cViewPr varScale="1">
        <p:scale>
          <a:sx n="105" d="100"/>
          <a:sy n="105" d="100"/>
        </p:scale>
        <p:origin x="240" y="102"/>
      </p:cViewPr>
      <p:guideLst/>
    </p:cSldViewPr>
  </p:slideViewPr>
  <p:notesTextViewPr>
    <p:cViewPr>
      <p:scale>
        <a:sx n="1" d="1"/>
        <a:sy n="1" d="1"/>
      </p:scale>
      <p:origin x="0" y="0"/>
    </p:cViewPr>
  </p:notesTextViewPr>
  <p:notesViewPr>
    <p:cSldViewPr snapToGrid="0">
      <p:cViewPr varScale="1">
        <p:scale>
          <a:sx n="56" d="100"/>
          <a:sy n="56" d="100"/>
        </p:scale>
        <p:origin x="2856" y="7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handoutMaster" Target="handoutMasters/handout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3.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NI"/>
          </a:p>
        </p:txBody>
      </p:sp>
      <p:sp>
        <p:nvSpPr>
          <p:cNvPr id="3" name="Marcador de fecha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F57612F-F4F6-49E7-9E06-3D5220FEBB27}" type="datetimeFigureOut">
              <a:rPr lang="es-NI" smtClean="0"/>
              <a:t>31/03/2024</a:t>
            </a:fld>
            <a:endParaRPr lang="es-NI"/>
          </a:p>
        </p:txBody>
      </p:sp>
      <p:sp>
        <p:nvSpPr>
          <p:cNvPr id="4" name="Marcador de pie de página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NI"/>
          </a:p>
        </p:txBody>
      </p:sp>
      <p:sp>
        <p:nvSpPr>
          <p:cNvPr id="5" name="Marcador de número de diapositiva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D084567-83D8-42DA-AC87-6626250FF122}" type="slidenum">
              <a:rPr lang="es-NI" smtClean="0"/>
              <a:t>‹Nº›</a:t>
            </a:fld>
            <a:endParaRPr lang="es-NI"/>
          </a:p>
        </p:txBody>
      </p:sp>
    </p:spTree>
    <p:extLst>
      <p:ext uri="{BB962C8B-B14F-4D97-AF65-F5344CB8AC3E}">
        <p14:creationId xmlns:p14="http://schemas.microsoft.com/office/powerpoint/2010/main" val="1383731467"/>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7" name="Rectángulo 6"/>
          <p:cNvSpPr/>
          <p:nvPr userDrawn="1"/>
        </p:nvSpPr>
        <p:spPr>
          <a:xfrm>
            <a:off x="0" y="1709738"/>
            <a:ext cx="12192000" cy="5148262"/>
          </a:xfrm>
          <a:prstGeom prst="rect">
            <a:avLst/>
          </a:prstGeom>
          <a:solidFill>
            <a:srgbClr val="F47C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ln>
                <a:noFill/>
              </a:ln>
            </a:endParaRPr>
          </a:p>
        </p:txBody>
      </p:sp>
      <p:sp>
        <p:nvSpPr>
          <p:cNvPr id="2" name="Título 1"/>
          <p:cNvSpPr>
            <a:spLocks noGrp="1"/>
          </p:cNvSpPr>
          <p:nvPr>
            <p:ph type="title"/>
          </p:nvPr>
        </p:nvSpPr>
        <p:spPr>
          <a:xfrm>
            <a:off x="831850" y="1709738"/>
            <a:ext cx="10515600" cy="2852737"/>
          </a:xfrm>
        </p:spPr>
        <p:txBody>
          <a:bodyPr anchor="b"/>
          <a:lstStyle>
            <a:lvl1pPr>
              <a:defRPr sz="6000">
                <a:solidFill>
                  <a:schemeClr val="bg1"/>
                </a:solidFill>
              </a:defRPr>
            </a:lvl1pPr>
          </a:lstStyle>
          <a:p>
            <a:r>
              <a:rPr lang="es-ES" dirty="0"/>
              <a:t>Haga clic para modificar el estilo de título del patrón</a:t>
            </a:r>
            <a:endParaRPr lang="es-NI" dirty="0"/>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dirty="0"/>
              <a:t>Editar el estilo de texto del patrón</a:t>
            </a:r>
          </a:p>
        </p:txBody>
      </p:sp>
      <p:pic>
        <p:nvPicPr>
          <p:cNvPr id="4" name="Imagen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15910"/>
            <a:ext cx="5306096" cy="1416727"/>
          </a:xfrm>
          <a:prstGeom prst="rect">
            <a:avLst/>
          </a:prstGeom>
        </p:spPr>
      </p:pic>
    </p:spTree>
    <p:extLst>
      <p:ext uri="{BB962C8B-B14F-4D97-AF65-F5344CB8AC3E}">
        <p14:creationId xmlns:p14="http://schemas.microsoft.com/office/powerpoint/2010/main" val="38812484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solidFill>
                  <a:schemeClr val="tx1">
                    <a:lumMod val="75000"/>
                    <a:lumOff val="25000"/>
                  </a:schemeClr>
                </a:solidFill>
              </a:defRPr>
            </a:lvl1pPr>
          </a:lstStyle>
          <a:p>
            <a:r>
              <a:rPr lang="es-ES" dirty="0"/>
              <a:t>Haga clic para modificar el estilo de título del patrón</a:t>
            </a:r>
            <a:endParaRPr lang="es-NI" dirty="0"/>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dirty="0"/>
              <a:t>Haga clic para editar el estilo de subtítulo del patrón</a:t>
            </a:r>
            <a:endParaRPr lang="es-NI" dirty="0"/>
          </a:p>
        </p:txBody>
      </p:sp>
      <p:sp>
        <p:nvSpPr>
          <p:cNvPr id="8" name="Rectángulo 7"/>
          <p:cNvSpPr/>
          <p:nvPr userDrawn="1"/>
        </p:nvSpPr>
        <p:spPr>
          <a:xfrm>
            <a:off x="0" y="-1"/>
            <a:ext cx="12192000" cy="1122364"/>
          </a:xfrm>
          <a:prstGeom prst="rect">
            <a:avLst/>
          </a:prstGeom>
          <a:solidFill>
            <a:srgbClr val="F47C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ln>
                <a:noFill/>
              </a:ln>
            </a:endParaRPr>
          </a:p>
        </p:txBody>
      </p:sp>
      <p:pic>
        <p:nvPicPr>
          <p:cNvPr id="9" name="Imagen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052533" y="-36372"/>
            <a:ext cx="2139467" cy="1195106"/>
          </a:xfrm>
          <a:prstGeom prst="rect">
            <a:avLst/>
          </a:prstGeom>
        </p:spPr>
      </p:pic>
    </p:spTree>
    <p:extLst>
      <p:ext uri="{BB962C8B-B14F-4D97-AF65-F5344CB8AC3E}">
        <p14:creationId xmlns:p14="http://schemas.microsoft.com/office/powerpoint/2010/main" val="26607703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lvl1pPr>
              <a:defRPr>
                <a:solidFill>
                  <a:schemeClr val="tx1">
                    <a:lumMod val="75000"/>
                    <a:lumOff val="25000"/>
                  </a:schemeClr>
                </a:solidFill>
              </a:defRPr>
            </a:lvl1pPr>
          </a:lstStyle>
          <a:p>
            <a:r>
              <a:rPr lang="es-ES" dirty="0"/>
              <a:t>Haga clic para modificar el estilo de título del patrón</a:t>
            </a:r>
            <a:endParaRPr lang="es-NI" dirty="0"/>
          </a:p>
        </p:txBody>
      </p:sp>
      <p:sp>
        <p:nvSpPr>
          <p:cNvPr id="3" name="Marcador de contenido 2"/>
          <p:cNvSpPr>
            <a:spLocks noGrp="1"/>
          </p:cNvSpPr>
          <p:nvPr>
            <p:ph idx="1"/>
          </p:nvPr>
        </p:nvSpPr>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s-ES" dirty="0"/>
              <a:t>Editar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NI" dirty="0"/>
          </a:p>
        </p:txBody>
      </p:sp>
      <p:pic>
        <p:nvPicPr>
          <p:cNvPr id="7" name="Imagen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51054" y="6921"/>
            <a:ext cx="1040946" cy="581472"/>
          </a:xfrm>
          <a:prstGeom prst="rect">
            <a:avLst/>
          </a:prstGeom>
        </p:spPr>
      </p:pic>
      <p:sp>
        <p:nvSpPr>
          <p:cNvPr id="8" name="Rectángulo 7"/>
          <p:cNvSpPr/>
          <p:nvPr userDrawn="1"/>
        </p:nvSpPr>
        <p:spPr>
          <a:xfrm>
            <a:off x="0" y="6542468"/>
            <a:ext cx="12192000" cy="315532"/>
          </a:xfrm>
          <a:prstGeom prst="rect">
            <a:avLst/>
          </a:prstGeom>
          <a:solidFill>
            <a:srgbClr val="F47C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ln>
                <a:noFill/>
              </a:ln>
            </a:endParaRPr>
          </a:p>
        </p:txBody>
      </p:sp>
    </p:spTree>
    <p:extLst>
      <p:ext uri="{BB962C8B-B14F-4D97-AF65-F5344CB8AC3E}">
        <p14:creationId xmlns:p14="http://schemas.microsoft.com/office/powerpoint/2010/main" val="39409111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lvl1pPr>
              <a:defRPr>
                <a:solidFill>
                  <a:schemeClr val="tx1">
                    <a:lumMod val="75000"/>
                    <a:lumOff val="25000"/>
                  </a:schemeClr>
                </a:solidFill>
              </a:defRPr>
            </a:lvl1pPr>
          </a:lstStyle>
          <a:p>
            <a:r>
              <a:rPr lang="es-ES" dirty="0"/>
              <a:t>Haga clic para modificar el estilo de título del patrón</a:t>
            </a:r>
            <a:endParaRPr lang="es-NI" dirty="0"/>
          </a:p>
        </p:txBody>
      </p:sp>
      <p:sp>
        <p:nvSpPr>
          <p:cNvPr id="3" name="Marcador de contenido 2"/>
          <p:cNvSpPr>
            <a:spLocks noGrp="1"/>
          </p:cNvSpPr>
          <p:nvPr>
            <p:ph sz="half" idx="1"/>
          </p:nvPr>
        </p:nvSpPr>
        <p:spPr>
          <a:xfrm>
            <a:off x="838200" y="1825625"/>
            <a:ext cx="5181600" cy="4351338"/>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s-ES" dirty="0"/>
              <a:t>Editar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NI" dirty="0"/>
          </a:p>
        </p:txBody>
      </p:sp>
      <p:sp>
        <p:nvSpPr>
          <p:cNvPr id="4" name="Marcador de contenido 3"/>
          <p:cNvSpPr>
            <a:spLocks noGrp="1"/>
          </p:cNvSpPr>
          <p:nvPr>
            <p:ph sz="half" idx="2"/>
          </p:nvPr>
        </p:nvSpPr>
        <p:spPr>
          <a:xfrm>
            <a:off x="6172200" y="1825625"/>
            <a:ext cx="5181600" cy="4351338"/>
          </a:xfrm>
        </p:spPr>
        <p:txBody>
          <a:bodyPr/>
          <a:lstStyle/>
          <a:p>
            <a:pPr lvl="0"/>
            <a:r>
              <a:rPr lang="es-ES" dirty="0"/>
              <a:t>Editar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NI" dirty="0"/>
          </a:p>
        </p:txBody>
      </p:sp>
      <p:sp>
        <p:nvSpPr>
          <p:cNvPr id="9" name="Rectángulo 8"/>
          <p:cNvSpPr/>
          <p:nvPr userDrawn="1"/>
        </p:nvSpPr>
        <p:spPr>
          <a:xfrm>
            <a:off x="0" y="6542468"/>
            <a:ext cx="12192000" cy="315532"/>
          </a:xfrm>
          <a:prstGeom prst="rect">
            <a:avLst/>
          </a:prstGeom>
          <a:solidFill>
            <a:srgbClr val="F47C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ln>
                <a:noFill/>
              </a:ln>
            </a:endParaRPr>
          </a:p>
        </p:txBody>
      </p:sp>
      <p:pic>
        <p:nvPicPr>
          <p:cNvPr id="7" name="Imagen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51054" y="6921"/>
            <a:ext cx="1040946" cy="581472"/>
          </a:xfrm>
          <a:prstGeom prst="rect">
            <a:avLst/>
          </a:prstGeom>
        </p:spPr>
      </p:pic>
    </p:spTree>
    <p:extLst>
      <p:ext uri="{BB962C8B-B14F-4D97-AF65-F5344CB8AC3E}">
        <p14:creationId xmlns:p14="http://schemas.microsoft.com/office/powerpoint/2010/main" val="24309895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5" name="Rectángulo 4"/>
          <p:cNvSpPr/>
          <p:nvPr userDrawn="1"/>
        </p:nvSpPr>
        <p:spPr>
          <a:xfrm>
            <a:off x="0" y="6349284"/>
            <a:ext cx="12192000" cy="508715"/>
          </a:xfrm>
          <a:prstGeom prst="rect">
            <a:avLst/>
          </a:prstGeom>
          <a:solidFill>
            <a:srgbClr val="F47C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ln>
                <a:noFill/>
              </a:ln>
            </a:endParaRPr>
          </a:p>
        </p:txBody>
      </p:sp>
      <p:pic>
        <p:nvPicPr>
          <p:cNvPr id="3" name="Imagen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502455" y="2253803"/>
            <a:ext cx="7187089" cy="1918952"/>
          </a:xfrm>
          <a:prstGeom prst="rect">
            <a:avLst/>
          </a:prstGeom>
        </p:spPr>
      </p:pic>
    </p:spTree>
    <p:extLst>
      <p:ext uri="{BB962C8B-B14F-4D97-AF65-F5344CB8AC3E}">
        <p14:creationId xmlns:p14="http://schemas.microsoft.com/office/powerpoint/2010/main" val="419788577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dirty="0"/>
              <a:t>Haga clic para modificar el estilo de título del patrón</a:t>
            </a:r>
            <a:endParaRPr lang="es-NI" dirty="0"/>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dirty="0"/>
              <a:t>Editar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NI" dirty="0"/>
          </a:p>
        </p:txBody>
      </p:sp>
    </p:spTree>
    <p:extLst>
      <p:ext uri="{BB962C8B-B14F-4D97-AF65-F5344CB8AC3E}">
        <p14:creationId xmlns:p14="http://schemas.microsoft.com/office/powerpoint/2010/main" val="4044447819"/>
      </p:ext>
    </p:extLst>
  </p:cSld>
  <p:clrMap bg1="lt1" tx1="dk1" bg2="lt2" tx2="dk2" accent1="accent1" accent2="accent2" accent3="accent3" accent4="accent4" accent5="accent5" accent6="accent6" hlink="hlink" folHlink="folHlink"/>
  <p:sldLayoutIdLst>
    <p:sldLayoutId id="2147483651" r:id="rId1"/>
    <p:sldLayoutId id="2147483649" r:id="rId2"/>
    <p:sldLayoutId id="2147483650" r:id="rId3"/>
    <p:sldLayoutId id="2147483652" r:id="rId4"/>
    <p:sldLayoutId id="2147483655"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N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3.xml"/><Relationship Id="rId1" Type="http://schemas.openxmlformats.org/officeDocument/2006/relationships/vmlDrawing" Target="../drawings/vmlDrawing1.vml"/><Relationship Id="rId4" Type="http://schemas.openxmlformats.org/officeDocument/2006/relationships/image" Target="../media/image7.e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3.xml"/><Relationship Id="rId1" Type="http://schemas.openxmlformats.org/officeDocument/2006/relationships/vmlDrawing" Target="../drawings/vmlDrawing2.vml"/><Relationship Id="rId4" Type="http://schemas.openxmlformats.org/officeDocument/2006/relationships/image" Target="../media/image8.wm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3.xml"/><Relationship Id="rId1" Type="http://schemas.openxmlformats.org/officeDocument/2006/relationships/vmlDrawing" Target="../drawings/vmlDrawing3.vml"/><Relationship Id="rId4" Type="http://schemas.openxmlformats.org/officeDocument/2006/relationships/image" Target="../media/image9.wmf"/></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3.xml"/><Relationship Id="rId1" Type="http://schemas.openxmlformats.org/officeDocument/2006/relationships/vmlDrawing" Target="../drawings/vmlDrawing4.vml"/><Relationship Id="rId4" Type="http://schemas.openxmlformats.org/officeDocument/2006/relationships/image" Target="../media/image10.wmf"/></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3.xml"/><Relationship Id="rId1" Type="http://schemas.openxmlformats.org/officeDocument/2006/relationships/vmlDrawing" Target="../drawings/vmlDrawing5.vml"/><Relationship Id="rId4" Type="http://schemas.openxmlformats.org/officeDocument/2006/relationships/image" Target="../media/image11.wmf"/></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3.xml"/><Relationship Id="rId1" Type="http://schemas.openxmlformats.org/officeDocument/2006/relationships/vmlDrawing" Target="../drawings/vmlDrawing6.vml"/><Relationship Id="rId4" Type="http://schemas.openxmlformats.org/officeDocument/2006/relationships/image" Target="../media/image12.wmf"/></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3.xml"/><Relationship Id="rId1" Type="http://schemas.openxmlformats.org/officeDocument/2006/relationships/vmlDrawing" Target="../drawings/vmlDrawing7.vml"/><Relationship Id="rId4" Type="http://schemas.openxmlformats.org/officeDocument/2006/relationships/image" Target="../media/image13.wmf"/></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077292D9-DB16-4FBE-9F8D-0E319560EC61}"/>
              </a:ext>
            </a:extLst>
          </p:cNvPr>
          <p:cNvSpPr>
            <a:spLocks noGrp="1"/>
          </p:cNvSpPr>
          <p:nvPr>
            <p:ph type="title"/>
          </p:nvPr>
        </p:nvSpPr>
        <p:spPr>
          <a:xfrm>
            <a:off x="560698" y="2458819"/>
            <a:ext cx="10515600" cy="1140403"/>
          </a:xfrm>
        </p:spPr>
        <p:txBody>
          <a:bodyPr>
            <a:normAutofit fontScale="90000"/>
          </a:bodyPr>
          <a:lstStyle/>
          <a:p>
            <a:r>
              <a:rPr lang="es-ES" sz="4800" dirty="0"/>
              <a:t>Lógica y Algoritmos</a:t>
            </a:r>
            <a:br>
              <a:rPr lang="es-ES" sz="4800" dirty="0"/>
            </a:br>
            <a:r>
              <a:rPr lang="es-ES" sz="4800" dirty="0"/>
              <a:t>U</a:t>
            </a:r>
            <a:r>
              <a:rPr lang="es-ES" sz="3600" dirty="0"/>
              <a:t>nidad II: Algoritmos y programas</a:t>
            </a:r>
            <a:endParaRPr lang="es-NI" sz="3600" dirty="0"/>
          </a:p>
        </p:txBody>
      </p:sp>
      <p:sp>
        <p:nvSpPr>
          <p:cNvPr id="5" name="Marcador de texto 2">
            <a:extLst>
              <a:ext uri="{FF2B5EF4-FFF2-40B4-BE49-F238E27FC236}">
                <a16:creationId xmlns:a16="http://schemas.microsoft.com/office/drawing/2014/main" id="{C7F02BF1-D6AC-490C-8E66-0C066C1D0E8C}"/>
              </a:ext>
            </a:extLst>
          </p:cNvPr>
          <p:cNvSpPr>
            <a:spLocks noGrp="1"/>
          </p:cNvSpPr>
          <p:nvPr>
            <p:ph type="body" idx="1"/>
          </p:nvPr>
        </p:nvSpPr>
        <p:spPr>
          <a:xfrm>
            <a:off x="420642" y="5329953"/>
            <a:ext cx="11057992" cy="549997"/>
          </a:xfrm>
        </p:spPr>
        <p:txBody>
          <a:bodyPr>
            <a:normAutofit/>
          </a:bodyPr>
          <a:lstStyle/>
          <a:p>
            <a:pPr algn="r"/>
            <a:r>
              <a:rPr lang="pt-BR" sz="1400" b="1" dirty="0" err="1"/>
              <a:t>Colectivo</a:t>
            </a:r>
            <a:r>
              <a:rPr lang="pt-BR" sz="1400" b="1" dirty="0"/>
              <a:t> de </a:t>
            </a:r>
            <a:r>
              <a:rPr lang="pt-BR" sz="1400" b="1" dirty="0" err="1"/>
              <a:t>asignatura</a:t>
            </a:r>
            <a:r>
              <a:rPr lang="pt-BR" sz="1400" b="1" dirty="0"/>
              <a:t> 1S2024 | Abril, 2024</a:t>
            </a:r>
            <a:endParaRPr lang="es-NI" sz="1800" dirty="0"/>
          </a:p>
        </p:txBody>
      </p:sp>
      <p:sp>
        <p:nvSpPr>
          <p:cNvPr id="6" name="Título 1">
            <a:extLst>
              <a:ext uri="{FF2B5EF4-FFF2-40B4-BE49-F238E27FC236}">
                <a16:creationId xmlns:a16="http://schemas.microsoft.com/office/drawing/2014/main" id="{7DCF7591-3C53-434C-A934-82F3D00436B6}"/>
              </a:ext>
            </a:extLst>
          </p:cNvPr>
          <p:cNvSpPr txBox="1">
            <a:spLocks/>
          </p:cNvSpPr>
          <p:nvPr/>
        </p:nvSpPr>
        <p:spPr>
          <a:xfrm>
            <a:off x="1057656" y="4713403"/>
            <a:ext cx="10515600" cy="616550"/>
          </a:xfrm>
          <a:prstGeom prst="rect">
            <a:avLst/>
          </a:prstGeom>
        </p:spPr>
        <p:txBody>
          <a:bodyPr vert="horz" lIns="91440" tIns="45720" rIns="91440" bIns="45720" rtlCol="0" anchor="b">
            <a:normAutofit fontScale="97500"/>
          </a:bodyPr>
          <a:lstStyle>
            <a:lvl1pPr algn="l" defTabSz="914400" rtl="0" eaLnBrk="1" latinLnBrk="0" hangingPunct="1">
              <a:lnSpc>
                <a:spcPct val="90000"/>
              </a:lnSpc>
              <a:spcBef>
                <a:spcPct val="0"/>
              </a:spcBef>
              <a:buNone/>
              <a:defRPr sz="6000" kern="1200">
                <a:solidFill>
                  <a:schemeClr val="bg1"/>
                </a:solidFill>
                <a:latin typeface="+mj-lt"/>
                <a:ea typeface="+mj-ea"/>
                <a:cs typeface="+mj-cs"/>
              </a:defRPr>
            </a:lvl1pPr>
          </a:lstStyle>
          <a:p>
            <a:pPr algn="r"/>
            <a:r>
              <a:rPr lang="es-MX" sz="3600" dirty="0"/>
              <a:t>Estructura y elementos de un programa en C/C++</a:t>
            </a:r>
            <a:endParaRPr lang="es-NI" sz="3600" dirty="0"/>
          </a:p>
        </p:txBody>
      </p:sp>
    </p:spTree>
    <p:extLst>
      <p:ext uri="{BB962C8B-B14F-4D97-AF65-F5344CB8AC3E}">
        <p14:creationId xmlns:p14="http://schemas.microsoft.com/office/powerpoint/2010/main" val="7715604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CDCD3186-F893-420E-AE62-1C6965A8DD57}"/>
              </a:ext>
            </a:extLst>
          </p:cNvPr>
          <p:cNvSpPr txBox="1">
            <a:spLocks/>
          </p:cNvSpPr>
          <p:nvPr/>
        </p:nvSpPr>
        <p:spPr>
          <a:xfrm>
            <a:off x="343113" y="1494820"/>
            <a:ext cx="2991499" cy="5696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685800">
              <a:lnSpc>
                <a:spcPts val="3960"/>
              </a:lnSpc>
              <a:defRPr/>
            </a:pPr>
            <a:r>
              <a:rPr lang="es-MX" sz="3600" b="1" dirty="0">
                <a:solidFill>
                  <a:srgbClr val="002060"/>
                </a:solidFill>
                <a:latin typeface="+mn-lt"/>
              </a:rPr>
              <a:t>Contenido</a:t>
            </a:r>
            <a:endParaRPr lang="x-none" sz="3300" b="1" dirty="0">
              <a:solidFill>
                <a:srgbClr val="002060"/>
              </a:solidFill>
              <a:latin typeface="+mn-lt"/>
            </a:endParaRPr>
          </a:p>
        </p:txBody>
      </p:sp>
      <p:sp>
        <p:nvSpPr>
          <p:cNvPr id="3" name="Content Placeholder 2">
            <a:extLst>
              <a:ext uri="{FF2B5EF4-FFF2-40B4-BE49-F238E27FC236}">
                <a16:creationId xmlns:a16="http://schemas.microsoft.com/office/drawing/2014/main" id="{9ED93111-AA20-48BB-A5FA-47C4FF669E4C}"/>
              </a:ext>
            </a:extLst>
          </p:cNvPr>
          <p:cNvSpPr txBox="1">
            <a:spLocks/>
          </p:cNvSpPr>
          <p:nvPr/>
        </p:nvSpPr>
        <p:spPr>
          <a:xfrm>
            <a:off x="433634" y="2277245"/>
            <a:ext cx="10680568" cy="3256289"/>
          </a:xfrm>
          <a:prstGeom prst="rect">
            <a:avLst/>
          </a:prstGeom>
          <a:solidFill>
            <a:schemeClr val="bg1"/>
          </a:solidFill>
          <a:ln>
            <a:noFill/>
          </a:ln>
        </p:spPr>
        <p:style>
          <a:lnRef idx="1">
            <a:schemeClr val="accent4"/>
          </a:lnRef>
          <a:fillRef idx="2">
            <a:schemeClr val="accent4"/>
          </a:fillRef>
          <a:effectRef idx="1">
            <a:schemeClr val="accent4"/>
          </a:effectRef>
          <a:fontRef idx="minor">
            <a:schemeClr val="dk1"/>
          </a:fontRef>
        </p:style>
        <p:txBody>
          <a:bodyPr numCol="2"/>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685800">
              <a:lnSpc>
                <a:spcPct val="100000"/>
              </a:lnSpc>
              <a:spcBef>
                <a:spcPts val="0"/>
              </a:spcBef>
              <a:buSzPct val="50000"/>
              <a:buNone/>
              <a:defRPr/>
            </a:pPr>
            <a:r>
              <a:rPr lang="es-ES" sz="2400" dirty="0">
                <a:solidFill>
                  <a:srgbClr val="002060"/>
                </a:solidFill>
              </a:rPr>
              <a:t>Lenguaje de Programación C/C++</a:t>
            </a:r>
          </a:p>
          <a:p>
            <a:pPr marL="0" indent="0" defTabSz="685800">
              <a:lnSpc>
                <a:spcPct val="100000"/>
              </a:lnSpc>
              <a:spcBef>
                <a:spcPts val="0"/>
              </a:spcBef>
              <a:buSzPct val="50000"/>
              <a:buNone/>
              <a:defRPr/>
            </a:pPr>
            <a:endParaRPr lang="es-ES" sz="2400" dirty="0">
              <a:solidFill>
                <a:srgbClr val="002060"/>
              </a:solidFill>
            </a:endParaRPr>
          </a:p>
          <a:p>
            <a:pPr marL="0" indent="0" defTabSz="685800">
              <a:lnSpc>
                <a:spcPct val="100000"/>
              </a:lnSpc>
              <a:spcBef>
                <a:spcPts val="0"/>
              </a:spcBef>
              <a:buSzPct val="50000"/>
              <a:buNone/>
              <a:defRPr/>
            </a:pPr>
            <a:r>
              <a:rPr lang="es-ES" sz="2400" dirty="0">
                <a:solidFill>
                  <a:srgbClr val="002060"/>
                </a:solidFill>
              </a:rPr>
              <a:t>	► Generalidades de C/C++</a:t>
            </a:r>
          </a:p>
          <a:p>
            <a:pPr marL="0" indent="0" defTabSz="685800">
              <a:lnSpc>
                <a:spcPct val="100000"/>
              </a:lnSpc>
              <a:spcBef>
                <a:spcPts val="0"/>
              </a:spcBef>
              <a:buSzPct val="50000"/>
              <a:buNone/>
              <a:defRPr/>
            </a:pPr>
            <a:r>
              <a:rPr lang="es-ES" sz="2400" dirty="0">
                <a:solidFill>
                  <a:srgbClr val="002060"/>
                </a:solidFill>
              </a:rPr>
              <a:t>	► Definición de programa</a:t>
            </a:r>
          </a:p>
          <a:p>
            <a:pPr marL="0" indent="0" defTabSz="685800">
              <a:lnSpc>
                <a:spcPct val="100000"/>
              </a:lnSpc>
              <a:spcBef>
                <a:spcPts val="0"/>
              </a:spcBef>
              <a:buSzPct val="50000"/>
              <a:buNone/>
              <a:defRPr/>
            </a:pPr>
            <a:r>
              <a:rPr lang="es-ES" sz="2400" dirty="0">
                <a:solidFill>
                  <a:srgbClr val="002060"/>
                </a:solidFill>
              </a:rPr>
              <a:t>	► Tipos de datos</a:t>
            </a:r>
          </a:p>
          <a:p>
            <a:pPr marL="0" indent="0" defTabSz="685800">
              <a:lnSpc>
                <a:spcPct val="100000"/>
              </a:lnSpc>
              <a:spcBef>
                <a:spcPts val="0"/>
              </a:spcBef>
              <a:buSzPct val="50000"/>
              <a:buNone/>
              <a:defRPr/>
            </a:pPr>
            <a:r>
              <a:rPr lang="es-ES" sz="2400" dirty="0">
                <a:solidFill>
                  <a:srgbClr val="002060"/>
                </a:solidFill>
              </a:rPr>
              <a:t>	► </a:t>
            </a:r>
            <a:r>
              <a:rPr lang="es-NI" sz="2400" dirty="0">
                <a:solidFill>
                  <a:srgbClr val="002060"/>
                </a:solidFill>
              </a:rPr>
              <a:t>Estructura de un programa</a:t>
            </a:r>
          </a:p>
          <a:p>
            <a:pPr marL="0" indent="0" defTabSz="685800">
              <a:lnSpc>
                <a:spcPct val="100000"/>
              </a:lnSpc>
              <a:spcBef>
                <a:spcPts val="0"/>
              </a:spcBef>
              <a:buSzPct val="50000"/>
              <a:buNone/>
              <a:defRPr/>
            </a:pPr>
            <a:r>
              <a:rPr lang="es-MX" sz="2400" dirty="0">
                <a:solidFill>
                  <a:srgbClr val="002060"/>
                </a:solidFill>
              </a:rPr>
              <a:t>	► La función </a:t>
            </a:r>
            <a:r>
              <a:rPr lang="es-MX" sz="2400" dirty="0" err="1">
                <a:solidFill>
                  <a:srgbClr val="002060"/>
                </a:solidFill>
              </a:rPr>
              <a:t>main</a:t>
            </a:r>
            <a:r>
              <a:rPr lang="es-MX" sz="2400" dirty="0">
                <a:solidFill>
                  <a:srgbClr val="002060"/>
                </a:solidFill>
              </a:rPr>
              <a:t>()</a:t>
            </a:r>
          </a:p>
          <a:p>
            <a:pPr marL="0" indent="0" defTabSz="685800">
              <a:lnSpc>
                <a:spcPct val="100000"/>
              </a:lnSpc>
              <a:spcBef>
                <a:spcPts val="0"/>
              </a:spcBef>
              <a:buSzPct val="50000"/>
              <a:buNone/>
              <a:defRPr/>
            </a:pPr>
            <a:r>
              <a:rPr lang="es-MX" sz="2400" dirty="0">
                <a:solidFill>
                  <a:srgbClr val="002060"/>
                </a:solidFill>
              </a:rPr>
              <a:t>	► Juego de caracteres</a:t>
            </a:r>
          </a:p>
          <a:p>
            <a:pPr marL="0" indent="0" defTabSz="685800">
              <a:lnSpc>
                <a:spcPct val="100000"/>
              </a:lnSpc>
              <a:spcBef>
                <a:spcPts val="0"/>
              </a:spcBef>
              <a:buSzPct val="50000"/>
              <a:buNone/>
              <a:defRPr/>
            </a:pPr>
            <a:endParaRPr lang="es-MX" sz="2400" dirty="0">
              <a:solidFill>
                <a:srgbClr val="002060"/>
              </a:solidFill>
            </a:endParaRPr>
          </a:p>
          <a:p>
            <a:pPr marL="0" indent="0" defTabSz="685800">
              <a:lnSpc>
                <a:spcPct val="100000"/>
              </a:lnSpc>
              <a:spcBef>
                <a:spcPts val="0"/>
              </a:spcBef>
              <a:buSzPct val="50000"/>
              <a:buNone/>
              <a:defRPr/>
            </a:pPr>
            <a:endParaRPr lang="es-MX" sz="2400" dirty="0">
              <a:solidFill>
                <a:srgbClr val="002060"/>
              </a:solidFill>
            </a:endParaRPr>
          </a:p>
          <a:p>
            <a:pPr marL="0" indent="0" defTabSz="685800">
              <a:lnSpc>
                <a:spcPct val="100000"/>
              </a:lnSpc>
              <a:spcBef>
                <a:spcPts val="0"/>
              </a:spcBef>
              <a:buSzPct val="50000"/>
              <a:buNone/>
              <a:defRPr/>
            </a:pPr>
            <a:endParaRPr lang="es-MX" sz="2400" dirty="0">
              <a:solidFill>
                <a:srgbClr val="002060"/>
              </a:solidFill>
            </a:endParaRPr>
          </a:p>
          <a:p>
            <a:pPr marL="0" indent="0" defTabSz="685800">
              <a:lnSpc>
                <a:spcPct val="100000"/>
              </a:lnSpc>
              <a:spcBef>
                <a:spcPts val="0"/>
              </a:spcBef>
              <a:buSzPct val="50000"/>
              <a:buNone/>
              <a:defRPr/>
            </a:pPr>
            <a:r>
              <a:rPr lang="es-MX" sz="2400" dirty="0">
                <a:solidFill>
                  <a:srgbClr val="002060"/>
                </a:solidFill>
              </a:rPr>
              <a:t>► </a:t>
            </a:r>
            <a:r>
              <a:rPr lang="es-NI" dirty="0">
                <a:solidFill>
                  <a:srgbClr val="002060"/>
                </a:solidFill>
              </a:rPr>
              <a:t>Palabras reservadas</a:t>
            </a:r>
          </a:p>
          <a:p>
            <a:pPr marL="0" indent="0" defTabSz="685800">
              <a:lnSpc>
                <a:spcPct val="100000"/>
              </a:lnSpc>
              <a:spcBef>
                <a:spcPts val="0"/>
              </a:spcBef>
              <a:buSzPct val="50000"/>
              <a:buNone/>
              <a:defRPr/>
            </a:pPr>
            <a:r>
              <a:rPr lang="es-MX" dirty="0">
                <a:solidFill>
                  <a:srgbClr val="002060"/>
                </a:solidFill>
              </a:rPr>
              <a:t>►</a:t>
            </a:r>
            <a:r>
              <a:rPr lang="es-NI" dirty="0">
                <a:solidFill>
                  <a:srgbClr val="002060"/>
                </a:solidFill>
              </a:rPr>
              <a:t> Comentarios</a:t>
            </a:r>
          </a:p>
          <a:p>
            <a:pPr marL="0" indent="0" defTabSz="685800">
              <a:lnSpc>
                <a:spcPct val="100000"/>
              </a:lnSpc>
              <a:spcBef>
                <a:spcPts val="0"/>
              </a:spcBef>
              <a:buSzPct val="50000"/>
              <a:buNone/>
              <a:defRPr/>
            </a:pPr>
            <a:r>
              <a:rPr lang="es-MX" dirty="0">
                <a:solidFill>
                  <a:srgbClr val="002060"/>
                </a:solidFill>
              </a:rPr>
              <a:t>►</a:t>
            </a:r>
            <a:r>
              <a:rPr lang="es-NI" dirty="0">
                <a:solidFill>
                  <a:srgbClr val="002060"/>
                </a:solidFill>
              </a:rPr>
              <a:t> Identificadores</a:t>
            </a:r>
          </a:p>
          <a:p>
            <a:pPr marL="0" indent="0" defTabSz="685800">
              <a:lnSpc>
                <a:spcPct val="100000"/>
              </a:lnSpc>
              <a:spcBef>
                <a:spcPts val="0"/>
              </a:spcBef>
              <a:buSzPct val="50000"/>
              <a:buNone/>
              <a:defRPr/>
            </a:pPr>
            <a:r>
              <a:rPr lang="es-MX" dirty="0">
                <a:solidFill>
                  <a:srgbClr val="002060"/>
                </a:solidFill>
              </a:rPr>
              <a:t>►</a:t>
            </a:r>
            <a:r>
              <a:rPr lang="es-NI" dirty="0">
                <a:solidFill>
                  <a:srgbClr val="002060"/>
                </a:solidFill>
              </a:rPr>
              <a:t> Variables y constantes</a:t>
            </a:r>
          </a:p>
          <a:p>
            <a:pPr marL="0" indent="0" defTabSz="685800">
              <a:lnSpc>
                <a:spcPct val="100000"/>
              </a:lnSpc>
              <a:spcBef>
                <a:spcPts val="0"/>
              </a:spcBef>
              <a:buSzPct val="50000"/>
              <a:buNone/>
              <a:defRPr/>
            </a:pPr>
            <a:r>
              <a:rPr lang="es-MX" dirty="0">
                <a:solidFill>
                  <a:srgbClr val="002060"/>
                </a:solidFill>
              </a:rPr>
              <a:t>►</a:t>
            </a:r>
            <a:r>
              <a:rPr lang="es-NI" dirty="0">
                <a:solidFill>
                  <a:srgbClr val="002060"/>
                </a:solidFill>
              </a:rPr>
              <a:t> Operadores</a:t>
            </a:r>
          </a:p>
          <a:p>
            <a:pPr marL="0" indent="0" defTabSz="685800">
              <a:lnSpc>
                <a:spcPct val="100000"/>
              </a:lnSpc>
              <a:spcBef>
                <a:spcPts val="0"/>
              </a:spcBef>
              <a:buSzPct val="50000"/>
              <a:buNone/>
              <a:defRPr/>
            </a:pPr>
            <a:endParaRPr lang="es-NI" dirty="0">
              <a:solidFill>
                <a:srgbClr val="002060"/>
              </a:solidFill>
            </a:endParaRPr>
          </a:p>
        </p:txBody>
      </p:sp>
    </p:spTree>
    <p:extLst>
      <p:ext uri="{BB962C8B-B14F-4D97-AF65-F5344CB8AC3E}">
        <p14:creationId xmlns:p14="http://schemas.microsoft.com/office/powerpoint/2010/main" val="27283169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lamada de nube 8">
            <a:extLst>
              <a:ext uri="{FF2B5EF4-FFF2-40B4-BE49-F238E27FC236}">
                <a16:creationId xmlns:a16="http://schemas.microsoft.com/office/drawing/2014/main" id="{E4EB83F3-FBC9-41E6-B272-965A4EA53916}"/>
              </a:ext>
            </a:extLst>
          </p:cNvPr>
          <p:cNvSpPr/>
          <p:nvPr/>
        </p:nvSpPr>
        <p:spPr>
          <a:xfrm>
            <a:off x="4465961" y="1362614"/>
            <a:ext cx="7480270" cy="5104126"/>
          </a:xfrm>
          <a:prstGeom prst="cloudCallout">
            <a:avLst>
              <a:gd name="adj1" fmla="val -80931"/>
              <a:gd name="adj2" fmla="val 13030"/>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s-NI" sz="3200" dirty="0">
                <a:solidFill>
                  <a:schemeClr val="tx1"/>
                </a:solidFill>
              </a:rPr>
              <a:t>“</a:t>
            </a:r>
            <a:r>
              <a:rPr lang="es-NI" sz="3200" dirty="0">
                <a:solidFill>
                  <a:schemeClr val="tx1"/>
                </a:solidFill>
                <a:latin typeface="+mj-lt"/>
              </a:rPr>
              <a:t>Primero resuelve el problema. Entonces, escribe el código.”</a:t>
            </a:r>
            <a:br>
              <a:rPr lang="es-NI" sz="2800" dirty="0">
                <a:solidFill>
                  <a:schemeClr val="tx1"/>
                </a:solidFill>
                <a:latin typeface="+mj-lt"/>
              </a:rPr>
            </a:br>
            <a:endParaRPr lang="es-NI" sz="2800" dirty="0">
              <a:solidFill>
                <a:schemeClr val="tx1"/>
              </a:solidFill>
              <a:latin typeface="+mj-lt"/>
            </a:endParaRPr>
          </a:p>
          <a:p>
            <a:pPr algn="r"/>
            <a:r>
              <a:rPr lang="es-NI" sz="2000" dirty="0">
                <a:solidFill>
                  <a:schemeClr val="tx1"/>
                </a:solidFill>
                <a:latin typeface="+mj-lt"/>
              </a:rPr>
              <a:t>— John Johnson</a:t>
            </a:r>
            <a:endParaRPr lang="es-NI" sz="2000" dirty="0">
              <a:solidFill>
                <a:schemeClr val="tx1"/>
              </a:solidFill>
              <a:latin typeface="+mj-lt"/>
              <a:cs typeface="Times New Roman" panose="02020603050405020304" pitchFamily="18" charset="0"/>
            </a:endParaRPr>
          </a:p>
        </p:txBody>
      </p:sp>
      <p:pic>
        <p:nvPicPr>
          <p:cNvPr id="3" name="Picture 2" descr="http://www.muycomputer.com/files/HIDDEN_264_23783_FOTO_Programacion_C.jpg">
            <a:extLst>
              <a:ext uri="{FF2B5EF4-FFF2-40B4-BE49-F238E27FC236}">
                <a16:creationId xmlns:a16="http://schemas.microsoft.com/office/drawing/2014/main" id="{529DE2DE-A8C5-4EE0-9845-7080308A66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20348195">
            <a:off x="714294" y="1699004"/>
            <a:ext cx="2989547" cy="21343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380213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62CDA485-B767-45FB-AF19-815E3CD28B79}"/>
              </a:ext>
            </a:extLst>
          </p:cNvPr>
          <p:cNvSpPr>
            <a:spLocks noChangeArrowheads="1"/>
          </p:cNvSpPr>
          <p:nvPr/>
        </p:nvSpPr>
        <p:spPr bwMode="auto">
          <a:xfrm>
            <a:off x="946378" y="1645905"/>
            <a:ext cx="6481762" cy="3901837"/>
          </a:xfrm>
          <a:prstGeom prst="rect">
            <a:avLst/>
          </a:prstGeom>
          <a:noFill/>
          <a:ln w="9525">
            <a:noFill/>
            <a:miter lim="800000"/>
            <a:headEnd/>
            <a:tailEnd/>
          </a:ln>
          <a:effectLst/>
        </p:spPr>
        <p:txBody>
          <a:bodyPr anchor="ctr">
            <a:spAutoFit/>
          </a:bodyPr>
          <a:lstStyle/>
          <a:p>
            <a:pPr marL="342900" marR="0" lvl="0" indent="-342900" algn="just" defTabSz="914400" rtl="0" eaLnBrk="1" fontAlgn="base" latinLnBrk="0" hangingPunct="1">
              <a:lnSpc>
                <a:spcPct val="150000"/>
              </a:lnSpc>
              <a:spcBef>
                <a:spcPct val="0"/>
              </a:spcBef>
              <a:spcAft>
                <a:spcPct val="0"/>
              </a:spcAft>
              <a:buClrTx/>
              <a:buSzTx/>
              <a:buFontTx/>
              <a:buAutoNum type="arabicPeriod"/>
              <a:tabLst>
                <a:tab pos="228600" algn="l"/>
              </a:tabLst>
              <a:defRPr/>
            </a:pPr>
            <a:r>
              <a:rPr kumimoji="0" lang="es-ES" sz="2400" b="0" i="0" u="none" strike="noStrike" kern="1200" cap="none" spc="0" normalizeH="0" baseline="0" noProof="0" dirty="0">
                <a:ln>
                  <a:noFill/>
                </a:ln>
                <a:solidFill>
                  <a:srgbClr val="000000"/>
                </a:solidFill>
                <a:effectLst/>
                <a:uLnTx/>
                <a:uFillTx/>
                <a:latin typeface="Arial" charset="0"/>
                <a:ea typeface="+mn-ea"/>
                <a:cs typeface="+mn-cs"/>
              </a:rPr>
              <a:t>Es un lenguaje </a:t>
            </a:r>
            <a:r>
              <a:rPr kumimoji="0" lang="es-ES" sz="2400" b="1" i="0" u="none" strike="noStrike" kern="1200" cap="none" spc="0" normalizeH="0" baseline="0" noProof="0" dirty="0">
                <a:ln>
                  <a:noFill/>
                </a:ln>
                <a:solidFill>
                  <a:srgbClr val="000000"/>
                </a:solidFill>
                <a:effectLst/>
                <a:uLnTx/>
                <a:uFillTx/>
                <a:latin typeface="Arial" charset="0"/>
                <a:ea typeface="+mn-ea"/>
                <a:cs typeface="+mn-cs"/>
              </a:rPr>
              <a:t>Poderoso</a:t>
            </a:r>
            <a:r>
              <a:rPr kumimoji="0" lang="es-ES" sz="2400" b="0" i="0" u="none" strike="noStrike" kern="1200" cap="none" spc="0" normalizeH="0" baseline="0" noProof="0" dirty="0">
                <a:ln>
                  <a:noFill/>
                </a:ln>
                <a:solidFill>
                  <a:srgbClr val="000000"/>
                </a:solidFill>
                <a:effectLst/>
                <a:uLnTx/>
                <a:uFillTx/>
                <a:latin typeface="Arial" charset="0"/>
                <a:ea typeface="+mn-ea"/>
                <a:cs typeface="+mn-cs"/>
              </a:rPr>
              <a:t> y </a:t>
            </a:r>
            <a:r>
              <a:rPr kumimoji="0" lang="es-ES" sz="2400" b="1" i="0" u="none" strike="noStrike" kern="1200" cap="none" spc="0" normalizeH="0" baseline="0" noProof="0" dirty="0">
                <a:ln>
                  <a:noFill/>
                </a:ln>
                <a:solidFill>
                  <a:srgbClr val="000000"/>
                </a:solidFill>
                <a:effectLst/>
                <a:uLnTx/>
                <a:uFillTx/>
                <a:latin typeface="Arial" charset="0"/>
                <a:ea typeface="+mn-ea"/>
                <a:cs typeface="+mn-cs"/>
              </a:rPr>
              <a:t>Flexible…</a:t>
            </a:r>
          </a:p>
          <a:p>
            <a:pPr marL="342900" marR="0" lvl="0" indent="-342900" algn="just" defTabSz="914400" rtl="0" eaLnBrk="1" fontAlgn="base" latinLnBrk="0" hangingPunct="1">
              <a:lnSpc>
                <a:spcPct val="150000"/>
              </a:lnSpc>
              <a:spcBef>
                <a:spcPct val="0"/>
              </a:spcBef>
              <a:spcAft>
                <a:spcPct val="0"/>
              </a:spcAft>
              <a:buClrTx/>
              <a:buSzTx/>
              <a:buFontTx/>
              <a:buAutoNum type="arabicPeriod"/>
              <a:tabLst>
                <a:tab pos="228600" algn="l"/>
              </a:tabLst>
              <a:defRPr/>
            </a:pPr>
            <a:r>
              <a:rPr kumimoji="0" lang="es-ES" sz="2400" b="1" i="0" u="none" strike="noStrike" kern="1200" cap="none" spc="0" normalizeH="0" baseline="0" noProof="0" dirty="0">
                <a:ln>
                  <a:noFill/>
                </a:ln>
                <a:solidFill>
                  <a:srgbClr val="000000"/>
                </a:solidFill>
                <a:effectLst/>
                <a:uLnTx/>
                <a:uFillTx/>
                <a:latin typeface="Arial" charset="0"/>
                <a:ea typeface="+mn-ea"/>
                <a:cs typeface="+mn-cs"/>
              </a:rPr>
              <a:t>Lenguaje común…</a:t>
            </a:r>
          </a:p>
          <a:p>
            <a:pPr marL="342900" marR="0" lvl="0" indent="-342900" algn="just" defTabSz="914400" rtl="0" eaLnBrk="1" fontAlgn="base" latinLnBrk="0" hangingPunct="1">
              <a:lnSpc>
                <a:spcPct val="150000"/>
              </a:lnSpc>
              <a:spcBef>
                <a:spcPct val="0"/>
              </a:spcBef>
              <a:spcAft>
                <a:spcPct val="0"/>
              </a:spcAft>
              <a:buClrTx/>
              <a:buSzTx/>
              <a:buFontTx/>
              <a:buAutoNum type="arabicPeriod"/>
              <a:tabLst>
                <a:tab pos="228600" algn="l"/>
              </a:tabLst>
              <a:defRPr/>
            </a:pPr>
            <a:r>
              <a:rPr kumimoji="0" lang="es-ES" sz="2400" b="1" i="0" u="none" strike="noStrike" kern="1200" cap="none" spc="0" normalizeH="0" baseline="0" noProof="0" dirty="0">
                <a:ln>
                  <a:noFill/>
                </a:ln>
                <a:solidFill>
                  <a:srgbClr val="000000"/>
                </a:solidFill>
                <a:effectLst/>
                <a:uLnTx/>
                <a:uFillTx/>
                <a:latin typeface="Arial" charset="0"/>
                <a:ea typeface="+mn-ea"/>
                <a:cs typeface="+mn-cs"/>
              </a:rPr>
              <a:t>Transportable…</a:t>
            </a:r>
          </a:p>
          <a:p>
            <a:pPr marL="342900" marR="0" lvl="0" indent="-342900" algn="just" defTabSz="914400" rtl="0" eaLnBrk="1" fontAlgn="base" latinLnBrk="0" hangingPunct="1">
              <a:lnSpc>
                <a:spcPct val="150000"/>
              </a:lnSpc>
              <a:spcBef>
                <a:spcPct val="0"/>
              </a:spcBef>
              <a:spcAft>
                <a:spcPct val="0"/>
              </a:spcAft>
              <a:buClrTx/>
              <a:buSzTx/>
              <a:buFontTx/>
              <a:buAutoNum type="arabicPeriod"/>
              <a:tabLst>
                <a:tab pos="228600" algn="l"/>
              </a:tabLst>
              <a:defRPr/>
            </a:pPr>
            <a:r>
              <a:rPr kumimoji="0" lang="es-ES" sz="2400" b="1" i="0" u="none" strike="noStrike" kern="1200" cap="none" spc="0" normalizeH="0" baseline="0" noProof="0" dirty="0">
                <a:ln>
                  <a:noFill/>
                </a:ln>
                <a:solidFill>
                  <a:srgbClr val="000000"/>
                </a:solidFill>
                <a:effectLst/>
                <a:uLnTx/>
                <a:uFillTx/>
                <a:latin typeface="Arial" charset="0"/>
                <a:ea typeface="+mn-ea"/>
                <a:cs typeface="+mn-cs"/>
              </a:rPr>
              <a:t>Tiene Pocas Palabras…</a:t>
            </a:r>
          </a:p>
          <a:p>
            <a:pPr marL="342900" marR="0" lvl="0" indent="-342900" algn="just" defTabSz="914400" rtl="0" eaLnBrk="1" fontAlgn="base" latinLnBrk="0" hangingPunct="1">
              <a:lnSpc>
                <a:spcPct val="150000"/>
              </a:lnSpc>
              <a:spcBef>
                <a:spcPct val="0"/>
              </a:spcBef>
              <a:spcAft>
                <a:spcPct val="0"/>
              </a:spcAft>
              <a:buClrTx/>
              <a:buSzTx/>
              <a:buFontTx/>
              <a:buAutoNum type="arabicPeriod"/>
              <a:tabLst>
                <a:tab pos="228600" algn="l"/>
              </a:tabLst>
              <a:defRPr/>
            </a:pPr>
            <a:r>
              <a:rPr kumimoji="0" lang="es-ES" sz="2400" b="1" i="0" u="none" strike="noStrike" kern="1200" cap="none" spc="0" normalizeH="0" baseline="0" noProof="0" dirty="0">
                <a:ln>
                  <a:noFill/>
                </a:ln>
                <a:solidFill>
                  <a:srgbClr val="000000"/>
                </a:solidFill>
                <a:effectLst/>
                <a:uLnTx/>
                <a:uFillTx/>
                <a:latin typeface="Arial" charset="0"/>
                <a:ea typeface="+mn-ea"/>
                <a:cs typeface="+mn-cs"/>
              </a:rPr>
              <a:t>Modular…</a:t>
            </a:r>
          </a:p>
          <a:p>
            <a:pPr marL="342900" marR="0" lvl="0" indent="-342900" algn="just" defTabSz="914400" rtl="0" eaLnBrk="1" fontAlgn="base" latinLnBrk="0" hangingPunct="1">
              <a:lnSpc>
                <a:spcPct val="150000"/>
              </a:lnSpc>
              <a:spcBef>
                <a:spcPct val="0"/>
              </a:spcBef>
              <a:spcAft>
                <a:spcPct val="0"/>
              </a:spcAft>
              <a:buClrTx/>
              <a:buSzTx/>
              <a:buFontTx/>
              <a:buAutoNum type="arabicPeriod"/>
              <a:tabLst>
                <a:tab pos="228600" algn="l"/>
              </a:tabLst>
              <a:defRPr/>
            </a:pPr>
            <a:r>
              <a:rPr kumimoji="0" lang="es-ES" sz="2400" b="1" i="0" u="none" strike="noStrike" kern="1200" cap="none" spc="0" normalizeH="0" baseline="0" noProof="0" dirty="0">
                <a:ln>
                  <a:noFill/>
                </a:ln>
                <a:solidFill>
                  <a:srgbClr val="000000"/>
                </a:solidFill>
                <a:effectLst/>
                <a:uLnTx/>
                <a:uFillTx/>
                <a:latin typeface="Arial" charset="0"/>
                <a:ea typeface="+mn-ea"/>
                <a:cs typeface="+mn-cs"/>
              </a:rPr>
              <a:t>Uno de los más extendidos…</a:t>
            </a:r>
          </a:p>
          <a:p>
            <a:pPr marL="342900" marR="0" lvl="0" indent="-342900" algn="just" defTabSz="914400" rtl="0" eaLnBrk="1" fontAlgn="base" latinLnBrk="0" hangingPunct="1">
              <a:lnSpc>
                <a:spcPct val="150000"/>
              </a:lnSpc>
              <a:spcBef>
                <a:spcPct val="0"/>
              </a:spcBef>
              <a:spcAft>
                <a:spcPct val="0"/>
              </a:spcAft>
              <a:buClrTx/>
              <a:buSzTx/>
              <a:buFontTx/>
              <a:buAutoNum type="arabicPeriod"/>
              <a:tabLst>
                <a:tab pos="228600" algn="l"/>
              </a:tabLst>
              <a:defRPr/>
            </a:pPr>
            <a:r>
              <a:rPr kumimoji="0" lang="es-ES" sz="2400" b="1" i="0" u="none" strike="noStrike" kern="1200" cap="none" spc="0" normalizeH="0" baseline="0" noProof="0" dirty="0">
                <a:ln>
                  <a:noFill/>
                </a:ln>
                <a:solidFill>
                  <a:srgbClr val="000000"/>
                </a:solidFill>
                <a:effectLst/>
                <a:uLnTx/>
                <a:uFillTx/>
                <a:latin typeface="Arial" charset="0"/>
                <a:ea typeface="+mn-ea"/>
                <a:cs typeface="+mn-cs"/>
              </a:rPr>
              <a:t>De propósito general…</a:t>
            </a:r>
          </a:p>
        </p:txBody>
      </p:sp>
      <p:sp>
        <p:nvSpPr>
          <p:cNvPr id="3" name="Rectangle 4">
            <a:extLst>
              <a:ext uri="{FF2B5EF4-FFF2-40B4-BE49-F238E27FC236}">
                <a16:creationId xmlns:a16="http://schemas.microsoft.com/office/drawing/2014/main" id="{E9833EC9-C919-4623-BE20-D2227ABE5050}"/>
              </a:ext>
            </a:extLst>
          </p:cNvPr>
          <p:cNvSpPr>
            <a:spLocks noChangeArrowheads="1"/>
          </p:cNvSpPr>
          <p:nvPr/>
        </p:nvSpPr>
        <p:spPr bwMode="auto">
          <a:xfrm>
            <a:off x="766762" y="821308"/>
            <a:ext cx="5329238" cy="488950"/>
          </a:xfrm>
          <a:prstGeom prst="rect">
            <a:avLst/>
          </a:prstGeom>
          <a:noFill/>
          <a:ln w="9525">
            <a:noFill/>
            <a:miter lim="800000"/>
            <a:headEnd/>
            <a:tailE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ES" sz="2600" b="1" i="0" u="none" strike="noStrike" kern="1200" cap="none" spc="0" normalizeH="0" baseline="0" noProof="0" dirty="0">
                <a:ln>
                  <a:noFill/>
                </a:ln>
                <a:solidFill>
                  <a:srgbClr val="0099A8"/>
                </a:solidFill>
                <a:effectLst/>
                <a:uLnTx/>
                <a:uFillTx/>
                <a:latin typeface="Arial" charset="0"/>
                <a:ea typeface="+mn-ea"/>
                <a:cs typeface="+mn-cs"/>
              </a:rPr>
              <a:t>¿Porqué el Lenguaje C/C++?</a:t>
            </a:r>
          </a:p>
        </p:txBody>
      </p:sp>
    </p:spTree>
    <p:extLst>
      <p:ext uri="{BB962C8B-B14F-4D97-AF65-F5344CB8AC3E}">
        <p14:creationId xmlns:p14="http://schemas.microsoft.com/office/powerpoint/2010/main" val="16911803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B8B2E4B8-5A63-4638-9256-31B03B207A2A}"/>
              </a:ext>
            </a:extLst>
          </p:cNvPr>
          <p:cNvSpPr>
            <a:spLocks noChangeArrowheads="1"/>
          </p:cNvSpPr>
          <p:nvPr/>
        </p:nvSpPr>
        <p:spPr bwMode="auto">
          <a:xfrm>
            <a:off x="435882" y="426584"/>
            <a:ext cx="5329238" cy="488950"/>
          </a:xfrm>
          <a:prstGeom prst="rect">
            <a:avLst/>
          </a:prstGeom>
          <a:noFill/>
          <a:ln w="9525">
            <a:noFill/>
            <a:miter lim="800000"/>
            <a:headEnd/>
            <a:tailE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ES" sz="2600" b="1" i="0" u="none" strike="noStrike" kern="1200" cap="none" spc="0" normalizeH="0" baseline="0" noProof="0" dirty="0">
                <a:ln>
                  <a:noFill/>
                </a:ln>
                <a:solidFill>
                  <a:srgbClr val="0099A8"/>
                </a:solidFill>
                <a:effectLst/>
                <a:uLnTx/>
                <a:uFillTx/>
                <a:latin typeface="Arial" charset="0"/>
                <a:ea typeface="+mn-ea"/>
                <a:cs typeface="+mn-cs"/>
              </a:rPr>
              <a:t>Transición de C a C++</a:t>
            </a:r>
          </a:p>
        </p:txBody>
      </p:sp>
      <p:sp>
        <p:nvSpPr>
          <p:cNvPr id="3" name="Rectangle 9">
            <a:extLst>
              <a:ext uri="{FF2B5EF4-FFF2-40B4-BE49-F238E27FC236}">
                <a16:creationId xmlns:a16="http://schemas.microsoft.com/office/drawing/2014/main" id="{7308CCDF-5D4A-4D8E-B6B4-CE6DFC82E164}"/>
              </a:ext>
            </a:extLst>
          </p:cNvPr>
          <p:cNvSpPr>
            <a:spLocks noChangeArrowheads="1"/>
          </p:cNvSpPr>
          <p:nvPr/>
        </p:nvSpPr>
        <p:spPr bwMode="auto">
          <a:xfrm>
            <a:off x="435882" y="1097592"/>
            <a:ext cx="9517969" cy="4662815"/>
          </a:xfrm>
          <a:prstGeom prst="rect">
            <a:avLst/>
          </a:prstGeom>
          <a:noFill/>
          <a:ln w="9525">
            <a:noFill/>
            <a:miter lim="800000"/>
            <a:headEnd/>
            <a:tailEnd/>
          </a:ln>
          <a:effectLst/>
        </p:spPr>
        <p:txBody>
          <a:bodyPr wrap="square" lIns="228528" bIns="0"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tab pos="431800" algn="l"/>
              </a:tabLst>
              <a:defRPr/>
            </a:pPr>
            <a:r>
              <a:rPr kumimoji="0" lang="es-ES" sz="2000" b="0" i="0" u="none" strike="noStrike" kern="1200" cap="none" spc="0" normalizeH="0" baseline="0" noProof="0" dirty="0">
                <a:ln>
                  <a:noFill/>
                </a:ln>
                <a:solidFill>
                  <a:srgbClr val="000000"/>
                </a:solidFill>
                <a:effectLst/>
                <a:uLnTx/>
                <a:uFillTx/>
                <a:latin typeface="Arial" charset="0"/>
                <a:ea typeface="+mn-ea"/>
                <a:cs typeface="+mn-cs"/>
              </a:rPr>
              <a:t>1967..................	</a:t>
            </a:r>
            <a:r>
              <a:rPr kumimoji="0" lang="es-ES" sz="2000" b="1" i="0" u="none" strike="noStrike" kern="1200" cap="none" spc="0" normalizeH="0" baseline="0" noProof="0" dirty="0">
                <a:ln>
                  <a:noFill/>
                </a:ln>
                <a:solidFill>
                  <a:srgbClr val="000000"/>
                </a:solidFill>
                <a:effectLst/>
                <a:uLnTx/>
                <a:uFillTx/>
                <a:latin typeface="Arial" charset="0"/>
                <a:ea typeface="+mn-ea"/>
                <a:cs typeface="+mn-cs"/>
              </a:rPr>
              <a:t>Martín Richard</a:t>
            </a:r>
            <a:endParaRPr kumimoji="0" lang="es-MX" sz="2000" b="1" i="0" u="none" strike="noStrike" kern="1200" cap="none" spc="0" normalizeH="0" baseline="0" noProof="0" dirty="0">
              <a:ln>
                <a:noFill/>
              </a:ln>
              <a:solidFill>
                <a:srgbClr val="000000"/>
              </a:solidFill>
              <a:effectLst/>
              <a:uLnTx/>
              <a:uFillTx/>
              <a:latin typeface="Arial" charset="0"/>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tab pos="431800" algn="l"/>
              </a:tabLst>
              <a:defRPr/>
            </a:pPr>
            <a:r>
              <a:rPr kumimoji="0" lang="es-ES" sz="2000" b="0" i="0" u="none" strike="noStrike" kern="1200" cap="none" spc="0" normalizeH="0" baseline="0" noProof="0" dirty="0">
                <a:ln>
                  <a:noFill/>
                </a:ln>
                <a:solidFill>
                  <a:srgbClr val="000000"/>
                </a:solidFill>
                <a:effectLst/>
                <a:uLnTx/>
                <a:uFillTx/>
                <a:latin typeface="Arial" charset="0"/>
                <a:ea typeface="+mn-ea"/>
                <a:cs typeface="+mn-cs"/>
              </a:rPr>
              <a:t>			</a:t>
            </a:r>
            <a:r>
              <a:rPr kumimoji="0" lang="es-ES" sz="2000" b="1" i="1" u="none" strike="noStrike" kern="1200" cap="none" spc="0" normalizeH="0" baseline="0" noProof="0" dirty="0">
                <a:ln>
                  <a:noFill/>
                </a:ln>
                <a:solidFill>
                  <a:srgbClr val="000000"/>
                </a:solidFill>
                <a:effectLst/>
                <a:uLnTx/>
                <a:uFillTx/>
                <a:latin typeface="Arial" charset="0"/>
                <a:ea typeface="+mn-ea"/>
                <a:cs typeface="+mn-cs"/>
              </a:rPr>
              <a:t>Lenguaje BCPL 									(Prototipo A)</a:t>
            </a:r>
            <a:endParaRPr kumimoji="0" lang="es-MX" sz="2000" b="1" i="1" u="none" strike="noStrike" kern="1200" cap="none" spc="0" normalizeH="0" baseline="0" noProof="0" dirty="0">
              <a:ln>
                <a:noFill/>
              </a:ln>
              <a:solidFill>
                <a:srgbClr val="000000"/>
              </a:solidFill>
              <a:effectLst/>
              <a:uLnTx/>
              <a:uFillTx/>
              <a:latin typeface="Arial" charset="0"/>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tab pos="431800" algn="l"/>
              </a:tabLst>
              <a:defRPr/>
            </a:pPr>
            <a:endParaRPr kumimoji="0" lang="es-ES" sz="2000" b="0" i="0" u="none" strike="noStrike" kern="1200" cap="none" spc="0" normalizeH="0" baseline="0" noProof="0" dirty="0">
              <a:ln>
                <a:noFill/>
              </a:ln>
              <a:solidFill>
                <a:srgbClr val="000000"/>
              </a:solidFill>
              <a:effectLst/>
              <a:uLnTx/>
              <a:uFillTx/>
              <a:latin typeface="Arial" charset="0"/>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tab pos="431800" algn="l"/>
              </a:tabLst>
              <a:defRPr/>
            </a:pPr>
            <a:r>
              <a:rPr kumimoji="0" lang="es-ES" sz="2000" b="0" i="0" u="none" strike="noStrike" kern="1200" cap="none" spc="0" normalizeH="0" baseline="0" noProof="0" dirty="0">
                <a:ln>
                  <a:noFill/>
                </a:ln>
                <a:solidFill>
                  <a:srgbClr val="000000"/>
                </a:solidFill>
                <a:effectLst/>
                <a:uLnTx/>
                <a:uFillTx/>
                <a:latin typeface="Arial" charset="0"/>
                <a:ea typeface="+mn-ea"/>
                <a:cs typeface="+mn-cs"/>
              </a:rPr>
              <a:t>1970……………</a:t>
            </a:r>
            <a:r>
              <a:rPr kumimoji="0" lang="es-ES" sz="2000" b="1" i="0" u="none" strike="noStrike" kern="1200" cap="none" spc="0" normalizeH="0" baseline="0" noProof="0" dirty="0">
                <a:ln>
                  <a:noFill/>
                </a:ln>
                <a:solidFill>
                  <a:srgbClr val="000000"/>
                </a:solidFill>
                <a:effectLst/>
                <a:uLnTx/>
                <a:uFillTx/>
                <a:latin typeface="Arial" charset="0"/>
                <a:ea typeface="+mn-ea"/>
                <a:cs typeface="+mn-cs"/>
              </a:rPr>
              <a:t>Ken Thompson</a:t>
            </a:r>
            <a:endParaRPr kumimoji="0" lang="es-MX" sz="2000" b="1" i="0" u="none" strike="noStrike" kern="1200" cap="none" spc="0" normalizeH="0" baseline="0" noProof="0" dirty="0">
              <a:ln>
                <a:noFill/>
              </a:ln>
              <a:solidFill>
                <a:srgbClr val="000000"/>
              </a:solidFill>
              <a:effectLst/>
              <a:uLnTx/>
              <a:uFillTx/>
              <a:latin typeface="Arial" charset="0"/>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tab pos="431800" algn="l"/>
              </a:tabLst>
              <a:defRPr/>
            </a:pPr>
            <a:r>
              <a:rPr kumimoji="0" lang="es-ES" sz="2000" b="0" i="0" u="none" strike="noStrike" kern="1200" cap="none" spc="0" normalizeH="0" baseline="0" noProof="0" dirty="0">
                <a:ln>
                  <a:noFill/>
                </a:ln>
                <a:solidFill>
                  <a:srgbClr val="000000"/>
                </a:solidFill>
                <a:effectLst/>
                <a:uLnTx/>
                <a:uFillTx/>
                <a:latin typeface="Arial" charset="0"/>
                <a:ea typeface="+mn-ea"/>
                <a:cs typeface="+mn-cs"/>
              </a:rPr>
              <a:t>			</a:t>
            </a:r>
            <a:r>
              <a:rPr kumimoji="0" lang="es-ES" sz="2000" b="1" i="1" u="none" strike="noStrike" kern="1200" cap="none" spc="0" normalizeH="0" baseline="0" noProof="0" dirty="0">
                <a:ln>
                  <a:noFill/>
                </a:ln>
                <a:solidFill>
                  <a:srgbClr val="000000"/>
                </a:solidFill>
                <a:effectLst/>
                <a:uLnTx/>
                <a:uFillTx/>
                <a:latin typeface="Arial" charset="0"/>
                <a:ea typeface="+mn-ea"/>
                <a:cs typeface="+mn-cs"/>
              </a:rPr>
              <a:t>Prototipo B</a:t>
            </a:r>
            <a:endParaRPr kumimoji="0" lang="es-MX" sz="2000" b="1" i="1" u="none" strike="noStrike" kern="1200" cap="none" spc="0" normalizeH="0" baseline="0" noProof="0" dirty="0">
              <a:ln>
                <a:noFill/>
              </a:ln>
              <a:solidFill>
                <a:srgbClr val="000000"/>
              </a:solidFill>
              <a:effectLst/>
              <a:uLnTx/>
              <a:uFillTx/>
              <a:latin typeface="Arial" charset="0"/>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tab pos="431800" algn="l"/>
              </a:tabLst>
              <a:defRPr/>
            </a:pPr>
            <a:r>
              <a:rPr kumimoji="0" lang="es-ES" sz="2000" b="0" i="0" u="none" strike="noStrike" kern="1200" cap="none" spc="0" normalizeH="0" baseline="0" noProof="0" dirty="0">
                <a:ln>
                  <a:noFill/>
                </a:ln>
                <a:solidFill>
                  <a:srgbClr val="000000"/>
                </a:solidFill>
                <a:effectLst/>
                <a:uLnTx/>
                <a:uFillTx/>
                <a:latin typeface="Arial" charset="0"/>
                <a:ea typeface="+mn-ea"/>
                <a:cs typeface="+mn-cs"/>
              </a:rPr>
              <a:t>			Recodificación del S.O. UNIX</a:t>
            </a:r>
          </a:p>
          <a:p>
            <a:pPr marL="0" marR="0" lvl="0" indent="0" algn="l" defTabSz="914400" rtl="0" eaLnBrk="1" fontAlgn="base" latinLnBrk="0" hangingPunct="1">
              <a:lnSpc>
                <a:spcPct val="100000"/>
              </a:lnSpc>
              <a:spcBef>
                <a:spcPct val="0"/>
              </a:spcBef>
              <a:spcAft>
                <a:spcPct val="0"/>
              </a:spcAft>
              <a:buClrTx/>
              <a:buSzTx/>
              <a:buFontTx/>
              <a:buNone/>
              <a:tabLst>
                <a:tab pos="431800" algn="l"/>
              </a:tabLst>
              <a:defRPr/>
            </a:pPr>
            <a:endParaRPr kumimoji="0" lang="es-MX" sz="2000" b="0" i="0" u="none" strike="noStrike" kern="1200" cap="none" spc="0" normalizeH="0" baseline="0" noProof="0" dirty="0">
              <a:ln>
                <a:noFill/>
              </a:ln>
              <a:solidFill>
                <a:srgbClr val="000000"/>
              </a:solidFill>
              <a:effectLst/>
              <a:uLnTx/>
              <a:uFillTx/>
              <a:latin typeface="Arial" charset="0"/>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tab pos="431800" algn="l"/>
              </a:tabLst>
              <a:defRPr/>
            </a:pPr>
            <a:r>
              <a:rPr kumimoji="0" lang="en-US" sz="2000" b="0" i="0" u="none" strike="noStrike" kern="1200" cap="none" spc="0" normalizeH="0" baseline="0" noProof="0" dirty="0">
                <a:ln>
                  <a:noFill/>
                </a:ln>
                <a:solidFill>
                  <a:srgbClr val="000000"/>
                </a:solidFill>
                <a:effectLst/>
                <a:uLnTx/>
                <a:uFillTx/>
                <a:latin typeface="Arial" charset="0"/>
                <a:ea typeface="+mn-ea"/>
                <a:cs typeface="+mn-cs"/>
              </a:rPr>
              <a:t>1972..................	</a:t>
            </a:r>
            <a:r>
              <a:rPr kumimoji="0" lang="en-US" sz="2000" b="1" i="0" u="none" strike="noStrike" kern="1200" cap="none" spc="0" normalizeH="0" baseline="0" noProof="0" dirty="0">
                <a:ln>
                  <a:noFill/>
                </a:ln>
                <a:solidFill>
                  <a:srgbClr val="000000"/>
                </a:solidFill>
                <a:effectLst/>
                <a:uLnTx/>
                <a:uFillTx/>
                <a:latin typeface="Arial" charset="0"/>
                <a:ea typeface="+mn-ea"/>
                <a:cs typeface="+mn-cs"/>
              </a:rPr>
              <a:t>Dennis Ritchie</a:t>
            </a:r>
            <a:endParaRPr kumimoji="0" lang="es-MX" sz="2000" b="1" i="0" u="none" strike="noStrike" kern="1200" cap="none" spc="0" normalizeH="0" baseline="0" noProof="0" dirty="0">
              <a:ln>
                <a:noFill/>
              </a:ln>
              <a:solidFill>
                <a:srgbClr val="000000"/>
              </a:solidFill>
              <a:effectLst/>
              <a:uLnTx/>
              <a:uFillTx/>
              <a:latin typeface="Arial" charset="0"/>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tab pos="431800" algn="l"/>
              </a:tabLst>
              <a:defRPr/>
            </a:pPr>
            <a:r>
              <a:rPr kumimoji="0" lang="en-US" sz="2000" b="0" i="0" u="none" strike="noStrike" kern="1200" cap="none" spc="0" normalizeH="0" baseline="0" noProof="0" dirty="0">
                <a:ln>
                  <a:noFill/>
                </a:ln>
                <a:solidFill>
                  <a:srgbClr val="000000"/>
                </a:solidFill>
                <a:effectLst/>
                <a:uLnTx/>
                <a:uFillTx/>
                <a:latin typeface="Arial" charset="0"/>
                <a:ea typeface="+mn-ea"/>
                <a:cs typeface="+mn-cs"/>
              </a:rPr>
              <a:t>			</a:t>
            </a:r>
            <a:r>
              <a:rPr kumimoji="0" lang="en-US" sz="2000" b="1" i="1" u="none" strike="noStrike" kern="1200" cap="none" spc="0" normalizeH="0" baseline="0" noProof="0" dirty="0" err="1">
                <a:ln>
                  <a:noFill/>
                </a:ln>
                <a:solidFill>
                  <a:srgbClr val="FF0000"/>
                </a:solidFill>
                <a:effectLst/>
                <a:uLnTx/>
                <a:uFillTx/>
                <a:latin typeface="Arial" charset="0"/>
                <a:ea typeface="+mn-ea"/>
                <a:cs typeface="+mn-cs"/>
              </a:rPr>
              <a:t>Lenguaje</a:t>
            </a:r>
            <a:r>
              <a:rPr kumimoji="0" lang="en-US" sz="2000" b="1" i="1" u="none" strike="noStrike" kern="1200" cap="none" spc="0" normalizeH="0" baseline="0" noProof="0" dirty="0">
                <a:ln>
                  <a:noFill/>
                </a:ln>
                <a:solidFill>
                  <a:srgbClr val="FF0000"/>
                </a:solidFill>
                <a:effectLst/>
                <a:uLnTx/>
                <a:uFillTx/>
                <a:latin typeface="Arial" charset="0"/>
                <a:ea typeface="+mn-ea"/>
                <a:cs typeface="+mn-cs"/>
              </a:rPr>
              <a:t> C</a:t>
            </a:r>
            <a:endParaRPr kumimoji="0" lang="es-MX" sz="2000" b="1" i="1" u="none" strike="noStrike" kern="1200" cap="none" spc="0" normalizeH="0" baseline="0" noProof="0" dirty="0">
              <a:ln>
                <a:noFill/>
              </a:ln>
              <a:solidFill>
                <a:srgbClr val="FF0000"/>
              </a:solidFill>
              <a:effectLst/>
              <a:uLnTx/>
              <a:uFillTx/>
              <a:latin typeface="Arial" charset="0"/>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tab pos="431800" algn="l"/>
              </a:tabLst>
              <a:defRPr/>
            </a:pPr>
            <a:r>
              <a:rPr kumimoji="0" lang="en-US" sz="2000" b="0" i="0" u="none" strike="noStrike" kern="1200" cap="none" spc="0" normalizeH="0" baseline="0" noProof="0" dirty="0">
                <a:ln>
                  <a:noFill/>
                </a:ln>
                <a:solidFill>
                  <a:srgbClr val="000000"/>
                </a:solidFill>
                <a:effectLst/>
                <a:uLnTx/>
                <a:uFillTx/>
                <a:latin typeface="Arial" charset="0"/>
                <a:ea typeface="+mn-ea"/>
                <a:cs typeface="+mn-cs"/>
              </a:rPr>
              <a:t>			</a:t>
            </a:r>
            <a:r>
              <a:rPr kumimoji="0" lang="en-US" sz="2000" b="0" i="0" u="none" strike="noStrike" kern="1200" cap="none" spc="0" normalizeH="0" baseline="0" noProof="0" dirty="0" err="1">
                <a:ln>
                  <a:noFill/>
                </a:ln>
                <a:solidFill>
                  <a:srgbClr val="000000"/>
                </a:solidFill>
                <a:effectLst/>
                <a:uLnTx/>
                <a:uFillTx/>
                <a:latin typeface="Arial" charset="0"/>
                <a:ea typeface="+mn-ea"/>
                <a:cs typeface="+mn-cs"/>
              </a:rPr>
              <a:t>Laboratorios</a:t>
            </a:r>
            <a:r>
              <a:rPr kumimoji="0" lang="en-US" sz="2000" b="0" i="0" u="none" strike="noStrike" kern="1200" cap="none" spc="0" normalizeH="0" baseline="0" noProof="0" dirty="0">
                <a:ln>
                  <a:noFill/>
                </a:ln>
                <a:solidFill>
                  <a:srgbClr val="000000"/>
                </a:solidFill>
                <a:effectLst/>
                <a:uLnTx/>
                <a:uFillTx/>
                <a:latin typeface="Arial" charset="0"/>
                <a:ea typeface="+mn-ea"/>
                <a:cs typeface="+mn-cs"/>
              </a:rPr>
              <a:t> Bell Telephone</a:t>
            </a:r>
            <a:endParaRPr kumimoji="0" lang="es-MX" sz="2000" b="0" i="0" u="none" strike="noStrike" kern="1200" cap="none" spc="0" normalizeH="0" baseline="0" noProof="0" dirty="0">
              <a:ln>
                <a:noFill/>
              </a:ln>
              <a:solidFill>
                <a:srgbClr val="000000"/>
              </a:solidFill>
              <a:effectLst/>
              <a:uLnTx/>
              <a:uFillTx/>
              <a:latin typeface="Arial" charset="0"/>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tab pos="431800" algn="l"/>
              </a:tabLst>
              <a:defRPr/>
            </a:pPr>
            <a:endParaRPr kumimoji="0" lang="en-US" sz="2000" b="0" i="0" u="none" strike="noStrike" kern="1200" cap="none" spc="0" normalizeH="0" baseline="0" noProof="0" dirty="0">
              <a:ln>
                <a:noFill/>
              </a:ln>
              <a:solidFill>
                <a:srgbClr val="000000"/>
              </a:solidFill>
              <a:effectLst/>
              <a:uLnTx/>
              <a:uFillTx/>
              <a:latin typeface="Arial" charset="0"/>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tab pos="431800" algn="l"/>
              </a:tabLst>
              <a:defRPr/>
            </a:pPr>
            <a:r>
              <a:rPr kumimoji="0" lang="en-US" sz="2000" b="0" i="0" u="none" strike="noStrike" kern="1200" cap="none" spc="0" normalizeH="0" baseline="0" noProof="0" dirty="0">
                <a:ln>
                  <a:noFill/>
                </a:ln>
                <a:solidFill>
                  <a:srgbClr val="000000"/>
                </a:solidFill>
                <a:effectLst/>
                <a:uLnTx/>
                <a:uFillTx/>
                <a:latin typeface="Arial" charset="0"/>
                <a:ea typeface="+mn-ea"/>
                <a:cs typeface="+mn-cs"/>
              </a:rPr>
              <a:t>1980’s...............</a:t>
            </a:r>
            <a:r>
              <a:rPr kumimoji="0" lang="en-US" sz="2000" b="1" i="0" u="none" strike="noStrike" kern="1200" cap="none" spc="0" normalizeH="0" baseline="0" noProof="0" dirty="0">
                <a:ln>
                  <a:noFill/>
                </a:ln>
                <a:solidFill>
                  <a:srgbClr val="000000"/>
                </a:solidFill>
                <a:effectLst/>
                <a:uLnTx/>
                <a:uFillTx/>
                <a:latin typeface="Arial" charset="0"/>
                <a:ea typeface="+mn-ea"/>
                <a:cs typeface="+mn-cs"/>
              </a:rPr>
              <a:t>	</a:t>
            </a:r>
            <a:r>
              <a:rPr kumimoji="0" lang="en-US" sz="2000" b="1" i="0" u="none" strike="noStrike" kern="1200" cap="none" spc="0" normalizeH="0" baseline="0" noProof="0" dirty="0" err="1">
                <a:ln>
                  <a:noFill/>
                </a:ln>
                <a:solidFill>
                  <a:srgbClr val="000000"/>
                </a:solidFill>
                <a:effectLst/>
                <a:uLnTx/>
                <a:uFillTx/>
                <a:latin typeface="Arial" charset="0"/>
                <a:ea typeface="+mn-ea"/>
                <a:cs typeface="+mn-cs"/>
              </a:rPr>
              <a:t>Bjarne</a:t>
            </a:r>
            <a:r>
              <a:rPr kumimoji="0" lang="en-US" sz="2000" b="1" i="0" u="none" strike="noStrike" kern="1200" cap="none" spc="0" normalizeH="0" baseline="0" noProof="0" dirty="0">
                <a:ln>
                  <a:noFill/>
                </a:ln>
                <a:solidFill>
                  <a:srgbClr val="000000"/>
                </a:solidFill>
                <a:effectLst/>
                <a:uLnTx/>
                <a:uFillTx/>
                <a:latin typeface="Arial" charset="0"/>
                <a:ea typeface="+mn-ea"/>
                <a:cs typeface="+mn-cs"/>
              </a:rPr>
              <a:t> </a:t>
            </a:r>
            <a:r>
              <a:rPr kumimoji="0" lang="en-US" sz="2000" b="1" i="0" u="none" strike="noStrike" kern="1200" cap="none" spc="0" normalizeH="0" baseline="0" noProof="0" dirty="0" err="1">
                <a:ln>
                  <a:noFill/>
                </a:ln>
                <a:solidFill>
                  <a:srgbClr val="000000"/>
                </a:solidFill>
                <a:effectLst/>
                <a:uLnTx/>
                <a:uFillTx/>
                <a:latin typeface="Arial" charset="0"/>
                <a:ea typeface="+mn-ea"/>
                <a:cs typeface="+mn-cs"/>
              </a:rPr>
              <a:t>Stroustrup</a:t>
            </a:r>
            <a:endParaRPr kumimoji="0" lang="es-ES" sz="2000" b="1" i="0" u="none" strike="noStrike" kern="1200" cap="none" spc="0" normalizeH="0" baseline="0" noProof="0" dirty="0">
              <a:ln>
                <a:noFill/>
              </a:ln>
              <a:solidFill>
                <a:srgbClr val="000000"/>
              </a:solidFill>
              <a:effectLst/>
              <a:uLnTx/>
              <a:uFillTx/>
              <a:latin typeface="Arial" charset="0"/>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tab pos="431800" algn="l"/>
              </a:tabLst>
              <a:defRPr/>
            </a:pPr>
            <a:r>
              <a:rPr kumimoji="0" lang="en-US" sz="2000" b="0" i="0" u="none" strike="noStrike" kern="1200" cap="none" spc="0" normalizeH="0" baseline="0" noProof="0" dirty="0">
                <a:ln>
                  <a:noFill/>
                </a:ln>
                <a:solidFill>
                  <a:srgbClr val="000000"/>
                </a:solidFill>
                <a:effectLst/>
                <a:uLnTx/>
                <a:uFillTx/>
                <a:latin typeface="Arial" charset="0"/>
                <a:ea typeface="+mn-ea"/>
                <a:cs typeface="+mn-cs"/>
              </a:rPr>
              <a:t>			</a:t>
            </a:r>
            <a:r>
              <a:rPr kumimoji="0" lang="en-US" sz="2000" b="1" i="1" u="none" strike="noStrike" kern="1200" cap="none" spc="0" normalizeH="0" baseline="0" noProof="0" dirty="0" err="1">
                <a:ln>
                  <a:noFill/>
                </a:ln>
                <a:solidFill>
                  <a:srgbClr val="000000"/>
                </a:solidFill>
                <a:effectLst/>
                <a:uLnTx/>
                <a:uFillTx/>
                <a:latin typeface="Arial" charset="0"/>
                <a:ea typeface="+mn-ea"/>
                <a:cs typeface="+mn-cs"/>
              </a:rPr>
              <a:t>Lenguaje</a:t>
            </a:r>
            <a:r>
              <a:rPr kumimoji="0" lang="en-US" sz="2000" b="1" i="1" u="none" strike="noStrike" kern="1200" cap="none" spc="0" normalizeH="0" baseline="0" noProof="0" dirty="0">
                <a:ln>
                  <a:noFill/>
                </a:ln>
                <a:solidFill>
                  <a:srgbClr val="000000"/>
                </a:solidFill>
                <a:effectLst/>
                <a:uLnTx/>
                <a:uFillTx/>
                <a:latin typeface="Arial" charset="0"/>
                <a:ea typeface="+mn-ea"/>
                <a:cs typeface="+mn-cs"/>
              </a:rPr>
              <a:t> C++</a:t>
            </a:r>
            <a:endParaRPr kumimoji="0" lang="es-ES" sz="2000" b="1" i="1" u="none" strike="noStrike" kern="1200" cap="none" spc="0" normalizeH="0" baseline="0" noProof="0" dirty="0">
              <a:ln>
                <a:noFill/>
              </a:ln>
              <a:solidFill>
                <a:srgbClr val="000000"/>
              </a:solidFill>
              <a:effectLst/>
              <a:uLnTx/>
              <a:uFillTx/>
              <a:latin typeface="Arial" charset="0"/>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tab pos="431800" algn="l"/>
              </a:tabLst>
              <a:defRPr/>
            </a:pPr>
            <a:r>
              <a:rPr kumimoji="0" lang="en-US" sz="2000" b="0" i="0" u="none" strike="noStrike" kern="1200" cap="none" spc="0" normalizeH="0" baseline="0" noProof="0" dirty="0">
                <a:ln>
                  <a:noFill/>
                </a:ln>
                <a:solidFill>
                  <a:srgbClr val="000000"/>
                </a:solidFill>
                <a:effectLst/>
                <a:uLnTx/>
                <a:uFillTx/>
                <a:latin typeface="Arial" charset="0"/>
                <a:ea typeface="+mn-ea"/>
                <a:cs typeface="+mn-cs"/>
              </a:rPr>
              <a:t>			AT&amp;T</a:t>
            </a:r>
          </a:p>
        </p:txBody>
      </p:sp>
    </p:spTree>
    <p:extLst>
      <p:ext uri="{BB962C8B-B14F-4D97-AF65-F5344CB8AC3E}">
        <p14:creationId xmlns:p14="http://schemas.microsoft.com/office/powerpoint/2010/main" val="33420201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1ADF4DEE-BCA5-4F60-B7BC-A7E8D9DC6B6C}"/>
              </a:ext>
            </a:extLst>
          </p:cNvPr>
          <p:cNvSpPr>
            <a:spLocks noChangeArrowheads="1"/>
          </p:cNvSpPr>
          <p:nvPr/>
        </p:nvSpPr>
        <p:spPr bwMode="auto">
          <a:xfrm>
            <a:off x="550862" y="459241"/>
            <a:ext cx="5329238" cy="488950"/>
          </a:xfrm>
          <a:prstGeom prst="rect">
            <a:avLst/>
          </a:prstGeom>
          <a:noFill/>
          <a:ln w="9525">
            <a:noFill/>
            <a:miter lim="800000"/>
            <a:headEnd/>
            <a:tailE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ES" sz="2600" b="1" i="0" u="none" strike="noStrike" kern="1200" cap="none" spc="0" normalizeH="0" baseline="0" noProof="0" dirty="0">
                <a:ln>
                  <a:noFill/>
                </a:ln>
                <a:solidFill>
                  <a:srgbClr val="0099A8"/>
                </a:solidFill>
                <a:effectLst/>
                <a:uLnTx/>
                <a:uFillTx/>
                <a:latin typeface="Arial" charset="0"/>
                <a:ea typeface="+mn-ea"/>
                <a:cs typeface="+mn-cs"/>
              </a:rPr>
              <a:t>Ventajas del C/C++</a:t>
            </a:r>
          </a:p>
        </p:txBody>
      </p:sp>
      <p:sp>
        <p:nvSpPr>
          <p:cNvPr id="3" name="Rectangle 6">
            <a:extLst>
              <a:ext uri="{FF2B5EF4-FFF2-40B4-BE49-F238E27FC236}">
                <a16:creationId xmlns:a16="http://schemas.microsoft.com/office/drawing/2014/main" id="{E07C0F35-908D-4D88-9443-D0BB2DB15ED6}"/>
              </a:ext>
            </a:extLst>
          </p:cNvPr>
          <p:cNvSpPr>
            <a:spLocks noChangeArrowheads="1"/>
          </p:cNvSpPr>
          <p:nvPr/>
        </p:nvSpPr>
        <p:spPr bwMode="auto">
          <a:xfrm>
            <a:off x="356478" y="948191"/>
            <a:ext cx="8570471" cy="3855671"/>
          </a:xfrm>
          <a:prstGeom prst="rect">
            <a:avLst/>
          </a:prstGeom>
          <a:noFill/>
          <a:ln w="9525">
            <a:noFill/>
            <a:miter lim="800000"/>
            <a:headEnd/>
            <a:tailEnd/>
          </a:ln>
          <a:effectLst/>
        </p:spPr>
        <p:txBody>
          <a:bodyPr wrap="none" lIns="457056" bIns="0" anchor="ctr">
            <a:spAutoFit/>
          </a:bodyPr>
          <a:lstStyle/>
          <a:p>
            <a:pPr marL="342900" marR="0" lvl="0" indent="-342900" algn="l" defTabSz="914400" rtl="0" eaLnBrk="1" fontAlgn="base" latinLnBrk="0" hangingPunct="1">
              <a:lnSpc>
                <a:spcPct val="150000"/>
              </a:lnSpc>
              <a:spcBef>
                <a:spcPct val="0"/>
              </a:spcBef>
              <a:spcAft>
                <a:spcPct val="0"/>
              </a:spcAft>
              <a:buClrTx/>
              <a:buSzTx/>
              <a:buFont typeface="Wingdings" panose="05000000000000000000" pitchFamily="2" charset="2"/>
              <a:buChar char="q"/>
              <a:tabLst/>
              <a:defRPr/>
            </a:pPr>
            <a:r>
              <a:rPr kumimoji="0" lang="es-ES" sz="2400" b="0" i="0" u="none" strike="noStrike" kern="1200" cap="none" spc="0" normalizeH="0" baseline="0" noProof="0" dirty="0">
                <a:ln>
                  <a:noFill/>
                </a:ln>
                <a:solidFill>
                  <a:srgbClr val="000000"/>
                </a:solidFill>
                <a:effectLst/>
                <a:uLnTx/>
                <a:uFillTx/>
                <a:latin typeface="Arial" charset="0"/>
                <a:ea typeface="+mn-ea"/>
                <a:cs typeface="+mn-cs"/>
              </a:rPr>
              <a:t>Genera los programas más compactos y rápidos</a:t>
            </a:r>
          </a:p>
          <a:p>
            <a:pPr marL="342900" marR="0" lvl="0" indent="-342900" algn="l" defTabSz="914400" rtl="0" eaLnBrk="1" fontAlgn="base" latinLnBrk="0" hangingPunct="1">
              <a:lnSpc>
                <a:spcPct val="150000"/>
              </a:lnSpc>
              <a:spcBef>
                <a:spcPct val="0"/>
              </a:spcBef>
              <a:spcAft>
                <a:spcPct val="0"/>
              </a:spcAft>
              <a:buClrTx/>
              <a:buSzTx/>
              <a:buFont typeface="Wingdings" panose="05000000000000000000" pitchFamily="2" charset="2"/>
              <a:buChar char="q"/>
              <a:tabLst/>
              <a:defRPr/>
            </a:pPr>
            <a:r>
              <a:rPr kumimoji="0" lang="es-ES" sz="2400" b="0" i="0" u="none" strike="noStrike" kern="1200" cap="none" spc="0" normalizeH="0" baseline="0" noProof="0" dirty="0">
                <a:ln>
                  <a:noFill/>
                </a:ln>
                <a:solidFill>
                  <a:srgbClr val="000000"/>
                </a:solidFill>
                <a:effectLst/>
                <a:uLnTx/>
                <a:uFillTx/>
                <a:latin typeface="Arial" charset="0"/>
                <a:ea typeface="+mn-ea"/>
                <a:cs typeface="+mn-cs"/>
              </a:rPr>
              <a:t>El código es altamente transportable</a:t>
            </a:r>
          </a:p>
          <a:p>
            <a:pPr marL="342900" marR="0" lvl="0" indent="-342900" algn="l" defTabSz="914400" rtl="0" eaLnBrk="1" fontAlgn="base" latinLnBrk="0" hangingPunct="1">
              <a:lnSpc>
                <a:spcPct val="150000"/>
              </a:lnSpc>
              <a:spcBef>
                <a:spcPct val="0"/>
              </a:spcBef>
              <a:spcAft>
                <a:spcPct val="0"/>
              </a:spcAft>
              <a:buClrTx/>
              <a:buSzTx/>
              <a:buFont typeface="Wingdings" panose="05000000000000000000" pitchFamily="2" charset="2"/>
              <a:buChar char="q"/>
              <a:tabLst/>
              <a:defRPr/>
            </a:pPr>
            <a:r>
              <a:rPr kumimoji="0" lang="es-ES" sz="2400" b="0" i="0" u="none" strike="noStrike" kern="1200" cap="none" spc="0" normalizeH="0" baseline="0" noProof="0" dirty="0">
                <a:ln>
                  <a:noFill/>
                </a:ln>
                <a:solidFill>
                  <a:srgbClr val="000000"/>
                </a:solidFill>
                <a:effectLst/>
                <a:uLnTx/>
                <a:uFillTx/>
                <a:latin typeface="Arial" charset="0"/>
                <a:ea typeface="+mn-ea"/>
                <a:cs typeface="+mn-cs"/>
              </a:rPr>
              <a:t>Facilidad de aprendizaje</a:t>
            </a:r>
          </a:p>
          <a:p>
            <a:pPr marL="342900" marR="0" lvl="0" indent="-342900" algn="l" defTabSz="914400" rtl="0" eaLnBrk="1" fontAlgn="base" latinLnBrk="0" hangingPunct="1">
              <a:lnSpc>
                <a:spcPct val="150000"/>
              </a:lnSpc>
              <a:spcBef>
                <a:spcPct val="0"/>
              </a:spcBef>
              <a:spcAft>
                <a:spcPct val="0"/>
              </a:spcAft>
              <a:buClrTx/>
              <a:buSzTx/>
              <a:buFont typeface="Wingdings" panose="05000000000000000000" pitchFamily="2" charset="2"/>
              <a:buChar char="q"/>
              <a:tabLst/>
              <a:defRPr/>
            </a:pPr>
            <a:r>
              <a:rPr kumimoji="0" lang="es-ES" sz="2400" b="0" i="0" u="none" strike="noStrike" kern="1200" cap="none" spc="0" normalizeH="0" baseline="0" noProof="0" dirty="0">
                <a:ln>
                  <a:noFill/>
                </a:ln>
                <a:solidFill>
                  <a:srgbClr val="000000"/>
                </a:solidFill>
                <a:effectLst/>
                <a:uLnTx/>
                <a:uFillTx/>
                <a:latin typeface="Arial" charset="0"/>
                <a:ea typeface="+mn-ea"/>
                <a:cs typeface="+mn-cs"/>
              </a:rPr>
              <a:t>Su uso es de propósito general</a:t>
            </a:r>
          </a:p>
          <a:p>
            <a:pPr marL="342900" marR="0" lvl="0" indent="-342900" algn="l" defTabSz="914400" rtl="0" eaLnBrk="1" fontAlgn="base" latinLnBrk="0" hangingPunct="1">
              <a:lnSpc>
                <a:spcPct val="150000"/>
              </a:lnSpc>
              <a:spcBef>
                <a:spcPct val="0"/>
              </a:spcBef>
              <a:spcAft>
                <a:spcPct val="0"/>
              </a:spcAft>
              <a:buClrTx/>
              <a:buSzTx/>
              <a:buFont typeface="Wingdings" panose="05000000000000000000" pitchFamily="2" charset="2"/>
              <a:buChar char="q"/>
              <a:tabLst/>
              <a:defRPr/>
            </a:pPr>
            <a:r>
              <a:rPr kumimoji="0" lang="es-ES" sz="2400" b="0" i="0" u="none" strike="noStrike" kern="1200" cap="none" spc="0" normalizeH="0" baseline="0" noProof="0" dirty="0">
                <a:ln>
                  <a:noFill/>
                </a:ln>
                <a:solidFill>
                  <a:srgbClr val="000000"/>
                </a:solidFill>
                <a:effectLst/>
                <a:uLnTx/>
                <a:uFillTx/>
                <a:latin typeface="Arial" charset="0"/>
                <a:ea typeface="+mn-ea"/>
                <a:cs typeface="+mn-cs"/>
              </a:rPr>
              <a:t>Libertad en la escritura de programas</a:t>
            </a:r>
          </a:p>
          <a:p>
            <a:pPr marL="342900" marR="0" lvl="0" indent="-342900" algn="l" defTabSz="914400" rtl="0" eaLnBrk="1" fontAlgn="base" latinLnBrk="0" hangingPunct="1">
              <a:lnSpc>
                <a:spcPct val="150000"/>
              </a:lnSpc>
              <a:spcBef>
                <a:spcPct val="0"/>
              </a:spcBef>
              <a:spcAft>
                <a:spcPct val="0"/>
              </a:spcAft>
              <a:buClrTx/>
              <a:buSzTx/>
              <a:buFont typeface="Wingdings" panose="05000000000000000000" pitchFamily="2" charset="2"/>
              <a:buChar char="q"/>
              <a:tabLst/>
              <a:defRPr/>
            </a:pPr>
            <a:r>
              <a:rPr kumimoji="0" lang="es-ES" sz="2400" b="0" i="0" u="none" strike="noStrike" kern="1200" cap="none" spc="0" normalizeH="0" baseline="0" noProof="0" dirty="0">
                <a:ln>
                  <a:noFill/>
                </a:ln>
                <a:solidFill>
                  <a:srgbClr val="000000"/>
                </a:solidFill>
                <a:effectLst/>
                <a:uLnTx/>
                <a:uFillTx/>
                <a:latin typeface="Arial" charset="0"/>
                <a:ea typeface="+mn-ea"/>
                <a:cs typeface="+mn-cs"/>
              </a:rPr>
              <a:t>Implementa bastante bien la orientación a objetos (C++)</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defRPr/>
            </a:pPr>
            <a:endParaRPr kumimoji="0" lang="es-ES" sz="2400" b="0" i="0" u="none" strike="noStrike" kern="1200" cap="none" spc="0" normalizeH="0" baseline="0" noProof="0" dirty="0">
              <a:ln>
                <a:noFill/>
              </a:ln>
              <a:solidFill>
                <a:srgbClr val="000000"/>
              </a:solidFill>
              <a:effectLst/>
              <a:uLnTx/>
              <a:uFillTx/>
              <a:latin typeface="Arial" charset="0"/>
              <a:ea typeface="+mn-ea"/>
              <a:cs typeface="+mn-cs"/>
            </a:endParaRPr>
          </a:p>
        </p:txBody>
      </p:sp>
      <p:sp>
        <p:nvSpPr>
          <p:cNvPr id="4" name="Rectangle 7">
            <a:extLst>
              <a:ext uri="{FF2B5EF4-FFF2-40B4-BE49-F238E27FC236}">
                <a16:creationId xmlns:a16="http://schemas.microsoft.com/office/drawing/2014/main" id="{A1E605FA-F10E-4F2A-9810-1F4ABF8553D8}"/>
              </a:ext>
            </a:extLst>
          </p:cNvPr>
          <p:cNvSpPr>
            <a:spLocks noChangeArrowheads="1"/>
          </p:cNvSpPr>
          <p:nvPr/>
        </p:nvSpPr>
        <p:spPr bwMode="auto">
          <a:xfrm>
            <a:off x="1069068" y="4803862"/>
            <a:ext cx="10053864" cy="830997"/>
          </a:xfrm>
          <a:prstGeom prst="rect">
            <a:avLst/>
          </a:prstGeom>
          <a:noFill/>
          <a:ln w="9525">
            <a:solidFill>
              <a:schemeClr val="accent6">
                <a:lumMod val="75000"/>
              </a:schemeClr>
            </a:solidFill>
            <a:miter lim="800000"/>
            <a:headEnd/>
            <a:tailEnd/>
          </a:ln>
          <a:effectLst/>
        </p:spPr>
        <p:txBody>
          <a:bodyPr wrap="square" anchor="ctr">
            <a:spAutoFit/>
          </a:body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0" lang="es-ES" sz="2400" b="0" i="0" u="none" strike="noStrike" kern="1200" cap="none" spc="0" normalizeH="0" baseline="0" noProof="0" dirty="0">
                <a:ln>
                  <a:noFill/>
                </a:ln>
                <a:solidFill>
                  <a:srgbClr val="002060"/>
                </a:solidFill>
                <a:effectLst/>
                <a:uLnTx/>
                <a:uFillTx/>
                <a:latin typeface="Arial" charset="0"/>
                <a:ea typeface="+mn-ea"/>
                <a:cs typeface="+mn-cs"/>
              </a:rPr>
              <a:t>C++ fue desarrollado para añadirle al lenguaje C los conceptos de orientación a objetos. Utilizan casi las mismas palabras claves.</a:t>
            </a:r>
          </a:p>
        </p:txBody>
      </p:sp>
    </p:spTree>
    <p:extLst>
      <p:ext uri="{BB962C8B-B14F-4D97-AF65-F5344CB8AC3E}">
        <p14:creationId xmlns:p14="http://schemas.microsoft.com/office/powerpoint/2010/main" val="4828294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25FF110C-E3ED-4337-B027-6A60CC85ECB5}"/>
              </a:ext>
            </a:extLst>
          </p:cNvPr>
          <p:cNvSpPr>
            <a:spLocks noChangeArrowheads="1"/>
          </p:cNvSpPr>
          <p:nvPr/>
        </p:nvSpPr>
        <p:spPr bwMode="auto">
          <a:xfrm>
            <a:off x="449879" y="442135"/>
            <a:ext cx="6481763" cy="488950"/>
          </a:xfrm>
          <a:prstGeom prst="rect">
            <a:avLst/>
          </a:prstGeom>
          <a:noFill/>
          <a:ln w="9525">
            <a:noFill/>
            <a:miter lim="800000"/>
            <a:headEnd/>
            <a:tailEnd/>
          </a:ln>
          <a:effectLst/>
        </p:spPr>
        <p:txBody>
          <a:bodyPr anchor="ctr">
            <a:spAutoFit/>
          </a:bodyPr>
          <a:lstStyle/>
          <a:p>
            <a:pPr marL="0" marR="0" lvl="0" indent="0" defTabSz="914400" rtl="0" eaLnBrk="1" fontAlgn="base" latinLnBrk="0" hangingPunct="1">
              <a:lnSpc>
                <a:spcPct val="100000"/>
              </a:lnSpc>
              <a:spcBef>
                <a:spcPct val="0"/>
              </a:spcBef>
              <a:spcAft>
                <a:spcPct val="0"/>
              </a:spcAft>
              <a:buClrTx/>
              <a:buSzTx/>
              <a:buFontTx/>
              <a:buNone/>
              <a:tabLst/>
              <a:defRPr/>
            </a:pPr>
            <a:r>
              <a:rPr kumimoji="0" lang="es-ES" sz="2600" b="1" i="0" u="none" strike="noStrike" kern="1200" cap="none" spc="0" normalizeH="0" baseline="0" noProof="0">
                <a:ln>
                  <a:noFill/>
                </a:ln>
                <a:solidFill>
                  <a:srgbClr val="0099A8"/>
                </a:solidFill>
                <a:effectLst/>
                <a:uLnTx/>
                <a:uFillTx/>
                <a:latin typeface="Arial" charset="0"/>
                <a:ea typeface="+mn-ea"/>
                <a:cs typeface="+mn-cs"/>
              </a:rPr>
              <a:t>Características del lenguaje C/C++</a:t>
            </a:r>
          </a:p>
        </p:txBody>
      </p:sp>
      <p:sp>
        <p:nvSpPr>
          <p:cNvPr id="3" name="Rectangle 8">
            <a:extLst>
              <a:ext uri="{FF2B5EF4-FFF2-40B4-BE49-F238E27FC236}">
                <a16:creationId xmlns:a16="http://schemas.microsoft.com/office/drawing/2014/main" id="{9ED3361D-7F22-4799-A1F5-02E5AAB9A6A5}"/>
              </a:ext>
            </a:extLst>
          </p:cNvPr>
          <p:cNvSpPr>
            <a:spLocks noChangeArrowheads="1"/>
          </p:cNvSpPr>
          <p:nvPr/>
        </p:nvSpPr>
        <p:spPr bwMode="auto">
          <a:xfrm>
            <a:off x="617863" y="1075934"/>
            <a:ext cx="10600644" cy="5009833"/>
          </a:xfrm>
          <a:prstGeom prst="rect">
            <a:avLst/>
          </a:prstGeom>
          <a:noFill/>
          <a:ln w="9525">
            <a:noFill/>
            <a:miter lim="800000"/>
            <a:headEnd/>
            <a:tailEnd/>
          </a:ln>
          <a:effectLst/>
        </p:spPr>
        <p:txBody>
          <a:bodyPr wrap="square" anchor="ctr">
            <a:spAutoFit/>
          </a:bodyPr>
          <a:lstStyle/>
          <a:p>
            <a:pPr marL="342900" marR="0" lvl="0" indent="-342900" algn="just" defTabSz="914400" rtl="0" eaLnBrk="1" fontAlgn="base" latinLnBrk="0" hangingPunct="1">
              <a:lnSpc>
                <a:spcPct val="150000"/>
              </a:lnSpc>
              <a:spcBef>
                <a:spcPct val="0"/>
              </a:spcBef>
              <a:spcAft>
                <a:spcPct val="0"/>
              </a:spcAft>
              <a:buClrTx/>
              <a:buSzTx/>
              <a:buFont typeface="Wingdings" panose="05000000000000000000" pitchFamily="2" charset="2"/>
              <a:buChar char="q"/>
              <a:tabLst>
                <a:tab pos="1092200" algn="l"/>
              </a:tabLst>
              <a:defRPr/>
            </a:pPr>
            <a:r>
              <a:rPr kumimoji="0" lang="es-ES" sz="2400" b="0" i="0" u="none" strike="noStrike" kern="1200" cap="none" spc="0" normalizeH="0" baseline="0" noProof="0" dirty="0">
                <a:ln>
                  <a:noFill/>
                </a:ln>
                <a:solidFill>
                  <a:srgbClr val="000000"/>
                </a:solidFill>
                <a:effectLst/>
                <a:uLnTx/>
                <a:uFillTx/>
                <a:latin typeface="Arial" charset="0"/>
                <a:ea typeface="+mn-ea"/>
                <a:cs typeface="Times New Roman" charset="0"/>
              </a:rPr>
              <a:t>Lenguaje de propósito general.</a:t>
            </a:r>
            <a:endParaRPr kumimoji="0" lang="es-MX" sz="2400" b="0" i="0" u="none" strike="noStrike" kern="1200" cap="none" spc="0" normalizeH="0" baseline="0" noProof="0" dirty="0">
              <a:ln>
                <a:noFill/>
              </a:ln>
              <a:solidFill>
                <a:srgbClr val="000000"/>
              </a:solidFill>
              <a:effectLst/>
              <a:uLnTx/>
              <a:uFillTx/>
              <a:latin typeface="Arial" charset="0"/>
              <a:ea typeface="+mn-ea"/>
              <a:cs typeface="+mn-cs"/>
            </a:endParaRP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tab pos="1092200" algn="l"/>
              </a:tabLst>
              <a:defRPr/>
            </a:pPr>
            <a:r>
              <a:rPr kumimoji="0" lang="es-ES" sz="2400" b="0" i="0" u="none" strike="noStrike" kern="1200" cap="none" spc="0" normalizeH="0" baseline="0" noProof="0" dirty="0">
                <a:ln>
                  <a:noFill/>
                </a:ln>
                <a:solidFill>
                  <a:srgbClr val="000000"/>
                </a:solidFill>
                <a:effectLst/>
                <a:uLnTx/>
                <a:uFillTx/>
                <a:latin typeface="Arial" charset="0"/>
                <a:ea typeface="+mn-ea"/>
                <a:cs typeface="Times New Roman" charset="0"/>
              </a:rPr>
              <a:t>Programación Estructurada.</a:t>
            </a:r>
            <a:endParaRPr kumimoji="0" lang="es-MX" sz="2400" b="0" i="0" u="none" strike="noStrike" kern="1200" cap="none" spc="0" normalizeH="0" baseline="0" noProof="0" dirty="0">
              <a:ln>
                <a:noFill/>
              </a:ln>
              <a:solidFill>
                <a:srgbClr val="000000"/>
              </a:solidFill>
              <a:effectLst/>
              <a:uLnTx/>
              <a:uFillTx/>
              <a:latin typeface="Arial" charset="0"/>
              <a:ea typeface="+mn-ea"/>
              <a:cs typeface="+mn-cs"/>
            </a:endParaRP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tab pos="1092200" algn="l"/>
              </a:tabLst>
              <a:defRPr/>
            </a:pPr>
            <a:r>
              <a:rPr kumimoji="0" lang="es-ES" sz="2400" b="0" i="0" u="none" strike="noStrike" kern="1200" cap="none" spc="0" normalizeH="0" baseline="0" noProof="0" dirty="0">
                <a:ln>
                  <a:noFill/>
                </a:ln>
                <a:solidFill>
                  <a:srgbClr val="000000"/>
                </a:solidFill>
                <a:effectLst/>
                <a:uLnTx/>
                <a:uFillTx/>
                <a:latin typeface="Arial" charset="0"/>
                <a:ea typeface="+mn-ea"/>
                <a:cs typeface="Times New Roman" charset="0"/>
              </a:rPr>
              <a:t>Economía en las expresiones.</a:t>
            </a:r>
            <a:endParaRPr kumimoji="0" lang="es-MX" sz="2400" b="0" i="0" u="none" strike="noStrike" kern="1200" cap="none" spc="0" normalizeH="0" baseline="0" noProof="0" dirty="0">
              <a:ln>
                <a:noFill/>
              </a:ln>
              <a:solidFill>
                <a:srgbClr val="000000"/>
              </a:solidFill>
              <a:effectLst/>
              <a:uLnTx/>
              <a:uFillTx/>
              <a:latin typeface="Arial" charset="0"/>
              <a:ea typeface="+mn-ea"/>
              <a:cs typeface="+mn-cs"/>
            </a:endParaRP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tab pos="1092200" algn="l"/>
              </a:tabLst>
              <a:defRPr/>
            </a:pPr>
            <a:r>
              <a:rPr kumimoji="0" lang="es-ES" sz="2400" b="0" i="0" u="none" strike="noStrike" kern="1200" cap="none" spc="0" normalizeH="0" baseline="0" noProof="0" dirty="0">
                <a:ln>
                  <a:noFill/>
                </a:ln>
                <a:solidFill>
                  <a:srgbClr val="000000"/>
                </a:solidFill>
                <a:effectLst/>
                <a:uLnTx/>
                <a:uFillTx/>
                <a:latin typeface="Arial" charset="0"/>
                <a:ea typeface="+mn-ea"/>
                <a:cs typeface="Times New Roman" charset="0"/>
              </a:rPr>
              <a:t>Abundancia de operadores y tipos de datos.</a:t>
            </a:r>
            <a:endParaRPr kumimoji="0" lang="es-MX" sz="2400" b="0" i="0" u="none" strike="noStrike" kern="1200" cap="none" spc="0" normalizeH="0" baseline="0" noProof="0" dirty="0">
              <a:ln>
                <a:noFill/>
              </a:ln>
              <a:solidFill>
                <a:srgbClr val="000000"/>
              </a:solidFill>
              <a:effectLst/>
              <a:uLnTx/>
              <a:uFillTx/>
              <a:latin typeface="Arial" charset="0"/>
              <a:ea typeface="+mn-ea"/>
              <a:cs typeface="+mn-cs"/>
            </a:endParaRP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tab pos="1092200" algn="l"/>
              </a:tabLst>
              <a:defRPr/>
            </a:pPr>
            <a:r>
              <a:rPr kumimoji="0" lang="es-ES" sz="2400" b="0" i="0" u="none" strike="noStrike" kern="1200" cap="none" spc="0" normalizeH="0" baseline="0" noProof="0" dirty="0">
                <a:ln>
                  <a:noFill/>
                </a:ln>
                <a:solidFill>
                  <a:srgbClr val="000000"/>
                </a:solidFill>
                <a:effectLst/>
                <a:uLnTx/>
                <a:uFillTx/>
                <a:latin typeface="Arial" charset="0"/>
                <a:ea typeface="+mn-ea"/>
                <a:cs typeface="Times New Roman" charset="0"/>
              </a:rPr>
              <a:t>Codificación de alto y bajo nivel simultáneamente. Pretende ser un lenguaje de alto nivel con la versatilidad del bajo nivel.</a:t>
            </a:r>
            <a:endParaRPr kumimoji="0" lang="es-MX" sz="2400" b="0" i="0" u="none" strike="noStrike" kern="1200" cap="none" spc="0" normalizeH="0" baseline="0" noProof="0" dirty="0">
              <a:ln>
                <a:noFill/>
              </a:ln>
              <a:solidFill>
                <a:srgbClr val="000000"/>
              </a:solidFill>
              <a:effectLst/>
              <a:uLnTx/>
              <a:uFillTx/>
              <a:latin typeface="Arial" charset="0"/>
              <a:ea typeface="+mn-ea"/>
              <a:cs typeface="+mn-cs"/>
            </a:endParaRP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tab pos="1092200" algn="l"/>
              </a:tabLst>
              <a:defRPr/>
            </a:pPr>
            <a:r>
              <a:rPr kumimoji="0" lang="es-ES" sz="2400" b="0" i="0" u="none" strike="noStrike" kern="1200" cap="none" spc="0" normalizeH="0" baseline="0" noProof="0" dirty="0">
                <a:ln>
                  <a:noFill/>
                </a:ln>
                <a:solidFill>
                  <a:srgbClr val="000000"/>
                </a:solidFill>
                <a:effectLst/>
                <a:uLnTx/>
                <a:uFillTx/>
                <a:latin typeface="Arial" charset="0"/>
                <a:ea typeface="+mn-ea"/>
                <a:cs typeface="Times New Roman" charset="0"/>
              </a:rPr>
              <a:t>Altamente transportable.</a:t>
            </a:r>
            <a:endParaRPr kumimoji="0" lang="es-MX" sz="2400" b="0" i="0" u="none" strike="noStrike" kern="1200" cap="none" spc="0" normalizeH="0" baseline="0" noProof="0" dirty="0">
              <a:ln>
                <a:noFill/>
              </a:ln>
              <a:solidFill>
                <a:srgbClr val="000000"/>
              </a:solidFill>
              <a:effectLst/>
              <a:uLnTx/>
              <a:uFillTx/>
              <a:latin typeface="Arial" charset="0"/>
              <a:ea typeface="+mn-ea"/>
              <a:cs typeface="+mn-cs"/>
            </a:endParaRP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tab pos="1092200" algn="l"/>
              </a:tabLst>
              <a:defRPr/>
            </a:pPr>
            <a:r>
              <a:rPr kumimoji="0" lang="es-ES" sz="2400" b="0" i="0" u="none" strike="noStrike" kern="1200" cap="none" spc="0" normalizeH="0" baseline="0" noProof="0" dirty="0">
                <a:ln>
                  <a:noFill/>
                </a:ln>
                <a:solidFill>
                  <a:srgbClr val="000000"/>
                </a:solidFill>
                <a:effectLst/>
                <a:uLnTx/>
                <a:uFillTx/>
                <a:latin typeface="Arial" charset="0"/>
                <a:ea typeface="+mn-ea"/>
                <a:cs typeface="Times New Roman" charset="0"/>
              </a:rPr>
              <a:t>Eficaz, Expresivo y Potente.</a:t>
            </a:r>
            <a:endParaRPr kumimoji="0" lang="es-MX" sz="2400" b="0" i="0" u="none" strike="noStrike" kern="1200" cap="none" spc="0" normalizeH="0" baseline="0" noProof="0" dirty="0">
              <a:ln>
                <a:noFill/>
              </a:ln>
              <a:solidFill>
                <a:srgbClr val="000000"/>
              </a:solidFill>
              <a:effectLst/>
              <a:uLnTx/>
              <a:uFillTx/>
              <a:latin typeface="Arial" charset="0"/>
              <a:ea typeface="+mn-ea"/>
              <a:cs typeface="+mn-cs"/>
            </a:endParaRP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tab pos="1092200" algn="l"/>
              </a:tabLst>
              <a:defRPr/>
            </a:pPr>
            <a:r>
              <a:rPr kumimoji="0" lang="es-ES" sz="2400" b="0" i="0" u="none" strike="noStrike" kern="1200" cap="none" spc="0" normalizeH="0" baseline="0" noProof="0" dirty="0">
                <a:ln>
                  <a:noFill/>
                </a:ln>
                <a:solidFill>
                  <a:srgbClr val="000000"/>
                </a:solidFill>
                <a:effectLst/>
                <a:uLnTx/>
                <a:uFillTx/>
                <a:latin typeface="Arial" charset="0"/>
                <a:ea typeface="+mn-ea"/>
                <a:cs typeface="Times New Roman" charset="0"/>
              </a:rPr>
              <a:t>Lenguaje Compilado.</a:t>
            </a:r>
            <a:endParaRPr kumimoji="0" lang="es-ES" sz="2400" b="0" i="0" u="none" strike="noStrike" kern="1200" cap="none" spc="0" normalizeH="0" baseline="0" noProof="0" dirty="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22556637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http://www.ptydev.com/wp-content/uploads/2013/03/Duke_Int_Float_Char.gif">
            <a:extLst>
              <a:ext uri="{FF2B5EF4-FFF2-40B4-BE49-F238E27FC236}">
                <a16:creationId xmlns:a16="http://schemas.microsoft.com/office/drawing/2014/main" id="{442000AF-E141-48FC-A1E3-E60FF4DDEF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6526" y="1528366"/>
            <a:ext cx="4800889" cy="4616240"/>
          </a:xfrm>
          <a:prstGeom prst="rect">
            <a:avLst/>
          </a:prstGeom>
          <a:noFill/>
          <a:extLst>
            <a:ext uri="{909E8E84-426E-40DD-AFC4-6F175D3DCCD1}">
              <a14:hiddenFill xmlns:a14="http://schemas.microsoft.com/office/drawing/2010/main">
                <a:solidFill>
                  <a:srgbClr val="FFFFFF"/>
                </a:solidFill>
              </a14:hiddenFill>
            </a:ext>
          </a:extLst>
        </p:spPr>
      </p:pic>
      <p:sp>
        <p:nvSpPr>
          <p:cNvPr id="3" name="Rectángulo 2">
            <a:extLst>
              <a:ext uri="{FF2B5EF4-FFF2-40B4-BE49-F238E27FC236}">
                <a16:creationId xmlns:a16="http://schemas.microsoft.com/office/drawing/2014/main" id="{7447B81D-F8F5-4D2D-927A-62DD954CEB87}"/>
              </a:ext>
            </a:extLst>
          </p:cNvPr>
          <p:cNvSpPr/>
          <p:nvPr/>
        </p:nvSpPr>
        <p:spPr>
          <a:xfrm>
            <a:off x="3526971" y="925303"/>
            <a:ext cx="8251373" cy="1569660"/>
          </a:xfrm>
          <a:prstGeom prst="rect">
            <a:avLst/>
          </a:prstGeom>
        </p:spPr>
        <p:txBody>
          <a:bodyPr wrap="square">
            <a:sp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s-NI" sz="3200" b="0" i="0" u="none" strike="noStrike" kern="1200" cap="none" spc="0" normalizeH="0" baseline="0" noProof="0" dirty="0">
                <a:ln>
                  <a:noFill/>
                </a:ln>
                <a:solidFill>
                  <a:srgbClr val="002060"/>
                </a:solidFill>
                <a:effectLst/>
                <a:uLnTx/>
                <a:uFillTx/>
                <a:latin typeface="Verdana" pitchFamily="34" charset="0"/>
                <a:ea typeface="+mn-ea"/>
                <a:cs typeface="+mn-cs"/>
              </a:rPr>
              <a:t>"C es peculiar, defectuoso, y un enorme éxito" </a:t>
            </a:r>
            <a:br>
              <a:rPr kumimoji="0" lang="es-NI" sz="1800" b="0" i="0" u="none" strike="noStrike" kern="1200" cap="none" spc="0" normalizeH="0" baseline="0" noProof="0" dirty="0">
                <a:ln>
                  <a:noFill/>
                </a:ln>
                <a:solidFill>
                  <a:srgbClr val="002060"/>
                </a:solidFill>
                <a:effectLst/>
                <a:uLnTx/>
                <a:uFillTx/>
                <a:latin typeface="Verdana" pitchFamily="34" charset="0"/>
                <a:ea typeface="+mn-ea"/>
                <a:cs typeface="+mn-cs"/>
              </a:rPr>
            </a:br>
            <a:endParaRPr kumimoji="0" lang="es-NI" sz="1800" b="0" i="0" u="none" strike="noStrike" kern="1200" cap="none" spc="0" normalizeH="0" baseline="0" noProof="0" dirty="0">
              <a:ln>
                <a:noFill/>
              </a:ln>
              <a:solidFill>
                <a:srgbClr val="002060"/>
              </a:solidFill>
              <a:effectLst/>
              <a:uLnTx/>
              <a:uFillTx/>
              <a:latin typeface="Verdana" pitchFamily="34" charset="0"/>
              <a:ea typeface="+mn-ea"/>
              <a:cs typeface="+mn-cs"/>
            </a:endParaRPr>
          </a:p>
          <a:p>
            <a:pPr marL="0" marR="0" lvl="0" indent="0" algn="r" defTabSz="914400" rtl="0" eaLnBrk="1" fontAlgn="base" latinLnBrk="0" hangingPunct="1">
              <a:lnSpc>
                <a:spcPct val="100000"/>
              </a:lnSpc>
              <a:spcBef>
                <a:spcPct val="0"/>
              </a:spcBef>
              <a:spcAft>
                <a:spcPct val="0"/>
              </a:spcAft>
              <a:buClrTx/>
              <a:buSzTx/>
              <a:buFontTx/>
              <a:buNone/>
              <a:tabLst/>
              <a:defRPr/>
            </a:pPr>
            <a:r>
              <a:rPr kumimoji="0" lang="es-NI" sz="1400" b="0" i="0" u="none" strike="noStrike" kern="1200" cap="none" spc="0" normalizeH="0" baseline="0" noProof="0" dirty="0">
                <a:ln>
                  <a:noFill/>
                </a:ln>
                <a:solidFill>
                  <a:srgbClr val="000000"/>
                </a:solidFill>
                <a:effectLst/>
                <a:uLnTx/>
                <a:uFillTx/>
                <a:latin typeface="Verdana" pitchFamily="34" charset="0"/>
                <a:ea typeface="+mn-ea"/>
                <a:cs typeface="+mn-cs"/>
              </a:rPr>
              <a:t>— Dennis M. Ritchie</a:t>
            </a:r>
            <a:endParaRPr kumimoji="0" lang="es-NI" sz="1400" b="0" i="0" u="none" strike="noStrike" kern="1200" cap="none" spc="0" normalizeH="0" baseline="0" noProof="0" dirty="0">
              <a:ln>
                <a:noFill/>
              </a:ln>
              <a:solidFill>
                <a:srgbClr val="000000"/>
              </a:solidFill>
              <a:effectLst/>
              <a:uLnTx/>
              <a:uFillTx/>
              <a:latin typeface="Verdana" pitchFamily="34" charset="0"/>
              <a:ea typeface="+mn-ea"/>
              <a:cs typeface="Times New Roman" panose="02020603050405020304" pitchFamily="18" charset="0"/>
            </a:endParaRPr>
          </a:p>
        </p:txBody>
      </p:sp>
    </p:spTree>
    <p:extLst>
      <p:ext uri="{BB962C8B-B14F-4D97-AF65-F5344CB8AC3E}">
        <p14:creationId xmlns:p14="http://schemas.microsoft.com/office/powerpoint/2010/main" val="1353389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2E8D0C95-EF9C-4274-A978-871037034865}"/>
              </a:ext>
            </a:extLst>
          </p:cNvPr>
          <p:cNvSpPr>
            <a:spLocks noChangeArrowheads="1"/>
          </p:cNvSpPr>
          <p:nvPr/>
        </p:nvSpPr>
        <p:spPr bwMode="auto">
          <a:xfrm>
            <a:off x="381001" y="426584"/>
            <a:ext cx="5329238" cy="488950"/>
          </a:xfrm>
          <a:prstGeom prst="rect">
            <a:avLst/>
          </a:prstGeom>
          <a:noFill/>
          <a:ln w="9525">
            <a:noFill/>
            <a:miter lim="800000"/>
            <a:headEnd/>
            <a:tailE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ES" sz="2600" b="1" i="0" u="none" strike="noStrike" kern="1200" cap="none" spc="0" normalizeH="0" baseline="0" noProof="0" dirty="0">
                <a:ln>
                  <a:noFill/>
                </a:ln>
                <a:solidFill>
                  <a:srgbClr val="0099A8"/>
                </a:solidFill>
                <a:effectLst/>
                <a:uLnTx/>
                <a:uFillTx/>
                <a:latin typeface="Arial" charset="0"/>
                <a:ea typeface="+mn-ea"/>
                <a:cs typeface="+mn-cs"/>
              </a:rPr>
              <a:t>Definición de programa</a:t>
            </a:r>
          </a:p>
        </p:txBody>
      </p:sp>
      <p:sp>
        <p:nvSpPr>
          <p:cNvPr id="3" name="Rectangle 9">
            <a:extLst>
              <a:ext uri="{FF2B5EF4-FFF2-40B4-BE49-F238E27FC236}">
                <a16:creationId xmlns:a16="http://schemas.microsoft.com/office/drawing/2014/main" id="{2A23D7E2-36C3-4D23-BB56-80502D9E20C0}"/>
              </a:ext>
            </a:extLst>
          </p:cNvPr>
          <p:cNvSpPr>
            <a:spLocks noChangeArrowheads="1"/>
          </p:cNvSpPr>
          <p:nvPr/>
        </p:nvSpPr>
        <p:spPr bwMode="auto">
          <a:xfrm>
            <a:off x="267690" y="1281439"/>
            <a:ext cx="11220995" cy="4662815"/>
          </a:xfrm>
          <a:prstGeom prst="rect">
            <a:avLst/>
          </a:prstGeom>
          <a:noFill/>
          <a:ln w="9525">
            <a:noFill/>
            <a:miter lim="800000"/>
            <a:headEnd/>
            <a:tailEnd/>
          </a:ln>
          <a:effectLst/>
        </p:spPr>
        <p:txBody>
          <a:bodyPr wrap="square" lIns="228528" bIns="0" anchor="ctr">
            <a:spAutoFit/>
          </a:body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0" lang="es-MX" sz="2000" b="0" i="0" u="none" strike="noStrike" kern="1200" cap="none" spc="0" normalizeH="0" baseline="0" noProof="0" dirty="0">
                <a:ln>
                  <a:noFill/>
                </a:ln>
                <a:solidFill>
                  <a:srgbClr val="000000"/>
                </a:solidFill>
                <a:effectLst/>
                <a:uLnTx/>
                <a:uFillTx/>
                <a:latin typeface="Verdana" pitchFamily="34" charset="0"/>
                <a:ea typeface="+mn-ea"/>
                <a:cs typeface="Times New Roman" panose="02020603050405020304" pitchFamily="18" charset="0"/>
              </a:rPr>
              <a:t>Un programa es, fundamentalmente, la combinación de dos elementos: la descripción de las </a:t>
            </a:r>
            <a:r>
              <a:rPr kumimoji="0" lang="es-MX" sz="2000" b="1" i="0" u="none" strike="noStrike" kern="1200" cap="none" spc="0" normalizeH="0" baseline="0" noProof="0" dirty="0">
                <a:ln>
                  <a:noFill/>
                </a:ln>
                <a:solidFill>
                  <a:srgbClr val="000000"/>
                </a:solidFill>
                <a:effectLst/>
                <a:uLnTx/>
                <a:uFillTx/>
                <a:latin typeface="Verdana" pitchFamily="34" charset="0"/>
                <a:ea typeface="+mn-ea"/>
                <a:cs typeface="Times New Roman" panose="02020603050405020304" pitchFamily="18" charset="0"/>
              </a:rPr>
              <a:t>acciones</a:t>
            </a:r>
            <a:r>
              <a:rPr kumimoji="0" lang="es-MX" sz="2000" b="0" i="0" u="none" strike="noStrike" kern="1200" cap="none" spc="0" normalizeH="0" baseline="0" noProof="0" dirty="0">
                <a:ln>
                  <a:noFill/>
                </a:ln>
                <a:solidFill>
                  <a:srgbClr val="000000"/>
                </a:solidFill>
                <a:effectLst/>
                <a:uLnTx/>
                <a:uFillTx/>
                <a:latin typeface="Verdana" pitchFamily="34" charset="0"/>
                <a:ea typeface="+mn-ea"/>
                <a:cs typeface="Times New Roman" panose="02020603050405020304" pitchFamily="18" charset="0"/>
              </a:rPr>
              <a:t> que ejecutará y la descripción de los </a:t>
            </a:r>
            <a:r>
              <a:rPr kumimoji="0" lang="es-MX" sz="2000" b="1" i="0" u="none" strike="noStrike" kern="1200" cap="none" spc="0" normalizeH="0" baseline="0" noProof="0" dirty="0">
                <a:ln>
                  <a:noFill/>
                </a:ln>
                <a:solidFill>
                  <a:srgbClr val="000000"/>
                </a:solidFill>
                <a:effectLst/>
                <a:uLnTx/>
                <a:uFillTx/>
                <a:latin typeface="Verdana" pitchFamily="34" charset="0"/>
                <a:ea typeface="+mn-ea"/>
                <a:cs typeface="Times New Roman" panose="02020603050405020304" pitchFamily="18" charset="0"/>
              </a:rPr>
              <a:t>datos</a:t>
            </a:r>
            <a:r>
              <a:rPr kumimoji="0" lang="es-MX" sz="2000" b="0" i="0" u="none" strike="noStrike" kern="1200" cap="none" spc="0" normalizeH="0" baseline="0" noProof="0" dirty="0">
                <a:ln>
                  <a:noFill/>
                </a:ln>
                <a:solidFill>
                  <a:srgbClr val="000000"/>
                </a:solidFill>
                <a:effectLst/>
                <a:uLnTx/>
                <a:uFillTx/>
                <a:latin typeface="Verdana" pitchFamily="34" charset="0"/>
                <a:ea typeface="+mn-ea"/>
                <a:cs typeface="Times New Roman" panose="02020603050405020304" pitchFamily="18" charset="0"/>
              </a:rPr>
              <a:t> que serán tratados por esas acciones.</a:t>
            </a:r>
          </a:p>
          <a:p>
            <a:pPr marL="0" marR="0" lvl="0" indent="0" algn="just" defTabSz="914400" rtl="0" eaLnBrk="1" fontAlgn="base" latinLnBrk="0" hangingPunct="1">
              <a:lnSpc>
                <a:spcPct val="100000"/>
              </a:lnSpc>
              <a:spcBef>
                <a:spcPct val="0"/>
              </a:spcBef>
              <a:spcAft>
                <a:spcPct val="0"/>
              </a:spcAft>
              <a:buClrTx/>
              <a:buSzTx/>
              <a:buFontTx/>
              <a:buNone/>
              <a:tabLst/>
              <a:defRPr/>
            </a:pPr>
            <a:endParaRPr kumimoji="0" lang="es-MX" sz="2000" b="0" i="0" u="none" strike="noStrike" kern="1200" cap="none" spc="0" normalizeH="0" baseline="0" noProof="0" dirty="0">
              <a:ln>
                <a:noFill/>
              </a:ln>
              <a:solidFill>
                <a:srgbClr val="000000"/>
              </a:solidFill>
              <a:effectLst/>
              <a:uLnTx/>
              <a:uFillTx/>
              <a:latin typeface="Verdana" pitchFamily="34" charset="0"/>
              <a:ea typeface="+mn-ea"/>
              <a:cs typeface="Times New Roman" panose="02020603050405020304" pitchFamily="18" charset="0"/>
            </a:endParaRPr>
          </a:p>
          <a:p>
            <a:pPr marL="800100" marR="0" lvl="1"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q"/>
              <a:tabLst/>
              <a:defRPr/>
            </a:pPr>
            <a:r>
              <a:rPr kumimoji="0" lang="es-MX" sz="2000" b="0" i="0" u="none" strike="noStrike" kern="1200" cap="none" spc="0" normalizeH="0" baseline="0" noProof="0" dirty="0">
                <a:ln>
                  <a:noFill/>
                </a:ln>
                <a:solidFill>
                  <a:srgbClr val="000000"/>
                </a:solidFill>
                <a:effectLst/>
                <a:uLnTx/>
                <a:uFillTx/>
                <a:latin typeface="Verdana" pitchFamily="34" charset="0"/>
                <a:ea typeface="+mn-ea"/>
                <a:cs typeface="Times New Roman" panose="02020603050405020304" pitchFamily="18" charset="0"/>
              </a:rPr>
              <a:t>  Los datos se describen a través de declaraciones de variables y asignaciones de valor.</a:t>
            </a:r>
          </a:p>
          <a:p>
            <a:pPr marL="1371600" marR="0" lvl="3" indent="0" algn="just" defTabSz="914400" rtl="0" eaLnBrk="0" fontAlgn="base" latinLnBrk="0" hangingPunct="0">
              <a:lnSpc>
                <a:spcPct val="100000"/>
              </a:lnSpc>
              <a:spcBef>
                <a:spcPct val="0"/>
              </a:spcBef>
              <a:spcAft>
                <a:spcPct val="0"/>
              </a:spcAft>
              <a:buClrTx/>
              <a:buSzTx/>
              <a:buFontTx/>
              <a:buNone/>
              <a:tabLst/>
              <a:defRPr/>
            </a:pPr>
            <a:r>
              <a:rPr kumimoji="0" lang="es-MX" sz="2000" b="0" i="0" u="none" strike="noStrike" kern="1200" cap="none" spc="0" normalizeH="0" baseline="0" noProof="0" dirty="0">
                <a:ln>
                  <a:noFill/>
                </a:ln>
                <a:solidFill>
                  <a:srgbClr val="000000"/>
                </a:solidFill>
                <a:effectLst/>
                <a:uLnTx/>
                <a:uFillTx/>
                <a:latin typeface="Verdana" pitchFamily="34" charset="0"/>
                <a:ea typeface="+mn-ea"/>
                <a:cs typeface="+mn-cs"/>
              </a:rPr>
              <a:t>	P. ej.	</a:t>
            </a:r>
            <a:r>
              <a:rPr kumimoji="0" lang="es-MX" b="0" i="0" u="none" strike="noStrike" kern="1200" cap="none" spc="0" normalizeH="0" baseline="0" noProof="0" dirty="0" err="1">
                <a:ln>
                  <a:noFill/>
                </a:ln>
                <a:solidFill>
                  <a:srgbClr val="000000"/>
                </a:solidFill>
                <a:effectLst/>
                <a:uLnTx/>
                <a:uFillTx/>
                <a:latin typeface="Courier New" panose="02070309020205020404" pitchFamily="49" charset="0"/>
                <a:ea typeface="+mn-ea"/>
                <a:cs typeface="Courier New" panose="02070309020205020404" pitchFamily="49" charset="0"/>
              </a:rPr>
              <a:t>float</a:t>
            </a:r>
            <a:r>
              <a:rPr kumimoji="0" lang="es-MX"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 monto, descuento, total;</a:t>
            </a:r>
          </a:p>
          <a:p>
            <a:pPr marL="1371600" marR="0" lvl="3" indent="0" algn="just" defTabSz="914400" rtl="0" eaLnBrk="0" fontAlgn="base" latinLnBrk="0" hangingPunct="0">
              <a:lnSpc>
                <a:spcPct val="100000"/>
              </a:lnSpc>
              <a:spcBef>
                <a:spcPct val="0"/>
              </a:spcBef>
              <a:spcAft>
                <a:spcPct val="0"/>
              </a:spcAft>
              <a:buClrTx/>
              <a:buSzTx/>
              <a:buFontTx/>
              <a:buNone/>
              <a:tabLst/>
              <a:defRPr/>
            </a:pPr>
            <a:r>
              <a:rPr kumimoji="0" lang="es-MX"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		monto=3756.89;</a:t>
            </a:r>
          </a:p>
          <a:p>
            <a:pPr marL="1371600" marR="0" lvl="3" indent="0" algn="just" defTabSz="914400" rtl="0" eaLnBrk="0" fontAlgn="base" latinLnBrk="0" hangingPunct="0">
              <a:lnSpc>
                <a:spcPct val="100000"/>
              </a:lnSpc>
              <a:spcBef>
                <a:spcPct val="0"/>
              </a:spcBef>
              <a:spcAft>
                <a:spcPct val="0"/>
              </a:spcAft>
              <a:buClrTx/>
              <a:buSzTx/>
              <a:buFontTx/>
              <a:buNone/>
              <a:tabLst/>
              <a:defRPr/>
            </a:pPr>
            <a:r>
              <a:rPr kumimoji="0" lang="es-MX"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		descuento=0.12;</a:t>
            </a:r>
          </a:p>
          <a:p>
            <a:pPr marL="1371600" marR="0" lvl="3" indent="0" algn="just" defTabSz="914400" rtl="0" eaLnBrk="0" fontAlgn="base" latinLnBrk="0" hangingPunct="0">
              <a:lnSpc>
                <a:spcPct val="100000"/>
              </a:lnSpc>
              <a:spcBef>
                <a:spcPct val="0"/>
              </a:spcBef>
              <a:spcAft>
                <a:spcPct val="0"/>
              </a:spcAft>
              <a:buClrTx/>
              <a:buSzTx/>
              <a:buFontTx/>
              <a:buNone/>
              <a:tabLst/>
              <a:defRPr/>
            </a:pPr>
            <a:endParaRPr kumimoji="0" lang="es-MX" sz="2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endParaRPr>
          </a:p>
          <a:p>
            <a:pPr marL="800100" marR="0" lvl="1"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q"/>
              <a:tabLst/>
              <a:defRPr/>
            </a:pPr>
            <a:r>
              <a:rPr kumimoji="0" lang="es-MX" sz="2000" b="0" i="0" u="none" strike="noStrike" kern="1200" cap="none" spc="0" normalizeH="0" baseline="0" noProof="0" dirty="0">
                <a:ln>
                  <a:noFill/>
                </a:ln>
                <a:solidFill>
                  <a:srgbClr val="000000"/>
                </a:solidFill>
                <a:effectLst/>
                <a:uLnTx/>
                <a:uFillTx/>
                <a:latin typeface="Verdana" pitchFamily="34" charset="0"/>
                <a:ea typeface="+mn-ea"/>
                <a:cs typeface="Times New Roman" panose="02020603050405020304" pitchFamily="18" charset="0"/>
              </a:rPr>
              <a:t>Las acciones se describen mediante las instrucciones</a:t>
            </a:r>
          </a:p>
          <a:p>
            <a:pPr marL="457200" marR="0" lvl="1" indent="0" algn="just" defTabSz="914400" rtl="0" eaLnBrk="0" fontAlgn="base" latinLnBrk="0" hangingPunct="0">
              <a:lnSpc>
                <a:spcPct val="100000"/>
              </a:lnSpc>
              <a:spcBef>
                <a:spcPct val="0"/>
              </a:spcBef>
              <a:spcAft>
                <a:spcPct val="0"/>
              </a:spcAft>
              <a:buClrTx/>
              <a:buSzTx/>
              <a:buFontTx/>
              <a:buNone/>
              <a:tabLst/>
              <a:defRPr/>
            </a:pPr>
            <a:r>
              <a:rPr kumimoji="0" lang="es-MX" sz="2000" b="0" i="0" u="none" strike="noStrike" kern="1200" cap="none" spc="0" normalizeH="0" baseline="0" noProof="0" dirty="0">
                <a:ln>
                  <a:noFill/>
                </a:ln>
                <a:solidFill>
                  <a:srgbClr val="000000"/>
                </a:solidFill>
                <a:effectLst/>
                <a:uLnTx/>
                <a:uFillTx/>
                <a:latin typeface="Verdana" pitchFamily="34" charset="0"/>
                <a:ea typeface="+mn-ea"/>
                <a:cs typeface="Times New Roman" panose="02020603050405020304" pitchFamily="18" charset="0"/>
              </a:rPr>
              <a:t>		P. ej</a:t>
            </a:r>
            <a:r>
              <a:rPr kumimoji="0" lang="es-MX" sz="1600" b="0" i="0" u="none" strike="noStrike" kern="1200" cap="none" spc="0" normalizeH="0" baseline="0" noProof="0" dirty="0">
                <a:ln>
                  <a:noFill/>
                </a:ln>
                <a:solidFill>
                  <a:srgbClr val="000000"/>
                </a:solidFill>
                <a:effectLst/>
                <a:uLnTx/>
                <a:uFillTx/>
                <a:latin typeface="Verdana" pitchFamily="34" charset="0"/>
                <a:ea typeface="+mn-ea"/>
                <a:cs typeface="Times New Roman" panose="02020603050405020304" pitchFamily="18" charset="0"/>
              </a:rPr>
              <a:t>.   </a:t>
            </a:r>
            <a:r>
              <a:rPr kumimoji="0" lang="es-MX" b="0" i="0" u="none" strike="noStrike" kern="1200" cap="none" spc="0" normalizeH="0" baseline="0" noProof="0" dirty="0" err="1">
                <a:ln>
                  <a:noFill/>
                </a:ln>
                <a:solidFill>
                  <a:srgbClr val="000000"/>
                </a:solidFill>
                <a:effectLst/>
                <a:uLnTx/>
                <a:uFillTx/>
                <a:latin typeface="Courier New" panose="02070309020205020404" pitchFamily="49" charset="0"/>
                <a:ea typeface="+mn-ea"/>
                <a:cs typeface="Courier New" panose="02070309020205020404" pitchFamily="49" charset="0"/>
              </a:rPr>
              <a:t>if</a:t>
            </a:r>
            <a:r>
              <a:rPr kumimoji="0" lang="es-MX"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(monto&gt;3000.00)</a:t>
            </a:r>
          </a:p>
          <a:p>
            <a:pPr marL="457200" marR="0" lvl="1" indent="0" algn="just" defTabSz="914400" rtl="0" eaLnBrk="0" fontAlgn="base" latinLnBrk="0" hangingPunct="0">
              <a:lnSpc>
                <a:spcPct val="100000"/>
              </a:lnSpc>
              <a:spcBef>
                <a:spcPct val="0"/>
              </a:spcBef>
              <a:spcAft>
                <a:spcPct val="0"/>
              </a:spcAft>
              <a:buClrTx/>
              <a:buSzTx/>
              <a:buFontTx/>
              <a:buNone/>
              <a:tabLst/>
              <a:defRPr/>
            </a:pPr>
            <a:r>
              <a:rPr kumimoji="0" lang="es-MX"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               	</a:t>
            </a:r>
            <a:r>
              <a:rPr kumimoji="0" lang="es-MX" b="0" i="0" u="none" strike="noStrike" kern="1200" cap="none" spc="0" normalizeH="0" noProof="0" dirty="0">
                <a:ln>
                  <a:noFill/>
                </a:ln>
                <a:solidFill>
                  <a:srgbClr val="000000"/>
                </a:solidFill>
                <a:effectLst/>
                <a:uLnTx/>
                <a:uFillTx/>
                <a:latin typeface="Courier New" panose="02070309020205020404" pitchFamily="49" charset="0"/>
                <a:ea typeface="+mn-ea"/>
                <a:cs typeface="Courier New" panose="02070309020205020404" pitchFamily="49" charset="0"/>
              </a:rPr>
              <a:t>  </a:t>
            </a:r>
            <a:r>
              <a:rPr kumimoji="0" lang="es-MX"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total=monto-monto*descuento;</a:t>
            </a:r>
          </a:p>
          <a:p>
            <a:pPr marL="457200" marR="0" lvl="1" indent="0" algn="just" defTabSz="914400" rtl="0" eaLnBrk="0" fontAlgn="base" latinLnBrk="0" hangingPunct="0">
              <a:lnSpc>
                <a:spcPct val="100000"/>
              </a:lnSpc>
              <a:spcBef>
                <a:spcPct val="0"/>
              </a:spcBef>
              <a:spcAft>
                <a:spcPct val="0"/>
              </a:spcAft>
              <a:buClrTx/>
              <a:buSzTx/>
              <a:buFontTx/>
              <a:buNone/>
              <a:tabLst/>
              <a:defRPr/>
            </a:pPr>
            <a:r>
              <a:rPr kumimoji="0" lang="es-MX"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			</a:t>
            </a:r>
            <a:r>
              <a:rPr kumimoji="0" lang="es-MX" b="0" i="0" u="none" strike="noStrike" kern="1200" cap="none" spc="0" normalizeH="0" baseline="0" noProof="0" dirty="0" err="1">
                <a:ln>
                  <a:noFill/>
                </a:ln>
                <a:solidFill>
                  <a:srgbClr val="000000"/>
                </a:solidFill>
                <a:effectLst/>
                <a:uLnTx/>
                <a:uFillTx/>
                <a:latin typeface="Courier New" panose="02070309020205020404" pitchFamily="49" charset="0"/>
                <a:ea typeface="+mn-ea"/>
                <a:cs typeface="Courier New" panose="02070309020205020404" pitchFamily="49" charset="0"/>
              </a:rPr>
              <a:t>else</a:t>
            </a:r>
            <a:endParaRPr kumimoji="0" lang="es-MX"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endParaRPr>
          </a:p>
          <a:p>
            <a:pPr marL="457200" marR="0" lvl="1" indent="0" algn="just" defTabSz="914400" rtl="0" eaLnBrk="0" fontAlgn="base" latinLnBrk="0" hangingPunct="0">
              <a:lnSpc>
                <a:spcPct val="100000"/>
              </a:lnSpc>
              <a:spcBef>
                <a:spcPct val="0"/>
              </a:spcBef>
              <a:spcAft>
                <a:spcPct val="0"/>
              </a:spcAft>
              <a:buClrTx/>
              <a:buSzTx/>
              <a:buFontTx/>
              <a:buNone/>
              <a:tabLst/>
              <a:defRPr/>
            </a:pPr>
            <a:r>
              <a:rPr kumimoji="0" lang="es-MX"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	            	</a:t>
            </a:r>
            <a:r>
              <a:rPr kumimoji="0" lang="es-MX" b="0" i="0" u="none" strike="noStrike" kern="1200" cap="none" spc="0" normalizeH="0" noProof="0" dirty="0">
                <a:ln>
                  <a:noFill/>
                </a:ln>
                <a:solidFill>
                  <a:srgbClr val="000000"/>
                </a:solidFill>
                <a:effectLst/>
                <a:uLnTx/>
                <a:uFillTx/>
                <a:latin typeface="Courier New" panose="02070309020205020404" pitchFamily="49" charset="0"/>
                <a:ea typeface="+mn-ea"/>
                <a:cs typeface="Courier New" panose="02070309020205020404" pitchFamily="49" charset="0"/>
              </a:rPr>
              <a:t>  </a:t>
            </a:r>
            <a:r>
              <a:rPr kumimoji="0" lang="es-MX"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total=monto;</a:t>
            </a:r>
            <a:r>
              <a:rPr kumimoji="0" lang="es-MX" sz="2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	</a:t>
            </a:r>
            <a:endParaRPr kumimoji="0" lang="es-MX" sz="2000" b="0" i="0" u="none" strike="noStrike" kern="1200" cap="none" spc="0" normalizeH="0" baseline="0" noProof="0" dirty="0">
              <a:ln>
                <a:noFill/>
              </a:ln>
              <a:solidFill>
                <a:srgbClr val="000000"/>
              </a:solidFill>
              <a:effectLst/>
              <a:uLnTx/>
              <a:uFillTx/>
              <a:latin typeface="Verdana" pitchFamily="34" charset="0"/>
              <a:ea typeface="+mn-ea"/>
              <a:cs typeface="+mn-cs"/>
            </a:endParaRPr>
          </a:p>
        </p:txBody>
      </p:sp>
    </p:spTree>
    <p:extLst>
      <p:ext uri="{BB962C8B-B14F-4D97-AF65-F5344CB8AC3E}">
        <p14:creationId xmlns:p14="http://schemas.microsoft.com/office/powerpoint/2010/main" val="28974453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6465C83A-2F95-4E4E-9DE8-E4F4E9F80476}"/>
              </a:ext>
            </a:extLst>
          </p:cNvPr>
          <p:cNvSpPr>
            <a:spLocks noChangeArrowheads="1"/>
          </p:cNvSpPr>
          <p:nvPr/>
        </p:nvSpPr>
        <p:spPr bwMode="auto">
          <a:xfrm>
            <a:off x="381001" y="426584"/>
            <a:ext cx="5329238" cy="488950"/>
          </a:xfrm>
          <a:prstGeom prst="rect">
            <a:avLst/>
          </a:prstGeom>
          <a:noFill/>
          <a:ln w="9525">
            <a:noFill/>
            <a:miter lim="800000"/>
            <a:headEnd/>
            <a:tailE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ES" sz="2600" b="1" i="0" u="none" strike="noStrike" kern="1200" cap="none" spc="0" normalizeH="0" baseline="0" noProof="0" dirty="0">
                <a:ln>
                  <a:noFill/>
                </a:ln>
                <a:solidFill>
                  <a:srgbClr val="0099A8"/>
                </a:solidFill>
                <a:effectLst/>
                <a:uLnTx/>
                <a:uFillTx/>
                <a:latin typeface="Arial" charset="0"/>
                <a:ea typeface="+mn-ea"/>
                <a:cs typeface="+mn-cs"/>
              </a:rPr>
              <a:t>Tipos de datos</a:t>
            </a:r>
          </a:p>
        </p:txBody>
      </p:sp>
      <p:sp>
        <p:nvSpPr>
          <p:cNvPr id="3" name="Rectangle 9">
            <a:extLst>
              <a:ext uri="{FF2B5EF4-FFF2-40B4-BE49-F238E27FC236}">
                <a16:creationId xmlns:a16="http://schemas.microsoft.com/office/drawing/2014/main" id="{04ABB830-070C-449F-8B61-4095A738ECF0}"/>
              </a:ext>
            </a:extLst>
          </p:cNvPr>
          <p:cNvSpPr>
            <a:spLocks noChangeArrowheads="1"/>
          </p:cNvSpPr>
          <p:nvPr/>
        </p:nvSpPr>
        <p:spPr bwMode="auto">
          <a:xfrm>
            <a:off x="381001" y="1097592"/>
            <a:ext cx="10996748" cy="4662815"/>
          </a:xfrm>
          <a:prstGeom prst="rect">
            <a:avLst/>
          </a:prstGeom>
          <a:noFill/>
          <a:ln w="9525">
            <a:noFill/>
            <a:miter lim="800000"/>
            <a:headEnd/>
            <a:tailEnd/>
          </a:ln>
          <a:effectLst/>
        </p:spPr>
        <p:txBody>
          <a:bodyPr wrap="square" lIns="228528" bIns="0" anchor="ctr">
            <a:spAutoFit/>
          </a:bodyPr>
          <a:lstStyle/>
          <a:p>
            <a:pPr marL="0" marR="0" lvl="0" indent="0" algn="just" defTabSz="914400" rtl="0" eaLnBrk="1" fontAlgn="base" latinLnBrk="0" hangingPunct="1">
              <a:lnSpc>
                <a:spcPct val="150000"/>
              </a:lnSpc>
              <a:spcBef>
                <a:spcPct val="0"/>
              </a:spcBef>
              <a:spcAft>
                <a:spcPct val="0"/>
              </a:spcAft>
              <a:buClrTx/>
              <a:buSzTx/>
              <a:buFontTx/>
              <a:buNone/>
              <a:tabLst/>
              <a:defRPr/>
            </a:pPr>
            <a:r>
              <a:rPr kumimoji="0" lang="es-MX" sz="2000" b="0" i="0" u="none" strike="noStrike" kern="1200" cap="none" spc="0" normalizeH="0" baseline="0" noProof="0" dirty="0">
                <a:ln>
                  <a:noFill/>
                </a:ln>
                <a:solidFill>
                  <a:srgbClr val="000000"/>
                </a:solidFill>
                <a:effectLst/>
                <a:uLnTx/>
                <a:uFillTx/>
                <a:latin typeface="Verdana" pitchFamily="34" charset="0"/>
                <a:ea typeface="Arial Unicode MS" panose="020B0604020202020204" pitchFamily="34" charset="-128"/>
                <a:cs typeface="Arial Unicode MS" panose="020B0604020202020204" pitchFamily="34" charset="-128"/>
              </a:rPr>
              <a:t>Todos los lenguajes de programación proporcionan una serie de tipos de datos simples:</a:t>
            </a:r>
          </a:p>
          <a:p>
            <a:pPr marL="0" marR="0" lvl="0" indent="0" algn="just" defTabSz="914400" rtl="0" eaLnBrk="1" fontAlgn="base" latinLnBrk="0" hangingPunct="1">
              <a:lnSpc>
                <a:spcPct val="150000"/>
              </a:lnSpc>
              <a:spcBef>
                <a:spcPct val="0"/>
              </a:spcBef>
              <a:spcAft>
                <a:spcPct val="0"/>
              </a:spcAft>
              <a:buClrTx/>
              <a:buSzTx/>
              <a:buFontTx/>
              <a:buNone/>
              <a:tabLst/>
              <a:defRPr/>
            </a:pPr>
            <a:endParaRPr kumimoji="0" lang="es-MX" sz="2000" b="0" i="0" u="none" strike="noStrike" kern="1200" cap="none" spc="0" normalizeH="0" baseline="0" noProof="0" dirty="0">
              <a:ln>
                <a:noFill/>
              </a:ln>
              <a:solidFill>
                <a:srgbClr val="000000"/>
              </a:solidFill>
              <a:effectLst/>
              <a:uLnTx/>
              <a:uFillTx/>
              <a:latin typeface="Verdana" pitchFamily="34" charset="0"/>
              <a:ea typeface="Arial Unicode MS" panose="020B0604020202020204" pitchFamily="34" charset="-128"/>
              <a:cs typeface="Arial Unicode MS" panose="020B0604020202020204" pitchFamily="34" charset="-128"/>
            </a:endParaRPr>
          </a:p>
          <a:p>
            <a:pPr marL="342900" marR="0" lvl="0" indent="-342900" algn="just" defTabSz="914400" rtl="0" eaLnBrk="1" fontAlgn="base" latinLnBrk="0" hangingPunct="1">
              <a:lnSpc>
                <a:spcPct val="150000"/>
              </a:lnSpc>
              <a:spcBef>
                <a:spcPct val="0"/>
              </a:spcBef>
              <a:spcAft>
                <a:spcPct val="0"/>
              </a:spcAft>
              <a:buClrTx/>
              <a:buSzTx/>
              <a:buFont typeface="Wingdings" panose="05000000000000000000" pitchFamily="2" charset="2"/>
              <a:buChar char="q"/>
              <a:tabLst/>
              <a:defRPr/>
            </a:pPr>
            <a:r>
              <a:rPr kumimoji="0" lang="es-MX" sz="2000" b="0" i="0" u="none" strike="noStrike" kern="1200" cap="none" spc="0" normalizeH="0" baseline="0" noProof="0" dirty="0">
                <a:ln>
                  <a:noFill/>
                </a:ln>
                <a:solidFill>
                  <a:srgbClr val="000000"/>
                </a:solidFill>
                <a:effectLst/>
                <a:uLnTx/>
                <a:uFillTx/>
                <a:latin typeface="Verdana" pitchFamily="34" charset="0"/>
                <a:ea typeface="Arial Unicode MS" panose="020B0604020202020204" pitchFamily="34" charset="-128"/>
                <a:cs typeface="Arial Unicode MS" panose="020B0604020202020204" pitchFamily="34" charset="-128"/>
              </a:rPr>
              <a:t>Números enteros: 458963, 1, -895, 700, 0, 150, 1024, 213684582, </a:t>
            </a:r>
            <a:r>
              <a:rPr kumimoji="0" lang="es-MX" sz="2000" b="0" i="0" u="none" strike="noStrike" kern="1200" cap="none" spc="0" normalizeH="0" baseline="0" noProof="0" dirty="0">
                <a:ln>
                  <a:noFill/>
                </a:ln>
                <a:solidFill>
                  <a:srgbClr val="E70000"/>
                </a:solidFill>
                <a:effectLst/>
                <a:uLnTx/>
                <a:uFillTx/>
                <a:latin typeface="Verdana" pitchFamily="34" charset="0"/>
                <a:ea typeface="Arial Unicode MS" panose="020B0604020202020204" pitchFamily="34" charset="-128"/>
                <a:cs typeface="Arial Unicode MS" panose="020B0604020202020204" pitchFamily="34" charset="-128"/>
              </a:rPr>
              <a:t>7</a:t>
            </a:r>
          </a:p>
          <a:p>
            <a:pPr marL="342900" marR="0" lvl="0" indent="-342900" algn="just" defTabSz="914400" rtl="0" eaLnBrk="1" fontAlgn="base" latinLnBrk="0" hangingPunct="1">
              <a:lnSpc>
                <a:spcPct val="150000"/>
              </a:lnSpc>
              <a:spcBef>
                <a:spcPct val="0"/>
              </a:spcBef>
              <a:spcAft>
                <a:spcPct val="0"/>
              </a:spcAft>
              <a:buClrTx/>
              <a:buSzTx/>
              <a:buFont typeface="Wingdings" panose="05000000000000000000" pitchFamily="2" charset="2"/>
              <a:buChar char="q"/>
              <a:tabLst/>
              <a:defRPr/>
            </a:pPr>
            <a:r>
              <a:rPr kumimoji="0" lang="es-MX" sz="2000" b="0" i="0" u="none" strike="noStrike" kern="1200" cap="none" spc="0" normalizeH="0" baseline="0" noProof="0" dirty="0">
                <a:ln>
                  <a:noFill/>
                </a:ln>
                <a:solidFill>
                  <a:srgbClr val="000000"/>
                </a:solidFill>
                <a:effectLst/>
                <a:uLnTx/>
                <a:uFillTx/>
                <a:latin typeface="Verdana" pitchFamily="34" charset="0"/>
                <a:ea typeface="Arial Unicode MS" panose="020B0604020202020204" pitchFamily="34" charset="-128"/>
                <a:cs typeface="Arial Unicode MS" panose="020B0604020202020204" pitchFamily="34" charset="-128"/>
              </a:rPr>
              <a:t>Caracteres:		‘A’, ‘l’, ‘g’, ‘o’, ‘0’, ‘</a:t>
            </a:r>
            <a:r>
              <a:rPr kumimoji="0" lang="es-MX" sz="2000" b="0" i="0" u="none" strike="noStrike" kern="1200" cap="none" spc="0" normalizeH="0" baseline="0" noProof="0" dirty="0">
                <a:ln>
                  <a:noFill/>
                </a:ln>
                <a:solidFill>
                  <a:srgbClr val="E70000"/>
                </a:solidFill>
                <a:effectLst/>
                <a:uLnTx/>
                <a:uFillTx/>
                <a:latin typeface="Verdana" pitchFamily="34" charset="0"/>
                <a:ea typeface="Arial Unicode MS" panose="020B0604020202020204" pitchFamily="34" charset="-128"/>
                <a:cs typeface="Arial Unicode MS" panose="020B0604020202020204" pitchFamily="34" charset="-128"/>
              </a:rPr>
              <a:t>7</a:t>
            </a:r>
            <a:r>
              <a:rPr kumimoji="0" lang="es-MX" sz="2000" b="0" i="0" u="none" strike="noStrike" kern="1200" cap="none" spc="0" normalizeH="0" baseline="0" noProof="0" dirty="0">
                <a:ln>
                  <a:noFill/>
                </a:ln>
                <a:solidFill>
                  <a:srgbClr val="000000"/>
                </a:solidFill>
                <a:effectLst/>
                <a:uLnTx/>
                <a:uFillTx/>
                <a:latin typeface="Verdana" pitchFamily="34" charset="0"/>
                <a:ea typeface="Arial Unicode MS" panose="020B0604020202020204" pitchFamily="34" charset="-128"/>
                <a:cs typeface="Arial Unicode MS" panose="020B0604020202020204" pitchFamily="34" charset="-128"/>
              </a:rPr>
              <a:t>’, ‘ ’, ‘@’, ‘%’ </a:t>
            </a:r>
          </a:p>
          <a:p>
            <a:pPr marL="342900" marR="0" lvl="0" indent="-342900" algn="just" defTabSz="914400" rtl="0" eaLnBrk="1" fontAlgn="base" latinLnBrk="0" hangingPunct="1">
              <a:lnSpc>
                <a:spcPct val="150000"/>
              </a:lnSpc>
              <a:spcBef>
                <a:spcPct val="0"/>
              </a:spcBef>
              <a:spcAft>
                <a:spcPct val="0"/>
              </a:spcAft>
              <a:buClrTx/>
              <a:buSzTx/>
              <a:buFont typeface="Wingdings" panose="05000000000000000000" pitchFamily="2" charset="2"/>
              <a:buChar char="q"/>
              <a:tabLst/>
              <a:defRPr/>
            </a:pPr>
            <a:r>
              <a:rPr kumimoji="0" lang="es-MX" sz="2000" b="0" i="0" u="none" strike="noStrike" kern="1200" cap="none" spc="0" normalizeH="0" baseline="0" noProof="0" dirty="0">
                <a:ln>
                  <a:noFill/>
                </a:ln>
                <a:solidFill>
                  <a:srgbClr val="000000"/>
                </a:solidFill>
                <a:effectLst/>
                <a:uLnTx/>
                <a:uFillTx/>
                <a:latin typeface="Verdana" pitchFamily="34" charset="0"/>
                <a:ea typeface="Arial Unicode MS" panose="020B0604020202020204" pitchFamily="34" charset="-128"/>
                <a:cs typeface="Arial Unicode MS" panose="020B0604020202020204" pitchFamily="34" charset="-128"/>
              </a:rPr>
              <a:t>Números reales:	</a:t>
            </a:r>
            <a:r>
              <a:rPr kumimoji="0" lang="es-NI" sz="2000" b="0" i="0" u="none" strike="noStrike" kern="1200" cap="none" spc="0" normalizeH="0" baseline="0" noProof="0" dirty="0">
                <a:ln>
                  <a:noFill/>
                </a:ln>
                <a:solidFill>
                  <a:srgbClr val="000000"/>
                </a:solidFill>
                <a:effectLst/>
                <a:uLnTx/>
                <a:uFillTx/>
                <a:latin typeface="Verdana" pitchFamily="34" charset="0"/>
                <a:ea typeface="+mn-ea"/>
                <a:cs typeface="+mn-cs"/>
              </a:rPr>
              <a:t> 3.14159265358979323846, 1.5, 0.2568, </a:t>
            </a:r>
            <a:r>
              <a:rPr kumimoji="0" lang="es-NI" sz="2000" b="0" i="0" u="none" strike="noStrike" kern="1200" cap="none" spc="0" normalizeH="0" baseline="0" noProof="0" dirty="0">
                <a:ln>
                  <a:noFill/>
                </a:ln>
                <a:solidFill>
                  <a:srgbClr val="E70000"/>
                </a:solidFill>
                <a:effectLst/>
                <a:uLnTx/>
                <a:uFillTx/>
                <a:latin typeface="Verdana" pitchFamily="34" charset="0"/>
                <a:ea typeface="+mn-ea"/>
                <a:cs typeface="+mn-cs"/>
              </a:rPr>
              <a:t>7</a:t>
            </a:r>
            <a:r>
              <a:rPr kumimoji="0" lang="es-NI" sz="2000" b="0" i="0" u="none" strike="noStrike" kern="1200" cap="none" spc="0" normalizeH="0" baseline="0" noProof="0" dirty="0">
                <a:ln>
                  <a:noFill/>
                </a:ln>
                <a:solidFill>
                  <a:srgbClr val="000000"/>
                </a:solidFill>
                <a:effectLst/>
                <a:uLnTx/>
                <a:uFillTx/>
                <a:latin typeface="Verdana" pitchFamily="34" charset="0"/>
                <a:ea typeface="+mn-ea"/>
                <a:cs typeface="+mn-cs"/>
              </a:rPr>
              <a:t>.0, 85478542.1</a:t>
            </a:r>
            <a:endParaRPr kumimoji="0" lang="es-MX" sz="2000" b="0" i="0" u="none" strike="noStrike" kern="1200" cap="none" spc="0" normalizeH="0" baseline="0" noProof="0" dirty="0">
              <a:ln>
                <a:noFill/>
              </a:ln>
              <a:solidFill>
                <a:srgbClr val="000000"/>
              </a:solidFill>
              <a:effectLst/>
              <a:uLnTx/>
              <a:uFillTx/>
              <a:latin typeface="Verdana" pitchFamily="34" charset="0"/>
              <a:ea typeface="Arial Unicode MS" panose="020B0604020202020204" pitchFamily="34" charset="-128"/>
              <a:cs typeface="Arial Unicode MS" panose="020B0604020202020204" pitchFamily="34" charset="-128"/>
            </a:endParaRPr>
          </a:p>
          <a:p>
            <a:pPr marL="0" marR="0" lvl="0" indent="0" algn="just" defTabSz="914400" rtl="0" eaLnBrk="1" fontAlgn="base" latinLnBrk="0" hangingPunct="1">
              <a:lnSpc>
                <a:spcPct val="150000"/>
              </a:lnSpc>
              <a:spcBef>
                <a:spcPct val="0"/>
              </a:spcBef>
              <a:spcAft>
                <a:spcPct val="0"/>
              </a:spcAft>
              <a:buClrTx/>
              <a:buSzTx/>
              <a:buFontTx/>
              <a:buNone/>
              <a:tabLst/>
              <a:defRPr/>
            </a:pPr>
            <a:endParaRPr kumimoji="0" lang="es-MX" sz="2000" b="0" i="0" u="none" strike="noStrike" kern="1200" cap="none" spc="0" normalizeH="0" baseline="0" noProof="0" dirty="0">
              <a:ln>
                <a:noFill/>
              </a:ln>
              <a:solidFill>
                <a:srgbClr val="000000"/>
              </a:solidFill>
              <a:effectLst/>
              <a:uLnTx/>
              <a:uFillTx/>
              <a:latin typeface="Verdana" pitchFamily="34" charset="0"/>
              <a:ea typeface="Arial Unicode MS" panose="020B0604020202020204" pitchFamily="34" charset="-128"/>
              <a:cs typeface="Arial Unicode MS" panose="020B0604020202020204" pitchFamily="34" charset="-128"/>
            </a:endParaRPr>
          </a:p>
          <a:p>
            <a:pPr marL="0" marR="0" lvl="0" indent="0" algn="just" defTabSz="914400" rtl="0" eaLnBrk="1" fontAlgn="base" latinLnBrk="0" hangingPunct="1">
              <a:lnSpc>
                <a:spcPct val="150000"/>
              </a:lnSpc>
              <a:spcBef>
                <a:spcPct val="0"/>
              </a:spcBef>
              <a:spcAft>
                <a:spcPct val="0"/>
              </a:spcAft>
              <a:buClrTx/>
              <a:buSzTx/>
              <a:buFontTx/>
              <a:buNone/>
              <a:tabLst/>
              <a:defRPr/>
            </a:pPr>
            <a:r>
              <a:rPr kumimoji="0" lang="es-MX" sz="2000" b="0" i="0" u="none" strike="noStrike" kern="1200" cap="none" spc="0" normalizeH="0" baseline="0" noProof="0" dirty="0">
                <a:ln>
                  <a:noFill/>
                </a:ln>
                <a:solidFill>
                  <a:srgbClr val="000000"/>
                </a:solidFill>
                <a:effectLst/>
                <a:uLnTx/>
                <a:uFillTx/>
                <a:latin typeface="Verdana" pitchFamily="34" charset="0"/>
                <a:ea typeface="Arial Unicode MS" panose="020B0604020202020204" pitchFamily="34" charset="-128"/>
                <a:cs typeface="Arial Unicode MS" panose="020B0604020202020204" pitchFamily="34" charset="-128"/>
              </a:rPr>
              <a:t>Y además agrega un subconjunto de éstos, pues la memoria del ordenador es finita. Los punteros (si los tiene) son también un tipo de datos. El tamaño de todos los tipos de datos depende de la máquina y del compilador que los trabaja.</a:t>
            </a:r>
            <a:endParaRPr kumimoji="0" lang="es-MX" sz="2000" b="0" i="0" u="none" strike="noStrike" kern="1200" cap="none" spc="0" normalizeH="0" baseline="0" noProof="0" dirty="0">
              <a:ln>
                <a:noFill/>
              </a:ln>
              <a:solidFill>
                <a:srgbClr val="000000"/>
              </a:solidFill>
              <a:effectLst/>
              <a:uLnTx/>
              <a:uFillTx/>
              <a:latin typeface="Verdana" pitchFamily="34" charset="0"/>
              <a:ea typeface="+mn-ea"/>
              <a:cs typeface="+mn-cs"/>
            </a:endParaRPr>
          </a:p>
        </p:txBody>
      </p:sp>
    </p:spTree>
    <p:extLst>
      <p:ext uri="{BB962C8B-B14F-4D97-AF65-F5344CB8AC3E}">
        <p14:creationId xmlns:p14="http://schemas.microsoft.com/office/powerpoint/2010/main" val="4604148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6465C83A-2F95-4E4E-9DE8-E4F4E9F80476}"/>
              </a:ext>
            </a:extLst>
          </p:cNvPr>
          <p:cNvSpPr>
            <a:spLocks noChangeArrowheads="1"/>
          </p:cNvSpPr>
          <p:nvPr/>
        </p:nvSpPr>
        <p:spPr bwMode="auto">
          <a:xfrm>
            <a:off x="381001" y="426584"/>
            <a:ext cx="5329238" cy="488950"/>
          </a:xfrm>
          <a:prstGeom prst="rect">
            <a:avLst/>
          </a:prstGeom>
          <a:noFill/>
          <a:ln w="9525">
            <a:noFill/>
            <a:miter lim="800000"/>
            <a:headEnd/>
            <a:tailE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ES" sz="2600" b="1" i="0" u="none" strike="noStrike" kern="1200" cap="none" spc="0" normalizeH="0" baseline="0" noProof="0" dirty="0">
                <a:ln>
                  <a:noFill/>
                </a:ln>
                <a:solidFill>
                  <a:srgbClr val="0099A8"/>
                </a:solidFill>
                <a:effectLst/>
                <a:uLnTx/>
                <a:uFillTx/>
                <a:latin typeface="Arial" charset="0"/>
                <a:ea typeface="+mn-ea"/>
                <a:cs typeface="+mn-cs"/>
              </a:rPr>
              <a:t>Tipos de datos</a:t>
            </a:r>
          </a:p>
        </p:txBody>
      </p:sp>
      <p:sp>
        <p:nvSpPr>
          <p:cNvPr id="4" name="Rectangle 9">
            <a:extLst>
              <a:ext uri="{FF2B5EF4-FFF2-40B4-BE49-F238E27FC236}">
                <a16:creationId xmlns:a16="http://schemas.microsoft.com/office/drawing/2014/main" id="{9B49DAF4-4468-4783-B7EB-14B092C23458}"/>
              </a:ext>
            </a:extLst>
          </p:cNvPr>
          <p:cNvSpPr>
            <a:spLocks noChangeArrowheads="1"/>
          </p:cNvSpPr>
          <p:nvPr/>
        </p:nvSpPr>
        <p:spPr bwMode="auto">
          <a:xfrm>
            <a:off x="381001" y="1328425"/>
            <a:ext cx="10898377" cy="4201150"/>
          </a:xfrm>
          <a:prstGeom prst="rect">
            <a:avLst/>
          </a:prstGeom>
          <a:noFill/>
          <a:ln w="9525">
            <a:noFill/>
            <a:miter lim="800000"/>
            <a:headEnd/>
            <a:tailEnd/>
          </a:ln>
          <a:effectLst/>
        </p:spPr>
        <p:txBody>
          <a:bodyPr wrap="square" lIns="228528" bIns="0" anchor="ctr">
            <a:spAutoFit/>
          </a:bodyPr>
          <a:lstStyle/>
          <a:p>
            <a:pPr marL="0" marR="0" lvl="0" indent="0" algn="just" defTabSz="914400" rtl="0" eaLnBrk="1" fontAlgn="base" latinLnBrk="0" hangingPunct="1">
              <a:lnSpc>
                <a:spcPct val="150000"/>
              </a:lnSpc>
              <a:spcBef>
                <a:spcPct val="0"/>
              </a:spcBef>
              <a:spcAft>
                <a:spcPct val="0"/>
              </a:spcAft>
              <a:buClrTx/>
              <a:buSzTx/>
              <a:buFontTx/>
              <a:buNone/>
              <a:tabLst/>
              <a:defRPr/>
            </a:pPr>
            <a:r>
              <a:rPr kumimoji="0" lang="es-MX" sz="2000" b="0" i="0" u="none" strike="noStrike" kern="1200" cap="none" spc="0" normalizeH="0" baseline="0" noProof="0" dirty="0">
                <a:ln>
                  <a:noFill/>
                </a:ln>
                <a:solidFill>
                  <a:srgbClr val="000000"/>
                </a:solidFill>
                <a:effectLst/>
                <a:uLnTx/>
                <a:uFillTx/>
                <a:latin typeface="Verdana" pitchFamily="34" charset="0"/>
                <a:ea typeface="Arial Unicode MS" panose="020B0604020202020204" pitchFamily="34" charset="-128"/>
                <a:cs typeface="Arial Unicode MS" panose="020B0604020202020204" pitchFamily="34" charset="-128"/>
              </a:rPr>
              <a:t>Un tipo de dato define el conjunto de valores que una variable puede asumir, así como las operaciones y relaciones asociadas a dichos valores.</a:t>
            </a:r>
          </a:p>
          <a:p>
            <a:pPr marL="0" marR="0" lvl="0" indent="0" algn="just" defTabSz="914400" rtl="0" eaLnBrk="1" fontAlgn="base" latinLnBrk="0" hangingPunct="1">
              <a:lnSpc>
                <a:spcPct val="150000"/>
              </a:lnSpc>
              <a:spcBef>
                <a:spcPct val="0"/>
              </a:spcBef>
              <a:spcAft>
                <a:spcPct val="0"/>
              </a:spcAft>
              <a:buClrTx/>
              <a:buSzTx/>
              <a:buFontTx/>
              <a:buNone/>
              <a:tabLst/>
              <a:defRPr/>
            </a:pPr>
            <a:endParaRPr kumimoji="0" lang="es-MX" sz="2000" b="0" i="0" u="none" strike="noStrike" kern="1200" cap="none" spc="0" normalizeH="0" baseline="0" noProof="0" dirty="0">
              <a:ln>
                <a:noFill/>
              </a:ln>
              <a:solidFill>
                <a:srgbClr val="000000"/>
              </a:solidFill>
              <a:effectLst/>
              <a:uLnTx/>
              <a:uFillTx/>
              <a:latin typeface="Verdana" pitchFamily="34" charset="0"/>
              <a:ea typeface="Arial Unicode MS" panose="020B0604020202020204" pitchFamily="34" charset="-128"/>
              <a:cs typeface="Arial Unicode MS" panose="020B0604020202020204" pitchFamily="34" charset="-128"/>
            </a:endParaRPr>
          </a:p>
          <a:p>
            <a:pPr marL="0" marR="0" lvl="0" indent="0" algn="just" defTabSz="914400" rtl="0" eaLnBrk="1" fontAlgn="base" latinLnBrk="0" hangingPunct="1">
              <a:lnSpc>
                <a:spcPct val="150000"/>
              </a:lnSpc>
              <a:spcBef>
                <a:spcPct val="0"/>
              </a:spcBef>
              <a:spcAft>
                <a:spcPct val="0"/>
              </a:spcAft>
              <a:buClrTx/>
              <a:buSzTx/>
              <a:buFontTx/>
              <a:buNone/>
              <a:tabLst/>
              <a:defRPr/>
            </a:pPr>
            <a:r>
              <a:rPr kumimoji="0" lang="es-MX" sz="2000" b="0" i="0" u="none" strike="noStrike" kern="1200" cap="none" spc="0" normalizeH="0" baseline="0" noProof="0" dirty="0">
                <a:ln>
                  <a:noFill/>
                </a:ln>
                <a:solidFill>
                  <a:srgbClr val="000000"/>
                </a:solidFill>
                <a:effectLst/>
                <a:uLnTx/>
                <a:uFillTx/>
                <a:latin typeface="Verdana" pitchFamily="34" charset="0"/>
                <a:ea typeface="Arial Unicode MS" panose="020B0604020202020204" pitchFamily="34" charset="-128"/>
                <a:cs typeface="Arial Unicode MS" panose="020B0604020202020204" pitchFamily="34" charset="-128"/>
              </a:rPr>
              <a:t>Cada variable que aparece en un programa debe pertenecer a un tipo de dato.	</a:t>
            </a:r>
          </a:p>
          <a:p>
            <a:pPr marL="0" marR="0" lvl="0" indent="0" algn="just" defTabSz="914400" rtl="0" eaLnBrk="1" fontAlgn="base" latinLnBrk="0" hangingPunct="1">
              <a:lnSpc>
                <a:spcPct val="150000"/>
              </a:lnSpc>
              <a:spcBef>
                <a:spcPct val="0"/>
              </a:spcBef>
              <a:spcAft>
                <a:spcPct val="0"/>
              </a:spcAft>
              <a:buClrTx/>
              <a:buSzTx/>
              <a:buFontTx/>
              <a:buNone/>
              <a:tabLst/>
              <a:defRPr/>
            </a:pPr>
            <a:r>
              <a:rPr kumimoji="0" lang="es-MX" sz="2000" b="0" i="0" u="none" strike="noStrike" kern="1200" cap="none" spc="0" normalizeH="0" baseline="0" noProof="0" dirty="0">
                <a:ln>
                  <a:noFill/>
                </a:ln>
                <a:solidFill>
                  <a:srgbClr val="000000"/>
                </a:solidFill>
                <a:effectLst/>
                <a:uLnTx/>
                <a:uFillTx/>
                <a:latin typeface="Verdana" pitchFamily="34" charset="0"/>
                <a:ea typeface="Arial Unicode MS" panose="020B0604020202020204" pitchFamily="34" charset="-128"/>
                <a:cs typeface="Arial Unicode MS" panose="020B0604020202020204" pitchFamily="34" charset="-128"/>
              </a:rPr>
              <a:t>	</a:t>
            </a:r>
            <a:r>
              <a:rPr kumimoji="0" lang="es-MX" sz="2000" b="1" i="0" u="none" strike="noStrike" kern="1200" cap="none" spc="0" normalizeH="0" baseline="0" noProof="0" dirty="0" err="1">
                <a:ln>
                  <a:noFill/>
                </a:ln>
                <a:solidFill>
                  <a:srgbClr val="000000"/>
                </a:solidFill>
                <a:effectLst/>
                <a:uLnTx/>
                <a:uFillTx/>
                <a:latin typeface="Courier New" panose="02070309020205020404" pitchFamily="49" charset="0"/>
                <a:ea typeface="Arial Unicode MS" panose="020B0604020202020204" pitchFamily="34" charset="-128"/>
                <a:cs typeface="Arial Unicode MS" panose="020B0604020202020204" pitchFamily="34" charset="-128"/>
              </a:rPr>
              <a:t>int</a:t>
            </a:r>
            <a:r>
              <a:rPr kumimoji="0" lang="es-MX" sz="2000" b="0" i="0" u="none" strike="noStrike" kern="1200" cap="none" spc="0" normalizeH="0" baseline="0" noProof="0" dirty="0">
                <a:ln>
                  <a:noFill/>
                </a:ln>
                <a:solidFill>
                  <a:srgbClr val="000000"/>
                </a:solidFill>
                <a:effectLst/>
                <a:uLnTx/>
                <a:uFillTx/>
                <a:latin typeface="Courier New" panose="02070309020205020404" pitchFamily="49" charset="0"/>
                <a:ea typeface="Arial Unicode MS" panose="020B0604020202020204" pitchFamily="34" charset="-128"/>
                <a:cs typeface="Arial Unicode MS" panose="020B0604020202020204" pitchFamily="34" charset="-128"/>
              </a:rPr>
              <a:t> x;	</a:t>
            </a:r>
            <a:r>
              <a:rPr kumimoji="0" lang="es-MX" sz="2000" b="1" i="0" u="none" strike="noStrike" kern="1200" cap="none" spc="0" normalizeH="0" baseline="0" noProof="0" dirty="0" err="1">
                <a:ln>
                  <a:noFill/>
                </a:ln>
                <a:solidFill>
                  <a:srgbClr val="000000"/>
                </a:solidFill>
                <a:effectLst/>
                <a:uLnTx/>
                <a:uFillTx/>
                <a:latin typeface="Courier New" panose="02070309020205020404" pitchFamily="49" charset="0"/>
                <a:ea typeface="Arial Unicode MS" panose="020B0604020202020204" pitchFamily="34" charset="-128"/>
                <a:cs typeface="Arial Unicode MS" panose="020B0604020202020204" pitchFamily="34" charset="-128"/>
              </a:rPr>
              <a:t>char</a:t>
            </a:r>
            <a:r>
              <a:rPr kumimoji="0" lang="es-MX" sz="2000" b="0" i="0" u="none" strike="noStrike" kern="1200" cap="none" spc="0" normalizeH="0" baseline="0" noProof="0" dirty="0">
                <a:ln>
                  <a:noFill/>
                </a:ln>
                <a:solidFill>
                  <a:srgbClr val="000000"/>
                </a:solidFill>
                <a:effectLst/>
                <a:uLnTx/>
                <a:uFillTx/>
                <a:latin typeface="Courier New" panose="02070309020205020404" pitchFamily="49" charset="0"/>
                <a:ea typeface="Arial Unicode MS" panose="020B0604020202020204" pitchFamily="34" charset="-128"/>
                <a:cs typeface="Arial Unicode MS" panose="020B0604020202020204" pitchFamily="34" charset="-128"/>
              </a:rPr>
              <a:t> c;	</a:t>
            </a:r>
            <a:r>
              <a:rPr kumimoji="0" lang="es-MX" sz="2000" b="1" i="0" u="none" strike="noStrike" kern="1200" cap="none" spc="0" normalizeH="0" baseline="0" noProof="0" dirty="0" err="1">
                <a:ln>
                  <a:noFill/>
                </a:ln>
                <a:solidFill>
                  <a:srgbClr val="000000"/>
                </a:solidFill>
                <a:effectLst/>
                <a:uLnTx/>
                <a:uFillTx/>
                <a:latin typeface="Courier New" panose="02070309020205020404" pitchFamily="49" charset="0"/>
                <a:ea typeface="Arial Unicode MS" panose="020B0604020202020204" pitchFamily="34" charset="-128"/>
                <a:cs typeface="Arial Unicode MS" panose="020B0604020202020204" pitchFamily="34" charset="-128"/>
              </a:rPr>
              <a:t>float</a:t>
            </a:r>
            <a:r>
              <a:rPr kumimoji="0" lang="es-MX" sz="2000" b="0" i="0" u="none" strike="noStrike" kern="1200" cap="none" spc="0" normalizeH="0" baseline="0" noProof="0" dirty="0">
                <a:ln>
                  <a:noFill/>
                </a:ln>
                <a:solidFill>
                  <a:srgbClr val="000000"/>
                </a:solidFill>
                <a:effectLst/>
                <a:uLnTx/>
                <a:uFillTx/>
                <a:latin typeface="Courier New" panose="02070309020205020404" pitchFamily="49" charset="0"/>
                <a:ea typeface="Arial Unicode MS" panose="020B0604020202020204" pitchFamily="34" charset="-128"/>
                <a:cs typeface="Arial Unicode MS" panose="020B0604020202020204" pitchFamily="34" charset="-128"/>
              </a:rPr>
              <a:t> f;</a:t>
            </a:r>
          </a:p>
          <a:p>
            <a:pPr marL="0" marR="0" lvl="0" indent="0" algn="just" defTabSz="914400" rtl="0" eaLnBrk="1" fontAlgn="base" latinLnBrk="0" hangingPunct="1">
              <a:lnSpc>
                <a:spcPct val="150000"/>
              </a:lnSpc>
              <a:spcBef>
                <a:spcPct val="0"/>
              </a:spcBef>
              <a:spcAft>
                <a:spcPct val="0"/>
              </a:spcAft>
              <a:buClrTx/>
              <a:buSzTx/>
              <a:buFontTx/>
              <a:buNone/>
              <a:tabLst/>
              <a:defRPr/>
            </a:pPr>
            <a:endParaRPr lang="es-MX" sz="2000" dirty="0">
              <a:solidFill>
                <a:srgbClr val="000000"/>
              </a:solidFill>
              <a:latin typeface="Courier New" panose="02070309020205020404" pitchFamily="49" charset="0"/>
              <a:ea typeface="Arial Unicode MS" panose="020B0604020202020204" pitchFamily="34" charset="-128"/>
              <a:cs typeface="Arial Unicode MS" panose="020B0604020202020204" pitchFamily="34" charset="-128"/>
            </a:endParaRPr>
          </a:p>
          <a:p>
            <a:pPr marL="0" marR="0" lvl="0" indent="0" algn="just" defTabSz="914400" rtl="0" eaLnBrk="1" fontAlgn="base" latinLnBrk="0" hangingPunct="1">
              <a:lnSpc>
                <a:spcPct val="150000"/>
              </a:lnSpc>
              <a:spcBef>
                <a:spcPct val="0"/>
              </a:spcBef>
              <a:spcAft>
                <a:spcPct val="0"/>
              </a:spcAft>
              <a:buClrTx/>
              <a:buSzTx/>
              <a:buFontTx/>
              <a:buNone/>
              <a:tabLst/>
              <a:defRPr/>
            </a:pPr>
            <a:endParaRPr kumimoji="0" lang="es-MX" sz="2000" b="0" i="0" u="none" strike="noStrike" kern="1200" cap="none" spc="0" normalizeH="0" baseline="0" noProof="0" dirty="0">
              <a:ln>
                <a:noFill/>
              </a:ln>
              <a:solidFill>
                <a:srgbClr val="000000"/>
              </a:solidFill>
              <a:effectLst/>
              <a:uLnTx/>
              <a:uFillTx/>
              <a:latin typeface="Courier New" panose="02070309020205020404" pitchFamily="49" charset="0"/>
              <a:ea typeface="Arial Unicode MS" panose="020B0604020202020204" pitchFamily="34" charset="-128"/>
              <a:cs typeface="Arial Unicode MS" panose="020B0604020202020204" pitchFamily="34" charset="-128"/>
            </a:endParaRPr>
          </a:p>
          <a:p>
            <a:pPr marL="0" marR="0" lvl="0" indent="0" algn="just" defTabSz="914400" rtl="0" eaLnBrk="1" fontAlgn="base" latinLnBrk="0" hangingPunct="1">
              <a:lnSpc>
                <a:spcPct val="150000"/>
              </a:lnSpc>
              <a:spcBef>
                <a:spcPct val="0"/>
              </a:spcBef>
              <a:spcAft>
                <a:spcPct val="0"/>
              </a:spcAft>
              <a:buClrTx/>
              <a:buSzTx/>
              <a:buFontTx/>
              <a:buNone/>
              <a:tabLst/>
              <a:defRPr/>
            </a:pPr>
            <a:r>
              <a:rPr kumimoji="0" lang="es-MX" sz="2000" b="0" i="0" u="none" strike="noStrike" kern="1200" cap="none" spc="0" normalizeH="0" baseline="0" noProof="0" dirty="0">
                <a:ln>
                  <a:noFill/>
                </a:ln>
                <a:solidFill>
                  <a:srgbClr val="000000"/>
                </a:solidFill>
                <a:effectLst/>
                <a:uLnTx/>
                <a:uFillTx/>
                <a:latin typeface="Verdana" pitchFamily="34" charset="0"/>
                <a:ea typeface="Arial Unicode MS" panose="020B0604020202020204" pitchFamily="34" charset="-128"/>
                <a:cs typeface="Arial Unicode MS" panose="020B0604020202020204" pitchFamily="34" charset="-128"/>
              </a:rPr>
              <a:t>Las relaciones entregan siempre valores correspondientes al tipo de dato lógico (verdadero o falso). Las relaciones entre tipos deben ser consistentes.</a:t>
            </a:r>
            <a:endParaRPr kumimoji="0" lang="es-MX" sz="2000" b="0" i="0" u="none" strike="noStrike" kern="1200" cap="none" spc="0" normalizeH="0" baseline="0" noProof="0" dirty="0">
              <a:ln>
                <a:noFill/>
              </a:ln>
              <a:solidFill>
                <a:srgbClr val="000000"/>
              </a:solidFill>
              <a:effectLst/>
              <a:uLnTx/>
              <a:uFillTx/>
              <a:latin typeface="Verdana" pitchFamily="34" charset="0"/>
              <a:ea typeface="+mn-ea"/>
              <a:cs typeface="+mn-cs"/>
            </a:endParaRPr>
          </a:p>
        </p:txBody>
      </p:sp>
    </p:spTree>
    <p:extLst>
      <p:ext uri="{BB962C8B-B14F-4D97-AF65-F5344CB8AC3E}">
        <p14:creationId xmlns:p14="http://schemas.microsoft.com/office/powerpoint/2010/main" val="42901076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6465C83A-2F95-4E4E-9DE8-E4F4E9F80476}"/>
              </a:ext>
            </a:extLst>
          </p:cNvPr>
          <p:cNvSpPr>
            <a:spLocks noChangeArrowheads="1"/>
          </p:cNvSpPr>
          <p:nvPr/>
        </p:nvSpPr>
        <p:spPr bwMode="auto">
          <a:xfrm>
            <a:off x="381001" y="426584"/>
            <a:ext cx="5329238" cy="488950"/>
          </a:xfrm>
          <a:prstGeom prst="rect">
            <a:avLst/>
          </a:prstGeom>
          <a:noFill/>
          <a:ln w="9525">
            <a:noFill/>
            <a:miter lim="800000"/>
            <a:headEnd/>
            <a:tailE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ES" sz="2600" b="1" i="0" u="none" strike="noStrike" kern="1200" cap="none" spc="0" normalizeH="0" baseline="0" noProof="0" dirty="0">
                <a:ln>
                  <a:noFill/>
                </a:ln>
                <a:solidFill>
                  <a:srgbClr val="0099A8"/>
                </a:solidFill>
                <a:effectLst/>
                <a:uLnTx/>
                <a:uFillTx/>
                <a:latin typeface="Arial" charset="0"/>
                <a:ea typeface="+mn-ea"/>
                <a:cs typeface="+mn-cs"/>
              </a:rPr>
              <a:t>Tipos de datos</a:t>
            </a:r>
          </a:p>
        </p:txBody>
      </p:sp>
      <p:sp>
        <p:nvSpPr>
          <p:cNvPr id="5" name="Rectangle 9">
            <a:extLst>
              <a:ext uri="{FF2B5EF4-FFF2-40B4-BE49-F238E27FC236}">
                <a16:creationId xmlns:a16="http://schemas.microsoft.com/office/drawing/2014/main" id="{BE917398-3809-4F06-A3ED-B44809F47457}"/>
              </a:ext>
            </a:extLst>
          </p:cNvPr>
          <p:cNvSpPr>
            <a:spLocks noChangeArrowheads="1"/>
          </p:cNvSpPr>
          <p:nvPr/>
        </p:nvSpPr>
        <p:spPr bwMode="auto">
          <a:xfrm>
            <a:off x="381001" y="1462308"/>
            <a:ext cx="10898377" cy="1966692"/>
          </a:xfrm>
          <a:prstGeom prst="rect">
            <a:avLst/>
          </a:prstGeom>
          <a:noFill/>
          <a:ln w="9525">
            <a:noFill/>
            <a:miter lim="800000"/>
            <a:headEnd/>
            <a:tailEnd/>
          </a:ln>
          <a:effectLst/>
        </p:spPr>
        <p:txBody>
          <a:bodyPr wrap="square" lIns="228528" bIns="0" anchor="ctr">
            <a:spAutoFit/>
          </a:bodyPr>
          <a:lstStyle/>
          <a:p>
            <a:pPr marL="0" marR="0" lvl="0" indent="0" algn="just" defTabSz="914400" rtl="0" eaLnBrk="1" fontAlgn="base" latinLnBrk="0" hangingPunct="1">
              <a:lnSpc>
                <a:spcPct val="130000"/>
              </a:lnSpc>
              <a:spcBef>
                <a:spcPct val="0"/>
              </a:spcBef>
              <a:spcAft>
                <a:spcPct val="0"/>
              </a:spcAft>
              <a:buClrTx/>
              <a:buSzTx/>
              <a:buFontTx/>
              <a:buNone/>
              <a:tabLst/>
              <a:defRPr/>
            </a:pPr>
            <a:r>
              <a:rPr kumimoji="0" lang="es-MX" sz="2400" b="0" i="0" u="none" strike="noStrike" kern="1200" cap="none" spc="0" normalizeH="0" baseline="0" noProof="0" dirty="0">
                <a:ln>
                  <a:noFill/>
                </a:ln>
                <a:solidFill>
                  <a:srgbClr val="000000"/>
                </a:solidFill>
                <a:effectLst/>
                <a:uLnTx/>
                <a:uFillTx/>
                <a:latin typeface="Verdana" pitchFamily="34" charset="0"/>
                <a:ea typeface="+mn-ea"/>
                <a:cs typeface="Arial" panose="020B0604020202020204" pitchFamily="34" charset="0"/>
              </a:rPr>
              <a:t>Un tipo de dato determina el conjunto de valores que puede tomar una constante, una variable o una expresión; y el tamaño que ocupará en memoria.</a:t>
            </a:r>
          </a:p>
          <a:p>
            <a:pPr marL="342900" marR="0" lvl="0" indent="-342900" algn="just" defTabSz="914400" rtl="0" eaLnBrk="0" fontAlgn="base" latinLnBrk="0" hangingPunct="0">
              <a:lnSpc>
                <a:spcPct val="130000"/>
              </a:lnSpc>
              <a:spcBef>
                <a:spcPct val="0"/>
              </a:spcBef>
              <a:spcAft>
                <a:spcPct val="0"/>
              </a:spcAft>
              <a:buClrTx/>
              <a:buSzTx/>
              <a:buFont typeface="Wingdings" panose="05000000000000000000" pitchFamily="2" charset="2"/>
              <a:buChar char="q"/>
              <a:tabLst/>
              <a:defRPr/>
            </a:pPr>
            <a:endParaRPr kumimoji="0" lang="es-MX" sz="2400" b="0" i="0" u="none" strike="noStrike" kern="1200" cap="none" spc="0" normalizeH="0" baseline="0" noProof="0" dirty="0">
              <a:ln>
                <a:noFill/>
              </a:ln>
              <a:solidFill>
                <a:srgbClr val="000000"/>
              </a:solidFill>
              <a:effectLst/>
              <a:uLnTx/>
              <a:uFillTx/>
              <a:latin typeface="Verdana" pitchFamily="34" charset="0"/>
              <a:ea typeface="+mn-ea"/>
              <a:cs typeface="+mn-cs"/>
            </a:endParaRPr>
          </a:p>
        </p:txBody>
      </p:sp>
      <p:pic>
        <p:nvPicPr>
          <p:cNvPr id="6" name="Imagen 5">
            <a:extLst>
              <a:ext uri="{FF2B5EF4-FFF2-40B4-BE49-F238E27FC236}">
                <a16:creationId xmlns:a16="http://schemas.microsoft.com/office/drawing/2014/main" id="{38962CE8-2EF5-405B-997D-C36561877039}"/>
              </a:ext>
            </a:extLst>
          </p:cNvPr>
          <p:cNvPicPr>
            <a:picLocks noChangeAspect="1"/>
          </p:cNvPicPr>
          <p:nvPr/>
        </p:nvPicPr>
        <p:blipFill>
          <a:blip r:embed="rId2"/>
          <a:stretch>
            <a:fillRect/>
          </a:stretch>
        </p:blipFill>
        <p:spPr>
          <a:xfrm>
            <a:off x="3967554" y="3429000"/>
            <a:ext cx="3725269" cy="2827082"/>
          </a:xfrm>
          <a:prstGeom prst="rect">
            <a:avLst/>
          </a:prstGeom>
        </p:spPr>
      </p:pic>
    </p:spTree>
    <p:extLst>
      <p:ext uri="{BB962C8B-B14F-4D97-AF65-F5344CB8AC3E}">
        <p14:creationId xmlns:p14="http://schemas.microsoft.com/office/powerpoint/2010/main" val="10805488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231">
            <a:extLst>
              <a:ext uri="{FF2B5EF4-FFF2-40B4-BE49-F238E27FC236}">
                <a16:creationId xmlns:a16="http://schemas.microsoft.com/office/drawing/2014/main" id="{8229E566-C585-442B-B7F8-D7FD1B1C6F05}"/>
              </a:ext>
            </a:extLst>
          </p:cNvPr>
          <p:cNvGraphicFramePr>
            <a:graphicFrameLocks noChangeAspect="1"/>
          </p:cNvGraphicFramePr>
          <p:nvPr>
            <p:extLst>
              <p:ext uri="{D42A27DB-BD31-4B8C-83A1-F6EECF244321}">
                <p14:modId xmlns:p14="http://schemas.microsoft.com/office/powerpoint/2010/main" val="473334100"/>
              </p:ext>
            </p:extLst>
          </p:nvPr>
        </p:nvGraphicFramePr>
        <p:xfrm>
          <a:off x="72755" y="1138334"/>
          <a:ext cx="12081923" cy="7514515"/>
        </p:xfrm>
        <a:graphic>
          <a:graphicData uri="http://schemas.openxmlformats.org/presentationml/2006/ole">
            <mc:AlternateContent xmlns:mc="http://schemas.openxmlformats.org/markup-compatibility/2006">
              <mc:Choice xmlns:v="urn:schemas-microsoft-com:vml" Requires="v">
                <p:oleObj spid="_x0000_s1034" name="Document" r:id="rId3" imgW="7715153" imgH="4048181" progId="Word.Document.8">
                  <p:embed/>
                </p:oleObj>
              </mc:Choice>
              <mc:Fallback>
                <p:oleObj name="Document" r:id="rId3" imgW="7715153" imgH="4048181" progId="Word.Document.8">
                  <p:embed/>
                  <p:pic>
                    <p:nvPicPr>
                      <p:cNvPr id="4" name="Object 231"/>
                      <p:cNvPicPr>
                        <a:picLocks noChangeAspect="1" noChangeArrowheads="1"/>
                      </p:cNvPicPr>
                      <p:nvPr/>
                    </p:nvPicPr>
                    <p:blipFill>
                      <a:blip r:embed="rId4"/>
                      <a:srcRect/>
                      <a:stretch>
                        <a:fillRect/>
                      </a:stretch>
                    </p:blipFill>
                    <p:spPr bwMode="auto">
                      <a:xfrm>
                        <a:off x="72755" y="1138334"/>
                        <a:ext cx="12081923" cy="7514515"/>
                      </a:xfrm>
                      <a:prstGeom prst="rect">
                        <a:avLst/>
                      </a:prstGeom>
                      <a:noFill/>
                      <a:ln>
                        <a:noFill/>
                      </a:ln>
                      <a:effectLst/>
                      <a:extLst/>
                    </p:spPr>
                  </p:pic>
                </p:oleObj>
              </mc:Fallback>
            </mc:AlternateContent>
          </a:graphicData>
        </a:graphic>
      </p:graphicFrame>
      <p:sp>
        <p:nvSpPr>
          <p:cNvPr id="3" name="Rectangle 4">
            <a:extLst>
              <a:ext uri="{FF2B5EF4-FFF2-40B4-BE49-F238E27FC236}">
                <a16:creationId xmlns:a16="http://schemas.microsoft.com/office/drawing/2014/main" id="{926B4E83-3BE1-40C7-8A2D-FDC359F1D3FF}"/>
              </a:ext>
            </a:extLst>
          </p:cNvPr>
          <p:cNvSpPr>
            <a:spLocks noChangeArrowheads="1"/>
          </p:cNvSpPr>
          <p:nvPr/>
        </p:nvSpPr>
        <p:spPr bwMode="auto">
          <a:xfrm>
            <a:off x="381001" y="426584"/>
            <a:ext cx="5329238" cy="488950"/>
          </a:xfrm>
          <a:prstGeom prst="rect">
            <a:avLst/>
          </a:prstGeom>
          <a:noFill/>
          <a:ln w="9525">
            <a:noFill/>
            <a:miter lim="800000"/>
            <a:headEnd/>
            <a:tailE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ES" sz="2600" b="1" i="0" u="none" strike="noStrike" kern="1200" cap="none" spc="0" normalizeH="0" baseline="0" noProof="0" dirty="0">
                <a:ln>
                  <a:noFill/>
                </a:ln>
                <a:solidFill>
                  <a:srgbClr val="0099A8"/>
                </a:solidFill>
                <a:effectLst/>
                <a:uLnTx/>
                <a:uFillTx/>
                <a:latin typeface="Arial" charset="0"/>
                <a:ea typeface="+mn-ea"/>
                <a:cs typeface="+mn-cs"/>
              </a:rPr>
              <a:t>Tipos de datos</a:t>
            </a:r>
          </a:p>
        </p:txBody>
      </p:sp>
    </p:spTree>
    <p:extLst>
      <p:ext uri="{BB962C8B-B14F-4D97-AF65-F5344CB8AC3E}">
        <p14:creationId xmlns:p14="http://schemas.microsoft.com/office/powerpoint/2010/main" val="6850425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6465C83A-2F95-4E4E-9DE8-E4F4E9F80476}"/>
              </a:ext>
            </a:extLst>
          </p:cNvPr>
          <p:cNvSpPr>
            <a:spLocks noChangeArrowheads="1"/>
          </p:cNvSpPr>
          <p:nvPr/>
        </p:nvSpPr>
        <p:spPr bwMode="auto">
          <a:xfrm>
            <a:off x="381001" y="426584"/>
            <a:ext cx="5329238" cy="488950"/>
          </a:xfrm>
          <a:prstGeom prst="rect">
            <a:avLst/>
          </a:prstGeom>
          <a:noFill/>
          <a:ln w="9525">
            <a:noFill/>
            <a:miter lim="800000"/>
            <a:headEnd/>
            <a:tailE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ES" sz="2600" b="1" i="0" u="none" strike="noStrike" kern="1200" cap="none" spc="0" normalizeH="0" baseline="0" noProof="0" dirty="0">
                <a:ln>
                  <a:noFill/>
                </a:ln>
                <a:solidFill>
                  <a:srgbClr val="0099A8"/>
                </a:solidFill>
                <a:effectLst/>
                <a:uLnTx/>
                <a:uFillTx/>
                <a:latin typeface="Arial" charset="0"/>
                <a:ea typeface="+mn-ea"/>
                <a:cs typeface="+mn-cs"/>
              </a:rPr>
              <a:t>Tipos de datos</a:t>
            </a:r>
          </a:p>
        </p:txBody>
      </p:sp>
      <p:sp>
        <p:nvSpPr>
          <p:cNvPr id="7" name="Rectangle 9">
            <a:extLst>
              <a:ext uri="{FF2B5EF4-FFF2-40B4-BE49-F238E27FC236}">
                <a16:creationId xmlns:a16="http://schemas.microsoft.com/office/drawing/2014/main" id="{4D5191F2-E5BE-4692-828D-1ACE9140E8B9}"/>
              </a:ext>
            </a:extLst>
          </p:cNvPr>
          <p:cNvSpPr>
            <a:spLocks noChangeArrowheads="1"/>
          </p:cNvSpPr>
          <p:nvPr/>
        </p:nvSpPr>
        <p:spPr bwMode="auto">
          <a:xfrm>
            <a:off x="381001" y="1152992"/>
            <a:ext cx="11105804" cy="4552015"/>
          </a:xfrm>
          <a:prstGeom prst="rect">
            <a:avLst/>
          </a:prstGeom>
          <a:noFill/>
          <a:ln w="9525">
            <a:noFill/>
            <a:miter lim="800000"/>
            <a:headEnd/>
            <a:tailEnd/>
          </a:ln>
          <a:effectLst/>
        </p:spPr>
        <p:txBody>
          <a:bodyPr wrap="square" lIns="228528" bIns="0" anchor="ctr">
            <a:spAutoFit/>
          </a:bodyPr>
          <a:lstStyle/>
          <a:p>
            <a:pPr marL="0" marR="0" lvl="0" indent="0" algn="just" defTabSz="914400" rtl="0" eaLnBrk="0" fontAlgn="base" latinLnBrk="0" hangingPunct="0">
              <a:lnSpc>
                <a:spcPct val="130000"/>
              </a:lnSpc>
              <a:spcBef>
                <a:spcPct val="0"/>
              </a:spcBef>
              <a:spcAft>
                <a:spcPct val="0"/>
              </a:spcAft>
              <a:buClrTx/>
              <a:buSzTx/>
              <a:buFontTx/>
              <a:buNone/>
              <a:tabLst/>
              <a:defRPr/>
            </a:pPr>
            <a:r>
              <a:rPr kumimoji="0" lang="es-MX" sz="2400" b="0" i="0" u="none" strike="noStrike" kern="1200" cap="none" spc="0" normalizeH="0" baseline="0" noProof="0" dirty="0">
                <a:ln>
                  <a:noFill/>
                </a:ln>
                <a:solidFill>
                  <a:srgbClr val="000000"/>
                </a:solidFill>
                <a:effectLst/>
                <a:uLnTx/>
                <a:uFillTx/>
                <a:latin typeface="Verdana" pitchFamily="34" charset="0"/>
                <a:ea typeface="+mn-ea"/>
                <a:cs typeface="Arial" panose="020B0604020202020204" pitchFamily="34" charset="0"/>
              </a:rPr>
              <a:t>El tipo de datos de una constante, variable o expresión puede deducirse de su declaración, sin necesidad de ejecutar ningún proceso.</a:t>
            </a:r>
          </a:p>
          <a:p>
            <a:pPr marL="0" marR="0" lvl="0" indent="0" algn="just" defTabSz="914400" rtl="0" eaLnBrk="0" fontAlgn="base" latinLnBrk="0" hangingPunct="0">
              <a:lnSpc>
                <a:spcPct val="130000"/>
              </a:lnSpc>
              <a:spcBef>
                <a:spcPct val="0"/>
              </a:spcBef>
              <a:spcAft>
                <a:spcPct val="0"/>
              </a:spcAft>
              <a:buClrTx/>
              <a:buSzTx/>
              <a:buFontTx/>
              <a:buNone/>
              <a:tabLst/>
              <a:defRPr/>
            </a:pPr>
            <a:endParaRPr kumimoji="0" lang="es-MX" sz="2400" b="0" i="0" u="none" strike="noStrike" kern="1200" cap="none" spc="0" normalizeH="0" baseline="0" noProof="0" dirty="0">
              <a:ln>
                <a:noFill/>
              </a:ln>
              <a:solidFill>
                <a:srgbClr val="000000"/>
              </a:solidFill>
              <a:effectLst/>
              <a:uLnTx/>
              <a:uFillTx/>
              <a:latin typeface="Verdana" pitchFamily="34" charset="0"/>
              <a:ea typeface="+mn-ea"/>
              <a:cs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s-MX" sz="2400" b="0" i="0" u="none" strike="noStrike" kern="1200" cap="none" spc="0" normalizeH="0" baseline="0" noProof="0" dirty="0" err="1">
                <a:ln>
                  <a:noFill/>
                </a:ln>
                <a:solidFill>
                  <a:srgbClr val="000000"/>
                </a:solidFill>
                <a:effectLst/>
                <a:uLnTx/>
                <a:uFillTx/>
                <a:latin typeface="Courier New" panose="02070309020205020404" pitchFamily="49" charset="0"/>
                <a:ea typeface="+mn-ea"/>
                <a:cs typeface="Courier New" panose="02070309020205020404" pitchFamily="49" charset="0"/>
              </a:rPr>
              <a:t>int</a:t>
            </a:r>
            <a:r>
              <a:rPr kumimoji="0" lang="es-MX" sz="2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 edad;</a:t>
            </a:r>
          </a:p>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s-MX" sz="2400" b="0" i="0" u="none" strike="noStrike" kern="1200" cap="none" spc="0" normalizeH="0" baseline="0" noProof="0" dirty="0" err="1">
                <a:ln>
                  <a:noFill/>
                </a:ln>
                <a:solidFill>
                  <a:srgbClr val="000000"/>
                </a:solidFill>
                <a:effectLst/>
                <a:uLnTx/>
                <a:uFillTx/>
                <a:latin typeface="Courier New" panose="02070309020205020404" pitchFamily="49" charset="0"/>
                <a:ea typeface="+mn-ea"/>
                <a:cs typeface="Courier New" panose="02070309020205020404" pitchFamily="49" charset="0"/>
              </a:rPr>
              <a:t>float</a:t>
            </a:r>
            <a:r>
              <a:rPr kumimoji="0" lang="es-MX" sz="2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 estatura;</a:t>
            </a:r>
          </a:p>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s-MX" sz="2400" b="0" i="0" u="none" strike="noStrike" kern="1200" cap="none" spc="0" normalizeH="0" baseline="0" noProof="0" dirty="0" err="1">
                <a:ln>
                  <a:noFill/>
                </a:ln>
                <a:solidFill>
                  <a:srgbClr val="000000"/>
                </a:solidFill>
                <a:effectLst/>
                <a:uLnTx/>
                <a:uFillTx/>
                <a:latin typeface="Courier New" panose="02070309020205020404" pitchFamily="49" charset="0"/>
                <a:ea typeface="+mn-ea"/>
                <a:cs typeface="Courier New" panose="02070309020205020404" pitchFamily="49" charset="0"/>
              </a:rPr>
              <a:t>char</a:t>
            </a:r>
            <a:r>
              <a:rPr kumimoji="0" lang="es-MX" sz="2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 inicial;</a:t>
            </a:r>
          </a:p>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s-MX" sz="2400" b="0" i="0" u="none" strike="noStrike" kern="1200" cap="none" spc="0" normalizeH="0" baseline="0" noProof="0" dirty="0" err="1">
                <a:ln>
                  <a:noFill/>
                </a:ln>
                <a:solidFill>
                  <a:srgbClr val="000000"/>
                </a:solidFill>
                <a:effectLst/>
                <a:uLnTx/>
                <a:uFillTx/>
                <a:latin typeface="Courier New" panose="02070309020205020404" pitchFamily="49" charset="0"/>
                <a:ea typeface="+mn-ea"/>
                <a:cs typeface="Courier New" panose="02070309020205020404" pitchFamily="49" charset="0"/>
              </a:rPr>
              <a:t>bool</a:t>
            </a:r>
            <a:r>
              <a:rPr kumimoji="0" lang="es-MX" sz="2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 sexo;</a:t>
            </a:r>
          </a:p>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s-MX" sz="2400" b="0" i="0" u="none" strike="noStrike" kern="1200" cap="none" spc="0" normalizeH="0" baseline="0" noProof="0" dirty="0" err="1">
                <a:ln>
                  <a:noFill/>
                </a:ln>
                <a:solidFill>
                  <a:srgbClr val="000000"/>
                </a:solidFill>
                <a:effectLst/>
                <a:uLnTx/>
                <a:uFillTx/>
                <a:latin typeface="Courier New" panose="02070309020205020404" pitchFamily="49" charset="0"/>
                <a:ea typeface="+mn-ea"/>
                <a:cs typeface="Courier New" panose="02070309020205020404" pitchFamily="49" charset="0"/>
              </a:rPr>
              <a:t>double</a:t>
            </a:r>
            <a:r>
              <a:rPr kumimoji="0" lang="es-MX" sz="2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 longitud;</a:t>
            </a:r>
          </a:p>
          <a:p>
            <a:pPr marL="0" marR="0" lvl="0" indent="0" algn="just" defTabSz="914400" rtl="0" eaLnBrk="0" fontAlgn="base" latinLnBrk="0" hangingPunct="0">
              <a:lnSpc>
                <a:spcPct val="100000"/>
              </a:lnSpc>
              <a:spcBef>
                <a:spcPct val="0"/>
              </a:spcBef>
              <a:spcAft>
                <a:spcPct val="0"/>
              </a:spcAft>
              <a:buClrTx/>
              <a:buSzTx/>
              <a:buFontTx/>
              <a:buNone/>
              <a:tabLst/>
              <a:defRPr/>
            </a:pPr>
            <a:endParaRPr kumimoji="0" lang="es-MX" sz="2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endParaRPr>
          </a:p>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s-MX" sz="2400" b="0" i="0" u="none" strike="noStrike" kern="1200" cap="none" spc="0" normalizeH="0" baseline="0" noProof="0" dirty="0">
                <a:ln>
                  <a:noFill/>
                </a:ln>
                <a:solidFill>
                  <a:srgbClr val="000000"/>
                </a:solidFill>
                <a:effectLst/>
                <a:uLnTx/>
                <a:uFillTx/>
                <a:latin typeface="Verdana"/>
                <a:ea typeface="+mn-ea"/>
                <a:cs typeface="Courier New" panose="02070309020205020404" pitchFamily="49" charset="0"/>
              </a:rPr>
              <a:t>Otros ejemplos…</a:t>
            </a:r>
          </a:p>
        </p:txBody>
      </p:sp>
    </p:spTree>
    <p:extLst>
      <p:ext uri="{BB962C8B-B14F-4D97-AF65-F5344CB8AC3E}">
        <p14:creationId xmlns:p14="http://schemas.microsoft.com/office/powerpoint/2010/main" val="20683207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6465C83A-2F95-4E4E-9DE8-E4F4E9F80476}"/>
              </a:ext>
            </a:extLst>
          </p:cNvPr>
          <p:cNvSpPr>
            <a:spLocks noChangeArrowheads="1"/>
          </p:cNvSpPr>
          <p:nvPr/>
        </p:nvSpPr>
        <p:spPr bwMode="auto">
          <a:xfrm>
            <a:off x="381001" y="426584"/>
            <a:ext cx="5329238" cy="488950"/>
          </a:xfrm>
          <a:prstGeom prst="rect">
            <a:avLst/>
          </a:prstGeom>
          <a:noFill/>
          <a:ln w="9525">
            <a:noFill/>
            <a:miter lim="800000"/>
            <a:headEnd/>
            <a:tailEnd/>
          </a:ln>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ES" sz="2600" b="1" i="0" u="none" strike="noStrike" kern="1200" cap="none" spc="0" normalizeH="0" baseline="0" noProof="0" dirty="0">
                <a:ln>
                  <a:noFill/>
                </a:ln>
                <a:solidFill>
                  <a:srgbClr val="0099A8"/>
                </a:solidFill>
                <a:effectLst/>
                <a:uLnTx/>
                <a:uFillTx/>
                <a:latin typeface="Arial" charset="0"/>
                <a:ea typeface="+mn-ea"/>
                <a:cs typeface="+mn-cs"/>
              </a:rPr>
              <a:t>Tipos de datos</a:t>
            </a:r>
          </a:p>
        </p:txBody>
      </p:sp>
      <p:sp>
        <p:nvSpPr>
          <p:cNvPr id="4" name="Rectangle 9">
            <a:extLst>
              <a:ext uri="{FF2B5EF4-FFF2-40B4-BE49-F238E27FC236}">
                <a16:creationId xmlns:a16="http://schemas.microsoft.com/office/drawing/2014/main" id="{2958F2B2-E48C-4974-AC84-1935F7C4AC5B}"/>
              </a:ext>
            </a:extLst>
          </p:cNvPr>
          <p:cNvSpPr>
            <a:spLocks noChangeArrowheads="1"/>
          </p:cNvSpPr>
          <p:nvPr/>
        </p:nvSpPr>
        <p:spPr bwMode="auto">
          <a:xfrm>
            <a:off x="412756" y="1218555"/>
            <a:ext cx="10594965" cy="4420890"/>
          </a:xfrm>
          <a:prstGeom prst="rect">
            <a:avLst/>
          </a:prstGeom>
          <a:noFill/>
          <a:ln w="9525">
            <a:noFill/>
            <a:miter lim="800000"/>
            <a:headEnd/>
            <a:tailEnd/>
          </a:ln>
          <a:effectLst/>
        </p:spPr>
        <p:txBody>
          <a:bodyPr wrap="square" lIns="228528" bIns="0" anchor="ctr">
            <a:spAutoFit/>
          </a:bodyPr>
          <a:lstStyle/>
          <a:p>
            <a:pPr marL="0" marR="0" lvl="0" indent="0" algn="just" defTabSz="914400" rtl="0" eaLnBrk="0" fontAlgn="base" latinLnBrk="0" hangingPunct="0">
              <a:lnSpc>
                <a:spcPct val="130000"/>
              </a:lnSpc>
              <a:spcBef>
                <a:spcPct val="0"/>
              </a:spcBef>
              <a:spcAft>
                <a:spcPct val="0"/>
              </a:spcAft>
              <a:buClrTx/>
              <a:buSzTx/>
              <a:buFontTx/>
              <a:buNone/>
              <a:tabLst/>
              <a:defRPr/>
            </a:pPr>
            <a:r>
              <a:rPr kumimoji="0" lang="es-MX" sz="2200" b="0" i="0" u="none" strike="noStrike" kern="1200" cap="none" spc="0" normalizeH="0" baseline="0" noProof="0" dirty="0">
                <a:ln>
                  <a:noFill/>
                </a:ln>
                <a:solidFill>
                  <a:srgbClr val="000000"/>
                </a:solidFill>
                <a:effectLst/>
                <a:uLnTx/>
                <a:uFillTx/>
                <a:ea typeface="+mn-ea"/>
                <a:cs typeface="Arial" panose="020B0604020202020204" pitchFamily="34" charset="0"/>
              </a:rPr>
              <a:t>Cada operación (operador o función) requiere argumentos </a:t>
            </a:r>
            <a:r>
              <a:rPr kumimoji="0" lang="es-MX" sz="2200" b="0" i="0" u="none" strike="noStrike" kern="1200" cap="none" spc="0" normalizeH="0" baseline="0" noProof="0" dirty="0">
                <a:ln>
                  <a:noFill/>
                </a:ln>
                <a:solidFill>
                  <a:srgbClr val="000000"/>
                </a:solidFill>
                <a:effectLst/>
                <a:uLnTx/>
                <a:uFillTx/>
                <a:ea typeface="+mn-ea"/>
                <a:cs typeface="Times New Roman" panose="02020603050405020304" pitchFamily="18" charset="0"/>
              </a:rPr>
              <a:t>de un determinado tipo y produce resultados de un tipo.</a:t>
            </a:r>
          </a:p>
          <a:p>
            <a:pPr marL="0" marR="0" lvl="0" indent="0" algn="just" defTabSz="914400" rtl="0" eaLnBrk="0" fontAlgn="base" latinLnBrk="0" hangingPunct="0">
              <a:lnSpc>
                <a:spcPct val="130000"/>
              </a:lnSpc>
              <a:spcBef>
                <a:spcPct val="0"/>
              </a:spcBef>
              <a:spcAft>
                <a:spcPct val="0"/>
              </a:spcAft>
              <a:buClrTx/>
              <a:buSzTx/>
              <a:buFontTx/>
              <a:buNone/>
              <a:tabLst/>
              <a:defRPr/>
            </a:pPr>
            <a:endParaRPr kumimoji="0" lang="es-MX" sz="2200" b="0" i="0" u="none" strike="noStrike" kern="1200" cap="none" spc="0" normalizeH="0" baseline="0" noProof="0" dirty="0">
              <a:ln>
                <a:noFill/>
              </a:ln>
              <a:solidFill>
                <a:srgbClr val="000000"/>
              </a:solidFill>
              <a:effectLst/>
              <a:uLnTx/>
              <a:uFillTx/>
              <a:ea typeface="+mn-ea"/>
              <a:cs typeface="Times New Roman" panose="02020603050405020304" pitchFamily="18" charset="0"/>
            </a:endParaRPr>
          </a:p>
          <a:p>
            <a:pPr marL="0" marR="0" lvl="0" indent="0" algn="just" defTabSz="914400" rtl="0" eaLnBrk="0" fontAlgn="base" latinLnBrk="0" hangingPunct="0">
              <a:lnSpc>
                <a:spcPct val="130000"/>
              </a:lnSpc>
              <a:spcBef>
                <a:spcPct val="0"/>
              </a:spcBef>
              <a:spcAft>
                <a:spcPct val="0"/>
              </a:spcAft>
              <a:buClrTx/>
              <a:buSzTx/>
              <a:buFontTx/>
              <a:buNone/>
              <a:tabLst/>
              <a:defRPr/>
            </a:pPr>
            <a:r>
              <a:rPr kumimoji="0" lang="es-MX" sz="2200" b="0" i="0" u="none" strike="noStrike" kern="1200" cap="none" spc="0" normalizeH="0" baseline="0" noProof="0" dirty="0">
                <a:ln>
                  <a:noFill/>
                </a:ln>
                <a:solidFill>
                  <a:srgbClr val="E70000"/>
                </a:solidFill>
                <a:effectLst/>
                <a:uLnTx/>
                <a:uFillTx/>
                <a:ea typeface="+mn-ea"/>
                <a:cs typeface="Times New Roman" panose="02020603050405020304" pitchFamily="18" charset="0"/>
              </a:rPr>
              <a:t>Tipo</a:t>
            </a:r>
            <a:r>
              <a:rPr kumimoji="0" lang="es-MX" sz="2200" b="0" i="0" u="none" strike="noStrike" kern="1200" cap="none" spc="0" normalizeH="0" baseline="0" noProof="0" dirty="0">
                <a:ln>
                  <a:noFill/>
                </a:ln>
                <a:solidFill>
                  <a:srgbClr val="000000"/>
                </a:solidFill>
                <a:effectLst/>
                <a:uLnTx/>
                <a:uFillTx/>
                <a:ea typeface="+mn-ea"/>
                <a:cs typeface="Times New Roman" panose="02020603050405020304" pitchFamily="18" charset="0"/>
              </a:rPr>
              <a:t> = </a:t>
            </a:r>
            <a:r>
              <a:rPr kumimoji="0" lang="es-MX" sz="2200" b="0" i="0" u="none" strike="noStrike" kern="1200" cap="none" spc="0" normalizeH="0" baseline="0" noProof="0" dirty="0">
                <a:ln>
                  <a:noFill/>
                </a:ln>
                <a:solidFill>
                  <a:srgbClr val="E70000"/>
                </a:solidFill>
                <a:effectLst/>
                <a:uLnTx/>
                <a:uFillTx/>
                <a:ea typeface="+mn-ea"/>
                <a:cs typeface="Times New Roman" panose="02020603050405020304" pitchFamily="18" charset="0"/>
              </a:rPr>
              <a:t>Tipo</a:t>
            </a:r>
            <a:r>
              <a:rPr kumimoji="0" lang="es-MX" sz="2200" b="0" i="0" u="none" strike="noStrike" kern="1200" cap="none" spc="0" normalizeH="0" baseline="0" noProof="0" dirty="0">
                <a:ln>
                  <a:noFill/>
                </a:ln>
                <a:solidFill>
                  <a:srgbClr val="000000"/>
                </a:solidFill>
                <a:effectLst/>
                <a:uLnTx/>
                <a:uFillTx/>
                <a:ea typeface="+mn-ea"/>
                <a:cs typeface="Times New Roman" panose="02020603050405020304" pitchFamily="18" charset="0"/>
              </a:rPr>
              <a:t> </a:t>
            </a:r>
            <a:r>
              <a:rPr kumimoji="0" lang="es-MX" sz="2200" b="0" i="1" u="none" strike="noStrike" kern="1200" cap="none" spc="0" normalizeH="0" baseline="0" noProof="0" dirty="0">
                <a:ln>
                  <a:noFill/>
                </a:ln>
                <a:solidFill>
                  <a:srgbClr val="00B050"/>
                </a:solidFill>
                <a:effectLst/>
                <a:uLnTx/>
                <a:uFillTx/>
                <a:ea typeface="+mn-ea"/>
                <a:cs typeface="Times New Roman" panose="02020603050405020304" pitchFamily="18" charset="0"/>
              </a:rPr>
              <a:t>operador</a:t>
            </a:r>
            <a:r>
              <a:rPr kumimoji="0" lang="es-MX" sz="2200" b="0" i="0" u="none" strike="noStrike" kern="1200" cap="none" spc="0" normalizeH="0" baseline="0" noProof="0" dirty="0">
                <a:ln>
                  <a:noFill/>
                </a:ln>
                <a:solidFill>
                  <a:srgbClr val="000000"/>
                </a:solidFill>
                <a:effectLst/>
                <a:uLnTx/>
                <a:uFillTx/>
                <a:ea typeface="+mn-ea"/>
                <a:cs typeface="Times New Roman" panose="02020603050405020304" pitchFamily="18" charset="0"/>
              </a:rPr>
              <a:t> </a:t>
            </a:r>
            <a:r>
              <a:rPr kumimoji="0" lang="es-MX" sz="2200" b="0" i="0" u="none" strike="noStrike" kern="1200" cap="none" spc="0" normalizeH="0" baseline="0" noProof="0" dirty="0">
                <a:ln>
                  <a:noFill/>
                </a:ln>
                <a:solidFill>
                  <a:srgbClr val="E70000"/>
                </a:solidFill>
                <a:effectLst/>
                <a:uLnTx/>
                <a:uFillTx/>
                <a:ea typeface="+mn-ea"/>
                <a:cs typeface="Times New Roman" panose="02020603050405020304" pitchFamily="18" charset="0"/>
              </a:rPr>
              <a:t>Tipo</a:t>
            </a:r>
          </a:p>
          <a:p>
            <a:pPr marL="0" marR="0" lvl="0" indent="0" algn="just" defTabSz="914400" rtl="0" eaLnBrk="0" fontAlgn="base" latinLnBrk="0" hangingPunct="0">
              <a:lnSpc>
                <a:spcPct val="130000"/>
              </a:lnSpc>
              <a:spcBef>
                <a:spcPct val="0"/>
              </a:spcBef>
              <a:spcAft>
                <a:spcPct val="0"/>
              </a:spcAft>
              <a:buClrTx/>
              <a:buSzTx/>
              <a:buFontTx/>
              <a:buNone/>
              <a:tabLst/>
              <a:defRPr/>
            </a:pPr>
            <a:r>
              <a:rPr kumimoji="0" lang="es-MX" sz="2200" b="0" i="0" u="none" strike="noStrike" kern="1200" cap="none" spc="0" normalizeH="0" baseline="0" noProof="0" dirty="0">
                <a:ln>
                  <a:noFill/>
                </a:ln>
                <a:solidFill>
                  <a:srgbClr val="E70000"/>
                </a:solidFill>
                <a:effectLst/>
                <a:uLnTx/>
                <a:uFillTx/>
                <a:ea typeface="+mn-ea"/>
                <a:cs typeface="Times New Roman" panose="02020603050405020304" pitchFamily="18" charset="0"/>
              </a:rPr>
              <a:t>Tipo</a:t>
            </a:r>
            <a:r>
              <a:rPr kumimoji="0" lang="es-MX" sz="2200" b="0" i="0" u="none" strike="noStrike" kern="1200" cap="none" spc="0" normalizeH="0" baseline="0" noProof="0" dirty="0">
                <a:ln>
                  <a:noFill/>
                </a:ln>
                <a:solidFill>
                  <a:srgbClr val="000000"/>
                </a:solidFill>
                <a:effectLst/>
                <a:uLnTx/>
                <a:uFillTx/>
                <a:ea typeface="+mn-ea"/>
                <a:cs typeface="Times New Roman" panose="02020603050405020304" pitchFamily="18" charset="0"/>
              </a:rPr>
              <a:t> = </a:t>
            </a:r>
            <a:r>
              <a:rPr kumimoji="0" lang="es-MX" sz="2200" b="0" i="1" u="none" strike="noStrike" kern="1200" cap="none" spc="0" normalizeH="0" baseline="0" noProof="0" dirty="0">
                <a:ln>
                  <a:noFill/>
                </a:ln>
                <a:solidFill>
                  <a:srgbClr val="00B050"/>
                </a:solidFill>
                <a:effectLst/>
                <a:uLnTx/>
                <a:uFillTx/>
                <a:ea typeface="+mn-ea"/>
                <a:cs typeface="Times New Roman" panose="02020603050405020304" pitchFamily="18" charset="0"/>
              </a:rPr>
              <a:t>subprograma</a:t>
            </a:r>
            <a:r>
              <a:rPr kumimoji="0" lang="es-MX" sz="2200" b="0" i="0" u="none" strike="noStrike" kern="1200" cap="none" spc="0" normalizeH="0" baseline="0" noProof="0" dirty="0">
                <a:ln>
                  <a:noFill/>
                </a:ln>
                <a:solidFill>
                  <a:srgbClr val="E70000"/>
                </a:solidFill>
                <a:effectLst/>
                <a:uLnTx/>
                <a:uFillTx/>
                <a:ea typeface="+mn-ea"/>
                <a:cs typeface="Times New Roman" panose="02020603050405020304" pitchFamily="18" charset="0"/>
              </a:rPr>
              <a:t>(Tipo)</a:t>
            </a:r>
          </a:p>
          <a:p>
            <a:pPr marL="0" marR="0" lvl="0" indent="0" algn="just" defTabSz="914400" rtl="0" eaLnBrk="0" fontAlgn="base" latinLnBrk="0" hangingPunct="0">
              <a:lnSpc>
                <a:spcPct val="130000"/>
              </a:lnSpc>
              <a:spcBef>
                <a:spcPct val="0"/>
              </a:spcBef>
              <a:spcAft>
                <a:spcPct val="0"/>
              </a:spcAft>
              <a:buClrTx/>
              <a:buSzTx/>
              <a:buFontTx/>
              <a:buNone/>
              <a:tabLst/>
              <a:defRPr/>
            </a:pPr>
            <a:endParaRPr kumimoji="0" lang="es-MX" sz="2200" b="0" i="0" u="none" strike="noStrike" kern="1200" cap="none" spc="0" normalizeH="0" baseline="0" noProof="0" dirty="0">
              <a:ln>
                <a:noFill/>
              </a:ln>
              <a:solidFill>
                <a:srgbClr val="E70000"/>
              </a:solidFill>
              <a:effectLst/>
              <a:uLnTx/>
              <a:uFillTx/>
              <a:ea typeface="+mn-ea"/>
              <a:cs typeface="Times New Roman" panose="02020603050405020304" pitchFamily="18" charset="0"/>
            </a:endParaRPr>
          </a:p>
          <a:p>
            <a:pPr marL="0" marR="0" lvl="0" indent="0" algn="just" defTabSz="914400" rtl="0" eaLnBrk="0" fontAlgn="base" latinLnBrk="0" hangingPunct="0">
              <a:lnSpc>
                <a:spcPct val="130000"/>
              </a:lnSpc>
              <a:spcBef>
                <a:spcPct val="0"/>
              </a:spcBef>
              <a:spcAft>
                <a:spcPct val="0"/>
              </a:spcAft>
              <a:buClrTx/>
              <a:buSzTx/>
              <a:buFontTx/>
              <a:buNone/>
              <a:tabLst/>
              <a:defRPr/>
            </a:pPr>
            <a:r>
              <a:rPr kumimoji="0" lang="es-MX" sz="2200" b="0" i="0" u="none" strike="noStrike" kern="1200" cap="none" spc="0" normalizeH="0" baseline="0" noProof="0" dirty="0">
                <a:ln>
                  <a:noFill/>
                </a:ln>
                <a:solidFill>
                  <a:srgbClr val="000000"/>
                </a:solidFill>
                <a:effectLst/>
                <a:uLnTx/>
                <a:uFillTx/>
                <a:ea typeface="+mn-ea"/>
                <a:cs typeface="Times New Roman" panose="02020603050405020304" pitchFamily="18" charset="0"/>
              </a:rPr>
              <a:t>Por ejemplo:</a:t>
            </a:r>
          </a:p>
          <a:p>
            <a:pPr marL="0" marR="0" lvl="0" indent="0" algn="just" defTabSz="914400" rtl="0" eaLnBrk="0" fontAlgn="base" latinLnBrk="0" hangingPunct="0">
              <a:lnSpc>
                <a:spcPct val="130000"/>
              </a:lnSpc>
              <a:spcBef>
                <a:spcPct val="0"/>
              </a:spcBef>
              <a:spcAft>
                <a:spcPct val="0"/>
              </a:spcAft>
              <a:buClrTx/>
              <a:buSzTx/>
              <a:buFontTx/>
              <a:buNone/>
              <a:tabLst/>
              <a:defRPr/>
            </a:pPr>
            <a:r>
              <a:rPr kumimoji="0" lang="es-MX" sz="2200" b="0" i="0" u="none" strike="noStrike" kern="1200" cap="none" spc="0" normalizeH="0" baseline="0" noProof="0" dirty="0" err="1">
                <a:ln>
                  <a:noFill/>
                </a:ln>
                <a:solidFill>
                  <a:srgbClr val="000000"/>
                </a:solidFill>
                <a:effectLst/>
                <a:uLnTx/>
                <a:uFillTx/>
                <a:latin typeface="Courier New" panose="02070309020205020404" pitchFamily="49" charset="0"/>
                <a:ea typeface="+mn-ea"/>
                <a:cs typeface="Courier New" panose="02070309020205020404" pitchFamily="49" charset="0"/>
              </a:rPr>
              <a:t>var</a:t>
            </a:r>
            <a:r>
              <a:rPr kumimoji="0" lang="es-MX" sz="22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=2.36+5;</a:t>
            </a:r>
          </a:p>
          <a:p>
            <a:pPr marL="0" marR="0" lvl="0" indent="0" algn="just" defTabSz="914400" rtl="0" eaLnBrk="0" fontAlgn="base" latinLnBrk="0" hangingPunct="0">
              <a:lnSpc>
                <a:spcPct val="130000"/>
              </a:lnSpc>
              <a:spcBef>
                <a:spcPct val="0"/>
              </a:spcBef>
              <a:spcAft>
                <a:spcPct val="0"/>
              </a:spcAft>
              <a:buClrTx/>
              <a:buSzTx/>
              <a:buFontTx/>
              <a:buNone/>
              <a:tabLst/>
              <a:defRPr/>
            </a:pPr>
            <a:r>
              <a:rPr kumimoji="0" lang="es-MX" sz="2200" b="0" i="0" u="none" strike="noStrike" kern="1200" cap="none" spc="0" normalizeH="0" baseline="0" noProof="0" dirty="0" err="1">
                <a:ln>
                  <a:noFill/>
                </a:ln>
                <a:solidFill>
                  <a:srgbClr val="000000"/>
                </a:solidFill>
                <a:effectLst/>
                <a:uLnTx/>
                <a:uFillTx/>
                <a:latin typeface="Courier New" panose="02070309020205020404" pitchFamily="49" charset="0"/>
                <a:ea typeface="+mn-ea"/>
                <a:cs typeface="Courier New" panose="02070309020205020404" pitchFamily="49" charset="0"/>
              </a:rPr>
              <a:t>var</a:t>
            </a:r>
            <a:r>
              <a:rPr kumimoji="0" lang="es-MX" sz="22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=5%2;</a:t>
            </a:r>
          </a:p>
          <a:p>
            <a:pPr marL="0" marR="0" lvl="0" indent="0" algn="just" defTabSz="914400" rtl="0" eaLnBrk="0" fontAlgn="base" latinLnBrk="0" hangingPunct="0">
              <a:lnSpc>
                <a:spcPct val="130000"/>
              </a:lnSpc>
              <a:spcBef>
                <a:spcPct val="0"/>
              </a:spcBef>
              <a:spcAft>
                <a:spcPct val="0"/>
              </a:spcAft>
              <a:buClrTx/>
              <a:buSzTx/>
              <a:buFontTx/>
              <a:buNone/>
              <a:tabLst/>
              <a:defRPr/>
            </a:pPr>
            <a:r>
              <a:rPr kumimoji="0" lang="es-MX" sz="2200" b="0" i="0" u="none" strike="noStrike" kern="1200" cap="none" spc="0" normalizeH="0" baseline="0" noProof="0" dirty="0" err="1">
                <a:ln>
                  <a:noFill/>
                </a:ln>
                <a:solidFill>
                  <a:srgbClr val="000000"/>
                </a:solidFill>
                <a:effectLst/>
                <a:uLnTx/>
                <a:uFillTx/>
                <a:latin typeface="Courier New" panose="02070309020205020404" pitchFamily="49" charset="0"/>
                <a:ea typeface="+mn-ea"/>
                <a:cs typeface="Courier New" panose="02070309020205020404" pitchFamily="49" charset="0"/>
              </a:rPr>
              <a:t>var</a:t>
            </a:r>
            <a:r>
              <a:rPr kumimoji="0" lang="es-MX" sz="22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a:t>
            </a:r>
            <a:r>
              <a:rPr kumimoji="0" lang="es-MX" sz="2200" b="0" i="0" u="none" strike="noStrike" kern="1200" cap="none" spc="0" normalizeH="0" baseline="0" noProof="0" dirty="0" err="1">
                <a:ln>
                  <a:noFill/>
                </a:ln>
                <a:solidFill>
                  <a:srgbClr val="000000"/>
                </a:solidFill>
                <a:effectLst/>
                <a:uLnTx/>
                <a:uFillTx/>
                <a:latin typeface="Courier New" panose="02070309020205020404" pitchFamily="49" charset="0"/>
                <a:ea typeface="+mn-ea"/>
                <a:cs typeface="Courier New" panose="02070309020205020404" pitchFamily="49" charset="0"/>
              </a:rPr>
              <a:t>concatenacion</a:t>
            </a:r>
            <a:r>
              <a:rPr kumimoji="0" lang="es-MX" sz="22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a:t>
            </a:r>
            <a:r>
              <a:rPr kumimoji="0" lang="es-MX" sz="2200" b="0" i="0" u="none" strike="noStrike" kern="1200" cap="none" spc="0" normalizeH="0" baseline="0" noProof="0" dirty="0" err="1">
                <a:ln>
                  <a:noFill/>
                </a:ln>
                <a:solidFill>
                  <a:srgbClr val="000000"/>
                </a:solidFill>
                <a:effectLst/>
                <a:uLnTx/>
                <a:uFillTx/>
                <a:latin typeface="Courier New" panose="02070309020205020404" pitchFamily="49" charset="0"/>
                <a:ea typeface="+mn-ea"/>
                <a:cs typeface="Courier New" panose="02070309020205020404" pitchFamily="49" charset="0"/>
              </a:rPr>
              <a:t>Hola”,”Lola</a:t>
            </a:r>
            <a:r>
              <a:rPr kumimoji="0" lang="es-MX" sz="22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a:t>
            </a:r>
            <a:endParaRPr kumimoji="0" lang="es-MX" sz="2200" b="0" i="0" u="none" strike="noStrike" kern="1200" cap="none" spc="0" normalizeH="0" baseline="0" noProof="0" dirty="0">
              <a:ln>
                <a:noFill/>
              </a:ln>
              <a:solidFill>
                <a:srgbClr val="000000"/>
              </a:solidFill>
              <a:effectLst/>
              <a:uLnTx/>
              <a:uFillTx/>
              <a:ea typeface="+mn-ea"/>
              <a:cs typeface="Times New Roman" panose="02020603050405020304" pitchFamily="18" charset="0"/>
            </a:endParaRPr>
          </a:p>
        </p:txBody>
      </p:sp>
    </p:spTree>
    <p:extLst>
      <p:ext uri="{BB962C8B-B14F-4D97-AF65-F5344CB8AC3E}">
        <p14:creationId xmlns:p14="http://schemas.microsoft.com/office/powerpoint/2010/main" val="18392788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B3DAA00E-A25E-4975-BE22-EFDF3FFB3FEB}"/>
              </a:ext>
            </a:extLst>
          </p:cNvPr>
          <p:cNvSpPr>
            <a:spLocks noChangeArrowheads="1"/>
          </p:cNvSpPr>
          <p:nvPr/>
        </p:nvSpPr>
        <p:spPr bwMode="auto">
          <a:xfrm>
            <a:off x="381000" y="424838"/>
            <a:ext cx="6777445" cy="492443"/>
          </a:xfrm>
          <a:prstGeom prst="rect">
            <a:avLst/>
          </a:prstGeom>
          <a:noFill/>
          <a:ln w="9525">
            <a:noFill/>
            <a:miter lim="800000"/>
            <a:headEnd/>
            <a:tailEnd/>
          </a:ln>
          <a:effectLst/>
        </p:spPr>
        <p:txBody>
          <a:bodyPr wrap="squar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ES" sz="2600" b="1" i="0" u="none" strike="noStrike" kern="1200" cap="none" spc="0" normalizeH="0" baseline="0" noProof="0" dirty="0">
                <a:ln>
                  <a:noFill/>
                </a:ln>
                <a:solidFill>
                  <a:srgbClr val="0099A8"/>
                </a:solidFill>
                <a:effectLst/>
                <a:uLnTx/>
                <a:uFillTx/>
                <a:latin typeface="Arial" charset="0"/>
                <a:ea typeface="+mn-ea"/>
                <a:cs typeface="+mn-cs"/>
              </a:rPr>
              <a:t>Estructura de un programa</a:t>
            </a:r>
            <a:r>
              <a:rPr kumimoji="0" lang="es-ES" sz="2600" b="1" i="0" u="none" strike="noStrike" kern="1200" cap="none" spc="0" normalizeH="0" noProof="0" dirty="0">
                <a:ln>
                  <a:noFill/>
                </a:ln>
                <a:solidFill>
                  <a:srgbClr val="0099A8"/>
                </a:solidFill>
                <a:effectLst/>
                <a:uLnTx/>
                <a:uFillTx/>
                <a:latin typeface="Arial" charset="0"/>
                <a:ea typeface="+mn-ea"/>
                <a:cs typeface="+mn-cs"/>
              </a:rPr>
              <a:t> en C/C++</a:t>
            </a:r>
            <a:endParaRPr kumimoji="0" lang="es-ES" sz="2600" b="1" i="0" u="none" strike="noStrike" kern="1200" cap="none" spc="0" normalizeH="0" baseline="0" noProof="0" dirty="0">
              <a:ln>
                <a:noFill/>
              </a:ln>
              <a:solidFill>
                <a:srgbClr val="0099A8"/>
              </a:solidFill>
              <a:effectLst/>
              <a:uLnTx/>
              <a:uFillTx/>
              <a:latin typeface="Arial" charset="0"/>
              <a:ea typeface="+mn-ea"/>
              <a:cs typeface="+mn-cs"/>
            </a:endParaRPr>
          </a:p>
        </p:txBody>
      </p:sp>
      <p:sp>
        <p:nvSpPr>
          <p:cNvPr id="3" name="Rectangle 5">
            <a:extLst>
              <a:ext uri="{FF2B5EF4-FFF2-40B4-BE49-F238E27FC236}">
                <a16:creationId xmlns:a16="http://schemas.microsoft.com/office/drawing/2014/main" id="{841A415C-219D-48DA-B85B-8B2175C45777}"/>
              </a:ext>
            </a:extLst>
          </p:cNvPr>
          <p:cNvSpPr>
            <a:spLocks noChangeArrowheads="1"/>
          </p:cNvSpPr>
          <p:nvPr/>
        </p:nvSpPr>
        <p:spPr bwMode="auto">
          <a:xfrm>
            <a:off x="1012371" y="1203325"/>
            <a:ext cx="8077200" cy="2225675"/>
          </a:xfrm>
          <a:prstGeom prst="rect">
            <a:avLst/>
          </a:prstGeom>
          <a:noFill/>
          <a:ln w="9525">
            <a:noFill/>
            <a:miter lim="800000"/>
            <a:headEnd/>
            <a:tailEnd/>
          </a:ln>
          <a:effectLst/>
        </p:spPr>
        <p:txBody>
          <a:bodyPr anchor="ctr">
            <a:spAutoFit/>
          </a:bodyPr>
          <a:lstStyle/>
          <a:p>
            <a:pPr marL="342900" indent="-342900" algn="just">
              <a:tabLst>
                <a:tab pos="228600" algn="l"/>
              </a:tabLst>
            </a:pPr>
            <a:r>
              <a:rPr lang="es-MX" sz="2000" b="1" dirty="0"/>
              <a:t>Versión A</a:t>
            </a:r>
          </a:p>
          <a:p>
            <a:pPr marL="342900" indent="-342900" algn="just">
              <a:buFontTx/>
              <a:buChar char="•"/>
              <a:tabLst>
                <a:tab pos="228600" algn="l"/>
              </a:tabLst>
            </a:pPr>
            <a:r>
              <a:rPr lang="es-MX" sz="2000" dirty="0"/>
              <a:t>Directivas del preprocesador (</a:t>
            </a:r>
            <a:r>
              <a:rPr lang="es-MX" sz="2000" dirty="0">
                <a:latin typeface="Courier New" pitchFamily="49" charset="0"/>
              </a:rPr>
              <a:t>#</a:t>
            </a:r>
            <a:r>
              <a:rPr lang="es-MX" sz="2000" dirty="0" err="1">
                <a:latin typeface="Courier New" pitchFamily="49" charset="0"/>
              </a:rPr>
              <a:t>include</a:t>
            </a:r>
            <a:r>
              <a:rPr lang="es-MX" sz="2000" dirty="0"/>
              <a:t> y </a:t>
            </a:r>
            <a:r>
              <a:rPr lang="es-MX" sz="2000" dirty="0">
                <a:latin typeface="Courier New" pitchFamily="49" charset="0"/>
              </a:rPr>
              <a:t>#define, ...</a:t>
            </a:r>
            <a:r>
              <a:rPr lang="es-MX" sz="2000" dirty="0"/>
              <a:t>)</a:t>
            </a:r>
          </a:p>
          <a:p>
            <a:pPr marL="342900" indent="-342900" algn="just">
              <a:buFontTx/>
              <a:buChar char="•"/>
              <a:tabLst>
                <a:tab pos="228600" algn="l"/>
              </a:tabLst>
            </a:pPr>
            <a:r>
              <a:rPr lang="es-MX" sz="2000" dirty="0"/>
              <a:t>Declaración de Variables y Constantes Globales</a:t>
            </a:r>
          </a:p>
          <a:p>
            <a:pPr marL="342900" indent="-342900" algn="just">
              <a:buFontTx/>
              <a:buChar char="•"/>
              <a:tabLst>
                <a:tab pos="228600" algn="l"/>
              </a:tabLst>
            </a:pPr>
            <a:r>
              <a:rPr lang="es-MX" sz="2000" dirty="0"/>
              <a:t>Definición de Macros</a:t>
            </a:r>
          </a:p>
          <a:p>
            <a:pPr marL="342900" indent="-342900" algn="just">
              <a:buFontTx/>
              <a:buChar char="•"/>
              <a:tabLst>
                <a:tab pos="228600" algn="l"/>
              </a:tabLst>
            </a:pPr>
            <a:r>
              <a:rPr lang="es-MX" sz="2000" dirty="0"/>
              <a:t>Declaración de Funciones (Prototipos de Funciones)</a:t>
            </a:r>
          </a:p>
          <a:p>
            <a:pPr marL="342900" indent="-342900" algn="just">
              <a:buFontTx/>
              <a:buChar char="•"/>
              <a:tabLst>
                <a:tab pos="228600" algn="l"/>
              </a:tabLst>
            </a:pPr>
            <a:r>
              <a:rPr lang="es-MX" sz="2000" dirty="0"/>
              <a:t>Función </a:t>
            </a:r>
            <a:r>
              <a:rPr lang="es-MX" sz="2000" dirty="0" err="1"/>
              <a:t>Main</a:t>
            </a:r>
            <a:endParaRPr lang="es-MX" sz="2000" dirty="0"/>
          </a:p>
          <a:p>
            <a:pPr marL="342900" indent="-342900" algn="just">
              <a:buFontTx/>
              <a:buChar char="•"/>
              <a:tabLst>
                <a:tab pos="228600" algn="l"/>
              </a:tabLst>
            </a:pPr>
            <a:r>
              <a:rPr lang="es-MX" sz="2000" dirty="0"/>
              <a:t>Definición de Funciones</a:t>
            </a:r>
            <a:endParaRPr lang="es-ES" sz="2000" dirty="0"/>
          </a:p>
        </p:txBody>
      </p:sp>
      <p:sp>
        <p:nvSpPr>
          <p:cNvPr id="4" name="Rectangle 7">
            <a:extLst>
              <a:ext uri="{FF2B5EF4-FFF2-40B4-BE49-F238E27FC236}">
                <a16:creationId xmlns:a16="http://schemas.microsoft.com/office/drawing/2014/main" id="{296C1E44-CBB4-40D6-930C-43557AA1653D}"/>
              </a:ext>
            </a:extLst>
          </p:cNvPr>
          <p:cNvSpPr>
            <a:spLocks noChangeArrowheads="1"/>
          </p:cNvSpPr>
          <p:nvPr/>
        </p:nvSpPr>
        <p:spPr bwMode="auto">
          <a:xfrm>
            <a:off x="1012371" y="3966742"/>
            <a:ext cx="8077200" cy="1920875"/>
          </a:xfrm>
          <a:prstGeom prst="rect">
            <a:avLst/>
          </a:prstGeom>
          <a:noFill/>
          <a:ln w="9525">
            <a:noFill/>
            <a:miter lim="800000"/>
            <a:headEnd/>
            <a:tailEnd/>
          </a:ln>
          <a:effectLst/>
        </p:spPr>
        <p:txBody>
          <a:bodyPr anchor="ctr">
            <a:spAutoFit/>
          </a:bodyPr>
          <a:lstStyle/>
          <a:p>
            <a:pPr marL="342900" indent="-342900" algn="just">
              <a:tabLst>
                <a:tab pos="228600" algn="l"/>
              </a:tabLst>
            </a:pPr>
            <a:r>
              <a:rPr lang="es-MX" sz="2000" b="1" dirty="0"/>
              <a:t>Versión B</a:t>
            </a:r>
          </a:p>
          <a:p>
            <a:pPr marL="342900" indent="-342900" algn="just">
              <a:buFontTx/>
              <a:buChar char="•"/>
              <a:tabLst>
                <a:tab pos="228600" algn="l"/>
              </a:tabLst>
            </a:pPr>
            <a:r>
              <a:rPr lang="es-MX" sz="2000" dirty="0"/>
              <a:t>Directivas del preprocesador (</a:t>
            </a:r>
            <a:r>
              <a:rPr lang="es-MX" sz="2000" dirty="0">
                <a:latin typeface="Courier New" pitchFamily="49" charset="0"/>
              </a:rPr>
              <a:t>#</a:t>
            </a:r>
            <a:r>
              <a:rPr lang="es-MX" sz="2000" dirty="0" err="1">
                <a:latin typeface="Courier New" pitchFamily="49" charset="0"/>
              </a:rPr>
              <a:t>include</a:t>
            </a:r>
            <a:r>
              <a:rPr lang="es-MX" sz="2000" dirty="0"/>
              <a:t> y </a:t>
            </a:r>
            <a:r>
              <a:rPr lang="es-MX" sz="2000" dirty="0">
                <a:latin typeface="Courier New" pitchFamily="49" charset="0"/>
              </a:rPr>
              <a:t>#define, ...</a:t>
            </a:r>
            <a:r>
              <a:rPr lang="es-MX" sz="2000" dirty="0"/>
              <a:t>)</a:t>
            </a:r>
          </a:p>
          <a:p>
            <a:pPr marL="342900" indent="-342900" algn="just">
              <a:buFontTx/>
              <a:buChar char="•"/>
              <a:tabLst>
                <a:tab pos="228600" algn="l"/>
              </a:tabLst>
            </a:pPr>
            <a:r>
              <a:rPr lang="es-MX" sz="2000" dirty="0"/>
              <a:t>Definición de Macros</a:t>
            </a:r>
          </a:p>
          <a:p>
            <a:pPr marL="342900" indent="-342900" algn="just">
              <a:buFontTx/>
              <a:buChar char="•"/>
              <a:tabLst>
                <a:tab pos="228600" algn="l"/>
              </a:tabLst>
            </a:pPr>
            <a:r>
              <a:rPr lang="es-MX" sz="2000" dirty="0"/>
              <a:t>Declaración de Variables y Constantes Globales</a:t>
            </a:r>
          </a:p>
          <a:p>
            <a:pPr marL="342900" indent="-342900" algn="just">
              <a:buFontTx/>
              <a:buChar char="•"/>
              <a:tabLst>
                <a:tab pos="228600" algn="l"/>
              </a:tabLst>
            </a:pPr>
            <a:r>
              <a:rPr lang="es-MX" sz="2000" dirty="0"/>
              <a:t>Definición de Funciones</a:t>
            </a:r>
            <a:endParaRPr lang="es-ES" sz="2000" dirty="0"/>
          </a:p>
          <a:p>
            <a:pPr marL="342900" indent="-342900" algn="just">
              <a:buFontTx/>
              <a:buChar char="•"/>
              <a:tabLst>
                <a:tab pos="228600" algn="l"/>
              </a:tabLst>
            </a:pPr>
            <a:r>
              <a:rPr lang="es-MX" sz="2000" dirty="0"/>
              <a:t>Función </a:t>
            </a:r>
            <a:r>
              <a:rPr lang="es-MX" sz="2000" dirty="0" err="1"/>
              <a:t>Main</a:t>
            </a:r>
            <a:endParaRPr lang="es-MX" sz="2000" dirty="0"/>
          </a:p>
        </p:txBody>
      </p:sp>
    </p:spTree>
    <p:extLst>
      <p:ext uri="{BB962C8B-B14F-4D97-AF65-F5344CB8AC3E}">
        <p14:creationId xmlns:p14="http://schemas.microsoft.com/office/powerpoint/2010/main" val="4595538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0-#ppt_w/2"/>
                                          </p:val>
                                        </p:tav>
                                        <p:tav tm="100000">
                                          <p:val>
                                            <p:strVal val="#ppt_x"/>
                                          </p:val>
                                        </p:tav>
                                      </p:tavLst>
                                    </p:anim>
                                    <p:anim calcmode="lin" valueType="num">
                                      <p:cBhvr additive="base">
                                        <p:cTn id="14"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P spid="4" grpId="0"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B3DAA00E-A25E-4975-BE22-EFDF3FFB3FEB}"/>
              </a:ext>
            </a:extLst>
          </p:cNvPr>
          <p:cNvSpPr>
            <a:spLocks noChangeArrowheads="1"/>
          </p:cNvSpPr>
          <p:nvPr/>
        </p:nvSpPr>
        <p:spPr bwMode="auto">
          <a:xfrm>
            <a:off x="381000" y="424838"/>
            <a:ext cx="6777445" cy="492443"/>
          </a:xfrm>
          <a:prstGeom prst="rect">
            <a:avLst/>
          </a:prstGeom>
          <a:noFill/>
          <a:ln w="9525">
            <a:noFill/>
            <a:miter lim="800000"/>
            <a:headEnd/>
            <a:tailEnd/>
          </a:ln>
          <a:effectLst/>
        </p:spPr>
        <p:txBody>
          <a:bodyPr wrap="squar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ES" sz="2600" b="1" i="0" u="none" strike="noStrike" kern="1200" cap="none" spc="0" normalizeH="0" baseline="0" noProof="0" dirty="0">
                <a:ln>
                  <a:noFill/>
                </a:ln>
                <a:solidFill>
                  <a:srgbClr val="0099A8"/>
                </a:solidFill>
                <a:effectLst/>
                <a:uLnTx/>
                <a:uFillTx/>
                <a:latin typeface="Arial" charset="0"/>
                <a:ea typeface="+mn-ea"/>
                <a:cs typeface="+mn-cs"/>
              </a:rPr>
              <a:t>Estructura de un programa</a:t>
            </a:r>
            <a:r>
              <a:rPr kumimoji="0" lang="es-ES" sz="2600" b="1" i="0" u="none" strike="noStrike" kern="1200" cap="none" spc="0" normalizeH="0" noProof="0" dirty="0">
                <a:ln>
                  <a:noFill/>
                </a:ln>
                <a:solidFill>
                  <a:srgbClr val="0099A8"/>
                </a:solidFill>
                <a:effectLst/>
                <a:uLnTx/>
                <a:uFillTx/>
                <a:latin typeface="Arial" charset="0"/>
                <a:ea typeface="+mn-ea"/>
                <a:cs typeface="+mn-cs"/>
              </a:rPr>
              <a:t> en C/C++</a:t>
            </a:r>
            <a:endParaRPr kumimoji="0" lang="es-ES" sz="2600" b="1" i="0" u="none" strike="noStrike" kern="1200" cap="none" spc="0" normalizeH="0" baseline="0" noProof="0" dirty="0">
              <a:ln>
                <a:noFill/>
              </a:ln>
              <a:solidFill>
                <a:srgbClr val="0099A8"/>
              </a:solidFill>
              <a:effectLst/>
              <a:uLnTx/>
              <a:uFillTx/>
              <a:latin typeface="Arial" charset="0"/>
              <a:ea typeface="+mn-ea"/>
              <a:cs typeface="+mn-cs"/>
            </a:endParaRPr>
          </a:p>
        </p:txBody>
      </p:sp>
      <p:sp>
        <p:nvSpPr>
          <p:cNvPr id="5" name="Text Box 5">
            <a:extLst>
              <a:ext uri="{FF2B5EF4-FFF2-40B4-BE49-F238E27FC236}">
                <a16:creationId xmlns:a16="http://schemas.microsoft.com/office/drawing/2014/main" id="{939BFB61-17D1-44AD-B893-7034268DE645}"/>
              </a:ext>
            </a:extLst>
          </p:cNvPr>
          <p:cNvSpPr txBox="1">
            <a:spLocks noChangeArrowheads="1"/>
          </p:cNvSpPr>
          <p:nvPr/>
        </p:nvSpPr>
        <p:spPr bwMode="auto">
          <a:xfrm>
            <a:off x="381000" y="4329976"/>
            <a:ext cx="10375404" cy="1292662"/>
          </a:xfrm>
          <a:prstGeom prst="rect">
            <a:avLst/>
          </a:prstGeom>
          <a:noFill/>
          <a:ln w="9525">
            <a:noFill/>
            <a:miter lim="800000"/>
            <a:headEnd/>
            <a:tailEnd/>
          </a:ln>
          <a:effectLst/>
        </p:spPr>
        <p:txBody>
          <a:bodyPr wrap="square">
            <a:spAutoFit/>
          </a:bodyPr>
          <a:lstStyle/>
          <a:p>
            <a:pPr algn="just">
              <a:lnSpc>
                <a:spcPct val="130000"/>
              </a:lnSpc>
            </a:pPr>
            <a:r>
              <a:rPr lang="es-MX" dirty="0"/>
              <a:t>Un programa </a:t>
            </a:r>
            <a:r>
              <a:rPr lang="es-ES" sz="2000" dirty="0">
                <a:cs typeface="Times New Roman" charset="0"/>
              </a:rPr>
              <a:t>en C/C++ es una colección de funciones que comienza con la ejecución de la función </a:t>
            </a:r>
            <a:r>
              <a:rPr lang="es-ES" sz="2000" dirty="0" err="1">
                <a:cs typeface="Times New Roman" charset="0"/>
              </a:rPr>
              <a:t>Main</a:t>
            </a:r>
            <a:r>
              <a:rPr lang="es-ES" sz="2000" dirty="0">
                <a:cs typeface="Times New Roman" charset="0"/>
              </a:rPr>
              <a:t> ( ). Los programas fuente se almacenan como archivos con extensión </a:t>
            </a:r>
            <a:r>
              <a:rPr lang="es-ES" sz="2000" b="1" dirty="0">
                <a:cs typeface="Times New Roman" charset="0"/>
              </a:rPr>
              <a:t>.c </a:t>
            </a:r>
            <a:r>
              <a:rPr lang="es-ES" sz="2000" dirty="0">
                <a:cs typeface="Times New Roman" charset="0"/>
              </a:rPr>
              <a:t>para C y </a:t>
            </a:r>
            <a:r>
              <a:rPr lang="es-ES" sz="2000" b="1" dirty="0">
                <a:cs typeface="Times New Roman" charset="0"/>
              </a:rPr>
              <a:t>.</a:t>
            </a:r>
            <a:r>
              <a:rPr lang="es-ES" sz="2000" b="1" dirty="0" err="1">
                <a:cs typeface="Times New Roman" charset="0"/>
              </a:rPr>
              <a:t>cpp</a:t>
            </a:r>
            <a:r>
              <a:rPr lang="es-ES" sz="2000" dirty="0">
                <a:cs typeface="Times New Roman" charset="0"/>
              </a:rPr>
              <a:t> para C++.</a:t>
            </a:r>
          </a:p>
        </p:txBody>
      </p:sp>
      <p:sp>
        <p:nvSpPr>
          <p:cNvPr id="6" name="Rectangle 6">
            <a:extLst>
              <a:ext uri="{FF2B5EF4-FFF2-40B4-BE49-F238E27FC236}">
                <a16:creationId xmlns:a16="http://schemas.microsoft.com/office/drawing/2014/main" id="{1B595D10-F1B1-46D5-9EE8-858A670D3145}"/>
              </a:ext>
            </a:extLst>
          </p:cNvPr>
          <p:cNvSpPr>
            <a:spLocks noChangeArrowheads="1"/>
          </p:cNvSpPr>
          <p:nvPr/>
        </p:nvSpPr>
        <p:spPr bwMode="auto">
          <a:xfrm>
            <a:off x="578139" y="1385205"/>
            <a:ext cx="9981125" cy="2523768"/>
          </a:xfrm>
          <a:prstGeom prst="rect">
            <a:avLst/>
          </a:prstGeom>
          <a:noFill/>
          <a:ln w="9525">
            <a:noFill/>
            <a:miter lim="800000"/>
            <a:headEnd/>
            <a:tailEnd/>
          </a:ln>
          <a:effectLst/>
        </p:spPr>
        <p:txBody>
          <a:bodyPr wrap="square" anchor="ctr">
            <a:spAutoFit/>
          </a:bodyPr>
          <a:lstStyle/>
          <a:p>
            <a:pPr marL="342900" indent="-342900" algn="just">
              <a:tabLst>
                <a:tab pos="228600" algn="l"/>
              </a:tabLst>
            </a:pPr>
            <a:r>
              <a:rPr lang="es-MX" sz="2000" b="1" dirty="0"/>
              <a:t>Versión C</a:t>
            </a:r>
          </a:p>
          <a:p>
            <a:pPr marL="342900" indent="-342900" algn="just">
              <a:buFontTx/>
              <a:buChar char="•"/>
              <a:tabLst>
                <a:tab pos="228600" algn="l"/>
              </a:tabLst>
            </a:pPr>
            <a:r>
              <a:rPr lang="es-MX" sz="2000" dirty="0"/>
              <a:t>Directivas del preprocesador (</a:t>
            </a:r>
            <a:r>
              <a:rPr lang="es-MX" sz="2000" dirty="0">
                <a:latin typeface="Courier New" pitchFamily="49" charset="0"/>
              </a:rPr>
              <a:t>#</a:t>
            </a:r>
            <a:r>
              <a:rPr lang="es-MX" sz="2000" dirty="0" err="1">
                <a:latin typeface="Courier New" pitchFamily="49" charset="0"/>
              </a:rPr>
              <a:t>include</a:t>
            </a:r>
            <a:r>
              <a:rPr lang="es-MX" sz="2000" dirty="0"/>
              <a:t> y </a:t>
            </a:r>
            <a:r>
              <a:rPr lang="es-MX" sz="2000" dirty="0">
                <a:latin typeface="Courier New" pitchFamily="49" charset="0"/>
              </a:rPr>
              <a:t>#define, ...</a:t>
            </a:r>
            <a:r>
              <a:rPr lang="es-MX" sz="2000" dirty="0"/>
              <a:t>)</a:t>
            </a:r>
          </a:p>
          <a:p>
            <a:pPr marL="342900" indent="-342900" algn="just">
              <a:buFontTx/>
              <a:buChar char="•"/>
              <a:tabLst>
                <a:tab pos="228600" algn="l"/>
              </a:tabLst>
            </a:pPr>
            <a:r>
              <a:rPr lang="es-MX" sz="2000" dirty="0"/>
              <a:t>Definición de Macros</a:t>
            </a:r>
          </a:p>
          <a:p>
            <a:pPr marL="342900" indent="-342900" algn="just">
              <a:buFontTx/>
              <a:buChar char="•"/>
              <a:tabLst>
                <a:tab pos="228600" algn="l"/>
              </a:tabLst>
            </a:pPr>
            <a:r>
              <a:rPr lang="es-MX" sz="2000" dirty="0"/>
              <a:t>Declaración de Variables y Constantes Globales</a:t>
            </a:r>
          </a:p>
          <a:p>
            <a:pPr marL="342900" indent="-342900" algn="just">
              <a:buFontTx/>
              <a:buChar char="•"/>
              <a:tabLst>
                <a:tab pos="228600" algn="l"/>
              </a:tabLst>
            </a:pPr>
            <a:r>
              <a:rPr lang="es-MX" sz="2000" dirty="0"/>
              <a:t>Declaración de Funciones (Prototipos de Funciones)</a:t>
            </a:r>
          </a:p>
          <a:p>
            <a:pPr marL="342900" indent="-342900" algn="just">
              <a:buFontTx/>
              <a:buChar char="•"/>
              <a:tabLst>
                <a:tab pos="228600" algn="l"/>
              </a:tabLst>
            </a:pPr>
            <a:r>
              <a:rPr lang="es-MX" sz="2000" dirty="0"/>
              <a:t>Función </a:t>
            </a:r>
            <a:r>
              <a:rPr lang="es-MX" sz="2000" dirty="0" err="1"/>
              <a:t>Main</a:t>
            </a:r>
            <a:endParaRPr lang="es-MX" sz="2000" dirty="0"/>
          </a:p>
          <a:p>
            <a:pPr marL="342900" indent="-342900" algn="just">
              <a:tabLst>
                <a:tab pos="228600" algn="l"/>
              </a:tabLst>
            </a:pPr>
            <a:endParaRPr lang="es-MX" sz="2000" dirty="0"/>
          </a:p>
          <a:p>
            <a:pPr marL="342900" indent="-342900" algn="just">
              <a:tabLst>
                <a:tab pos="228600" algn="l"/>
              </a:tabLst>
            </a:pPr>
            <a:r>
              <a:rPr lang="es-MX" dirty="0"/>
              <a:t>La definición de las funciones puede hacerse en otro archivo o módulo.</a:t>
            </a:r>
          </a:p>
        </p:txBody>
      </p:sp>
    </p:spTree>
    <p:extLst>
      <p:ext uri="{BB962C8B-B14F-4D97-AF65-F5344CB8AC3E}">
        <p14:creationId xmlns:p14="http://schemas.microsoft.com/office/powerpoint/2010/main" val="40257436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0-#ppt_w/2"/>
                                          </p:val>
                                        </p:tav>
                                        <p:tav tm="100000">
                                          <p:val>
                                            <p:strVal val="#ppt_x"/>
                                          </p:val>
                                        </p:tav>
                                      </p:tavLst>
                                    </p:anim>
                                    <p:anim calcmode="lin" valueType="num">
                                      <p:cBhvr additive="base">
                                        <p:cTn id="14"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P spid="6" grpId="0"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8CF0F029-C782-485B-BE72-2F46C85EB10F}"/>
              </a:ext>
            </a:extLst>
          </p:cNvPr>
          <p:cNvSpPr>
            <a:spLocks noChangeArrowheads="1"/>
          </p:cNvSpPr>
          <p:nvPr/>
        </p:nvSpPr>
        <p:spPr bwMode="auto">
          <a:xfrm>
            <a:off x="381000" y="424838"/>
            <a:ext cx="6777445" cy="492443"/>
          </a:xfrm>
          <a:prstGeom prst="rect">
            <a:avLst/>
          </a:prstGeom>
          <a:noFill/>
          <a:ln w="9525">
            <a:noFill/>
            <a:miter lim="800000"/>
            <a:headEnd/>
            <a:tailEnd/>
          </a:ln>
          <a:effectLst/>
        </p:spPr>
        <p:txBody>
          <a:bodyPr wrap="squar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ES" sz="2600" b="1" i="0" u="none" strike="noStrike" kern="1200" cap="none" spc="0" normalizeH="0" baseline="0" noProof="0" dirty="0">
                <a:ln>
                  <a:noFill/>
                </a:ln>
                <a:solidFill>
                  <a:srgbClr val="0099A8"/>
                </a:solidFill>
                <a:effectLst/>
                <a:uLnTx/>
                <a:uFillTx/>
                <a:latin typeface="Arial" charset="0"/>
                <a:ea typeface="+mn-ea"/>
                <a:cs typeface="+mn-cs"/>
              </a:rPr>
              <a:t>La función </a:t>
            </a:r>
            <a:r>
              <a:rPr kumimoji="0" lang="es-ES" sz="2600" b="1" i="0" u="none" strike="noStrike" kern="1200" cap="none" spc="0" normalizeH="0" baseline="0" noProof="0" dirty="0" err="1">
                <a:ln>
                  <a:noFill/>
                </a:ln>
                <a:solidFill>
                  <a:srgbClr val="0099A8"/>
                </a:solidFill>
                <a:effectLst/>
                <a:uLnTx/>
                <a:uFillTx/>
                <a:latin typeface="Arial" charset="0"/>
                <a:ea typeface="+mn-ea"/>
                <a:cs typeface="+mn-cs"/>
              </a:rPr>
              <a:t>main</a:t>
            </a:r>
            <a:r>
              <a:rPr kumimoji="0" lang="es-ES" sz="2600" b="1" i="0" u="none" strike="noStrike" kern="1200" cap="none" spc="0" normalizeH="0" baseline="0" noProof="0" dirty="0">
                <a:ln>
                  <a:noFill/>
                </a:ln>
                <a:solidFill>
                  <a:srgbClr val="0099A8"/>
                </a:solidFill>
                <a:effectLst/>
                <a:uLnTx/>
                <a:uFillTx/>
                <a:latin typeface="Arial" charset="0"/>
                <a:ea typeface="+mn-ea"/>
                <a:cs typeface="+mn-cs"/>
              </a:rPr>
              <a:t>()</a:t>
            </a:r>
          </a:p>
        </p:txBody>
      </p:sp>
      <p:sp>
        <p:nvSpPr>
          <p:cNvPr id="3" name="Rectangle 9">
            <a:extLst>
              <a:ext uri="{FF2B5EF4-FFF2-40B4-BE49-F238E27FC236}">
                <a16:creationId xmlns:a16="http://schemas.microsoft.com/office/drawing/2014/main" id="{9A0A4FDE-254E-45EA-9050-F8FE066DE5A7}"/>
              </a:ext>
            </a:extLst>
          </p:cNvPr>
          <p:cNvSpPr>
            <a:spLocks noChangeArrowheads="1"/>
          </p:cNvSpPr>
          <p:nvPr/>
        </p:nvSpPr>
        <p:spPr bwMode="auto">
          <a:xfrm>
            <a:off x="381000" y="1505185"/>
            <a:ext cx="10898377" cy="1246495"/>
          </a:xfrm>
          <a:prstGeom prst="rect">
            <a:avLst/>
          </a:prstGeom>
          <a:noFill/>
          <a:ln w="9525">
            <a:noFill/>
            <a:miter lim="800000"/>
            <a:headEnd/>
            <a:tailEnd/>
          </a:ln>
          <a:effectLst/>
        </p:spPr>
        <p:txBody>
          <a:bodyPr wrap="square" lIns="228528" bIns="0" anchor="ctr">
            <a:spAutoFit/>
          </a:bodyPr>
          <a:lstStyle/>
          <a:p>
            <a:pPr algn="just">
              <a:lnSpc>
                <a:spcPct val="130000"/>
              </a:lnSpc>
              <a:tabLst>
                <a:tab pos="431800" algn="l"/>
              </a:tabLst>
            </a:pPr>
            <a:r>
              <a:rPr lang="es-MX" sz="2000" dirty="0"/>
              <a:t>General</a:t>
            </a:r>
            <a:r>
              <a:rPr lang="es-ES" sz="2000" dirty="0"/>
              <a:t>mente la función </a:t>
            </a:r>
            <a:r>
              <a:rPr lang="es-ES" sz="2000" dirty="0" err="1">
                <a:latin typeface="Courier New" pitchFamily="49" charset="0"/>
              </a:rPr>
              <a:t>main</a:t>
            </a:r>
            <a:r>
              <a:rPr lang="es-MX" sz="2000" dirty="0">
                <a:latin typeface="Courier New" pitchFamily="49" charset="0"/>
              </a:rPr>
              <a:t>()</a:t>
            </a:r>
            <a:r>
              <a:rPr lang="es-ES" sz="2000" dirty="0"/>
              <a:t> no hace nada, es decir, en ella no se codifica la solución </a:t>
            </a:r>
            <a:r>
              <a:rPr lang="es-MX" sz="2000" dirty="0"/>
              <a:t>a un</a:t>
            </a:r>
            <a:r>
              <a:rPr lang="es-ES" sz="2000" dirty="0"/>
              <a:t> problema. Sólo se encarga de </a:t>
            </a:r>
            <a:r>
              <a:rPr lang="es-MX" sz="2000" dirty="0"/>
              <a:t>utilizar </a:t>
            </a:r>
            <a:r>
              <a:rPr lang="es-ES" sz="2000" dirty="0"/>
              <a:t>a la</a:t>
            </a:r>
            <a:r>
              <a:rPr lang="es-MX" sz="2000" dirty="0"/>
              <a:t>s</a:t>
            </a:r>
            <a:r>
              <a:rPr lang="es-ES" sz="2000" dirty="0"/>
              <a:t> funciones que implementan la solución del problema. </a:t>
            </a:r>
            <a:endParaRPr lang="en-US" sz="2000" dirty="0"/>
          </a:p>
        </p:txBody>
      </p:sp>
      <p:sp>
        <p:nvSpPr>
          <p:cNvPr id="4" name="Rectangle 11">
            <a:extLst>
              <a:ext uri="{FF2B5EF4-FFF2-40B4-BE49-F238E27FC236}">
                <a16:creationId xmlns:a16="http://schemas.microsoft.com/office/drawing/2014/main" id="{ECC79A85-EB68-482F-9ED1-BE50F8225928}"/>
              </a:ext>
            </a:extLst>
          </p:cNvPr>
          <p:cNvSpPr>
            <a:spLocks noChangeArrowheads="1"/>
          </p:cNvSpPr>
          <p:nvPr/>
        </p:nvSpPr>
        <p:spPr bwMode="auto">
          <a:xfrm>
            <a:off x="453260" y="3414229"/>
            <a:ext cx="10753859" cy="2206758"/>
          </a:xfrm>
          <a:prstGeom prst="rect">
            <a:avLst/>
          </a:prstGeom>
          <a:noFill/>
          <a:ln w="9525">
            <a:noFill/>
            <a:miter lim="800000"/>
            <a:headEnd/>
            <a:tailEnd/>
          </a:ln>
          <a:effectLst/>
        </p:spPr>
        <p:txBody>
          <a:bodyPr wrap="square" lIns="228528" bIns="0" anchor="ctr">
            <a:spAutoFit/>
          </a:bodyPr>
          <a:lstStyle/>
          <a:p>
            <a:pPr algn="just">
              <a:lnSpc>
                <a:spcPct val="130000"/>
              </a:lnSpc>
              <a:tabLst>
                <a:tab pos="431800" algn="l"/>
              </a:tabLst>
            </a:pPr>
            <a:r>
              <a:rPr lang="es-MX" sz="2000" dirty="0"/>
              <a:t>La función </a:t>
            </a:r>
            <a:r>
              <a:rPr lang="es-MX" sz="2000" dirty="0" err="1"/>
              <a:t>main</a:t>
            </a:r>
            <a:r>
              <a:rPr lang="es-MX" sz="2000" dirty="0"/>
              <a:t> es </a:t>
            </a:r>
            <a:r>
              <a:rPr lang="es-MX" sz="2000" dirty="0">
                <a:solidFill>
                  <a:schemeClr val="folHlink"/>
                </a:solidFill>
                <a:latin typeface="Arial Black" pitchFamily="34" charset="0"/>
              </a:rPr>
              <a:t>imprescindible</a:t>
            </a:r>
            <a:r>
              <a:rPr lang="es-MX" sz="2000" dirty="0"/>
              <a:t> en cualquier programa C/C++, representa el punto de inicio de su ejecución. Por lo general, el prototipo o declaración de </a:t>
            </a:r>
            <a:r>
              <a:rPr lang="es-MX" sz="2000" dirty="0" err="1"/>
              <a:t>main</a:t>
            </a:r>
            <a:r>
              <a:rPr lang="es-MX" sz="2000" dirty="0"/>
              <a:t> adopta la forma: </a:t>
            </a:r>
          </a:p>
          <a:p>
            <a:pPr algn="ctr">
              <a:lnSpc>
                <a:spcPct val="130000"/>
              </a:lnSpc>
              <a:tabLst>
                <a:tab pos="431800" algn="l"/>
              </a:tabLst>
            </a:pPr>
            <a:endParaRPr lang="es-MX" sz="2400" b="1" dirty="0">
              <a:latin typeface="Courier New" pitchFamily="49" charset="0"/>
            </a:endParaRPr>
          </a:p>
          <a:p>
            <a:pPr algn="ctr">
              <a:lnSpc>
                <a:spcPct val="130000"/>
              </a:lnSpc>
              <a:tabLst>
                <a:tab pos="431800" algn="l"/>
              </a:tabLst>
            </a:pPr>
            <a:r>
              <a:rPr lang="es-MX" sz="2400" b="1" dirty="0" err="1">
                <a:latin typeface="Courier New" pitchFamily="49" charset="0"/>
              </a:rPr>
              <a:t>int</a:t>
            </a:r>
            <a:r>
              <a:rPr lang="es-MX" sz="2400" dirty="0">
                <a:latin typeface="Courier New" pitchFamily="49" charset="0"/>
              </a:rPr>
              <a:t> </a:t>
            </a:r>
            <a:r>
              <a:rPr lang="es-MX" sz="2400" dirty="0" err="1">
                <a:latin typeface="Courier New" pitchFamily="49" charset="0"/>
              </a:rPr>
              <a:t>main</a:t>
            </a:r>
            <a:r>
              <a:rPr lang="es-MX" sz="2400" dirty="0">
                <a:latin typeface="Courier New" pitchFamily="49" charset="0"/>
              </a:rPr>
              <a:t>();</a:t>
            </a:r>
          </a:p>
        </p:txBody>
      </p:sp>
    </p:spTree>
    <p:extLst>
      <p:ext uri="{BB962C8B-B14F-4D97-AF65-F5344CB8AC3E}">
        <p14:creationId xmlns:p14="http://schemas.microsoft.com/office/powerpoint/2010/main" val="26202722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0E69D33D-33A1-427C-9CBA-D831DBCD82C9}"/>
              </a:ext>
            </a:extLst>
          </p:cNvPr>
          <p:cNvSpPr>
            <a:spLocks noChangeArrowheads="1"/>
          </p:cNvSpPr>
          <p:nvPr/>
        </p:nvSpPr>
        <p:spPr bwMode="auto">
          <a:xfrm>
            <a:off x="381000" y="424839"/>
            <a:ext cx="6777445" cy="492443"/>
          </a:xfrm>
          <a:prstGeom prst="rect">
            <a:avLst/>
          </a:prstGeom>
          <a:noFill/>
          <a:ln w="9525">
            <a:noFill/>
            <a:miter lim="800000"/>
            <a:headEnd/>
            <a:tailEnd/>
          </a:ln>
          <a:effectLst/>
        </p:spPr>
        <p:txBody>
          <a:bodyPr wrap="squar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ES" sz="2600" b="1" i="0" u="none" strike="noStrike" kern="1200" cap="none" spc="0" normalizeH="0" baseline="0" noProof="0" dirty="0">
                <a:ln>
                  <a:noFill/>
                </a:ln>
                <a:solidFill>
                  <a:srgbClr val="0099A8"/>
                </a:solidFill>
                <a:effectLst/>
                <a:uLnTx/>
                <a:uFillTx/>
                <a:latin typeface="Arial" charset="0"/>
                <a:ea typeface="+mn-ea"/>
                <a:cs typeface="+mn-cs"/>
              </a:rPr>
              <a:t>Obtención de un archivo ejecutable</a:t>
            </a:r>
          </a:p>
        </p:txBody>
      </p:sp>
      <p:grpSp>
        <p:nvGrpSpPr>
          <p:cNvPr id="3" name="Group 9">
            <a:extLst>
              <a:ext uri="{FF2B5EF4-FFF2-40B4-BE49-F238E27FC236}">
                <a16:creationId xmlns:a16="http://schemas.microsoft.com/office/drawing/2014/main" id="{7CD4D9D3-8ACF-4B0D-82BF-07BC627CADED}"/>
              </a:ext>
            </a:extLst>
          </p:cNvPr>
          <p:cNvGrpSpPr>
            <a:grpSpLocks/>
          </p:cNvGrpSpPr>
          <p:nvPr/>
        </p:nvGrpSpPr>
        <p:grpSpPr bwMode="auto">
          <a:xfrm>
            <a:off x="2280665" y="1449977"/>
            <a:ext cx="7438102" cy="4698274"/>
            <a:chOff x="621" y="5944"/>
            <a:chExt cx="11221" cy="5760"/>
          </a:xfrm>
        </p:grpSpPr>
        <p:grpSp>
          <p:nvGrpSpPr>
            <p:cNvPr id="4" name="Group 10">
              <a:extLst>
                <a:ext uri="{FF2B5EF4-FFF2-40B4-BE49-F238E27FC236}">
                  <a16:creationId xmlns:a16="http://schemas.microsoft.com/office/drawing/2014/main" id="{1C27BAC3-1193-4C2C-BBDC-6E4A352880AC}"/>
                </a:ext>
              </a:extLst>
            </p:cNvPr>
            <p:cNvGrpSpPr>
              <a:grpSpLocks/>
            </p:cNvGrpSpPr>
            <p:nvPr/>
          </p:nvGrpSpPr>
          <p:grpSpPr bwMode="auto">
            <a:xfrm>
              <a:off x="621" y="5944"/>
              <a:ext cx="9022" cy="5760"/>
              <a:chOff x="621" y="5944"/>
              <a:chExt cx="9022" cy="5760"/>
            </a:xfrm>
          </p:grpSpPr>
          <p:grpSp>
            <p:nvGrpSpPr>
              <p:cNvPr id="9" name="Group 11">
                <a:extLst>
                  <a:ext uri="{FF2B5EF4-FFF2-40B4-BE49-F238E27FC236}">
                    <a16:creationId xmlns:a16="http://schemas.microsoft.com/office/drawing/2014/main" id="{B6412258-9279-49D5-AC3A-A4634B76D8E0}"/>
                  </a:ext>
                </a:extLst>
              </p:cNvPr>
              <p:cNvGrpSpPr>
                <a:grpSpLocks/>
              </p:cNvGrpSpPr>
              <p:nvPr/>
            </p:nvGrpSpPr>
            <p:grpSpPr bwMode="auto">
              <a:xfrm>
                <a:off x="6021" y="6124"/>
                <a:ext cx="3622" cy="5220"/>
                <a:chOff x="7461" y="6124"/>
                <a:chExt cx="3622" cy="5220"/>
              </a:xfrm>
            </p:grpSpPr>
            <p:sp>
              <p:nvSpPr>
                <p:cNvPr id="30" name="Text Box 12">
                  <a:extLst>
                    <a:ext uri="{FF2B5EF4-FFF2-40B4-BE49-F238E27FC236}">
                      <a16:creationId xmlns:a16="http://schemas.microsoft.com/office/drawing/2014/main" id="{790C2583-6B1A-465C-A85B-8102CE45190C}"/>
                    </a:ext>
                  </a:extLst>
                </p:cNvPr>
                <p:cNvSpPr txBox="1">
                  <a:spLocks noChangeArrowheads="1"/>
                </p:cNvSpPr>
                <p:nvPr/>
              </p:nvSpPr>
              <p:spPr bwMode="auto">
                <a:xfrm>
                  <a:off x="7466" y="7260"/>
                  <a:ext cx="1800" cy="540"/>
                </a:xfrm>
                <a:prstGeom prst="rect">
                  <a:avLst/>
                </a:prstGeom>
                <a:solidFill>
                  <a:srgbClr val="FFFFFF"/>
                </a:solidFill>
                <a:ln w="9525">
                  <a:solidFill>
                    <a:srgbClr val="000000"/>
                  </a:solidFill>
                  <a:miter lim="800000"/>
                  <a:headEnd/>
                  <a:tailEnd/>
                </a:ln>
              </p:spPr>
              <p:txBody>
                <a:bodyPr/>
                <a:lstStyle/>
                <a:p>
                  <a:pPr algn="ctr" eaLnBrk="0" hangingPunct="0"/>
                  <a:r>
                    <a:rPr lang="es-ES" sz="1200" b="1">
                      <a:latin typeface="Times New Roman" charset="0"/>
                    </a:rPr>
                    <a:t>Archivo1.o</a:t>
                  </a:r>
                </a:p>
              </p:txBody>
            </p:sp>
            <p:sp>
              <p:nvSpPr>
                <p:cNvPr id="31" name="Text Box 13">
                  <a:extLst>
                    <a:ext uri="{FF2B5EF4-FFF2-40B4-BE49-F238E27FC236}">
                      <a16:creationId xmlns:a16="http://schemas.microsoft.com/office/drawing/2014/main" id="{1D50D17C-3B6E-4215-A41E-0D1CCEDFADC4}"/>
                    </a:ext>
                  </a:extLst>
                </p:cNvPr>
                <p:cNvSpPr txBox="1">
                  <a:spLocks noChangeArrowheads="1"/>
                </p:cNvSpPr>
                <p:nvPr/>
              </p:nvSpPr>
              <p:spPr bwMode="auto">
                <a:xfrm>
                  <a:off x="7474" y="8357"/>
                  <a:ext cx="1800" cy="540"/>
                </a:xfrm>
                <a:prstGeom prst="rect">
                  <a:avLst/>
                </a:prstGeom>
                <a:solidFill>
                  <a:srgbClr val="FFFFFF"/>
                </a:solidFill>
                <a:ln w="9525">
                  <a:solidFill>
                    <a:srgbClr val="000000"/>
                  </a:solidFill>
                  <a:miter lim="800000"/>
                  <a:headEnd/>
                  <a:tailEnd/>
                </a:ln>
              </p:spPr>
              <p:txBody>
                <a:bodyPr/>
                <a:lstStyle/>
                <a:p>
                  <a:pPr algn="ctr" eaLnBrk="0" hangingPunct="0"/>
                  <a:r>
                    <a:rPr lang="es-ES" sz="1200" b="1">
                      <a:latin typeface="Times New Roman" charset="0"/>
                    </a:rPr>
                    <a:t>Archivo2.o</a:t>
                  </a:r>
                </a:p>
              </p:txBody>
            </p:sp>
            <p:sp>
              <p:nvSpPr>
                <p:cNvPr id="32" name="Text Box 14">
                  <a:extLst>
                    <a:ext uri="{FF2B5EF4-FFF2-40B4-BE49-F238E27FC236}">
                      <a16:creationId xmlns:a16="http://schemas.microsoft.com/office/drawing/2014/main" id="{4EDC177D-2ABC-42CD-8006-C1A845924100}"/>
                    </a:ext>
                  </a:extLst>
                </p:cNvPr>
                <p:cNvSpPr txBox="1">
                  <a:spLocks noChangeArrowheads="1"/>
                </p:cNvSpPr>
                <p:nvPr/>
              </p:nvSpPr>
              <p:spPr bwMode="auto">
                <a:xfrm>
                  <a:off x="7491" y="9506"/>
                  <a:ext cx="1800" cy="540"/>
                </a:xfrm>
                <a:prstGeom prst="rect">
                  <a:avLst/>
                </a:prstGeom>
                <a:solidFill>
                  <a:srgbClr val="FFFFFF"/>
                </a:solidFill>
                <a:ln w="9525">
                  <a:solidFill>
                    <a:srgbClr val="000000"/>
                  </a:solidFill>
                  <a:miter lim="800000"/>
                  <a:headEnd/>
                  <a:tailEnd/>
                </a:ln>
              </p:spPr>
              <p:txBody>
                <a:bodyPr/>
                <a:lstStyle/>
                <a:p>
                  <a:pPr algn="ctr" eaLnBrk="0" hangingPunct="0"/>
                  <a:r>
                    <a:rPr lang="es-ES" sz="1200" b="1">
                      <a:latin typeface="Times New Roman" charset="0"/>
                    </a:rPr>
                    <a:t>ArchivoN.o</a:t>
                  </a:r>
                </a:p>
              </p:txBody>
            </p:sp>
            <p:sp>
              <p:nvSpPr>
                <p:cNvPr id="33" name="Text Box 15">
                  <a:extLst>
                    <a:ext uri="{FF2B5EF4-FFF2-40B4-BE49-F238E27FC236}">
                      <a16:creationId xmlns:a16="http://schemas.microsoft.com/office/drawing/2014/main" id="{A834FDB3-FD1B-4D46-AA8A-6FDE3FDE0641}"/>
                    </a:ext>
                  </a:extLst>
                </p:cNvPr>
                <p:cNvSpPr txBox="1">
                  <a:spLocks noChangeArrowheads="1"/>
                </p:cNvSpPr>
                <p:nvPr/>
              </p:nvSpPr>
              <p:spPr bwMode="auto">
                <a:xfrm>
                  <a:off x="7461" y="6124"/>
                  <a:ext cx="2340" cy="540"/>
                </a:xfrm>
                <a:prstGeom prst="rect">
                  <a:avLst/>
                </a:prstGeom>
                <a:solidFill>
                  <a:srgbClr val="FFFFFF"/>
                </a:solidFill>
                <a:ln w="9525">
                  <a:solidFill>
                    <a:srgbClr val="000000"/>
                  </a:solidFill>
                  <a:miter lim="800000"/>
                  <a:headEnd/>
                  <a:tailEnd/>
                </a:ln>
              </p:spPr>
              <p:txBody>
                <a:bodyPr/>
                <a:lstStyle/>
                <a:p>
                  <a:pPr algn="ctr" eaLnBrk="0" hangingPunct="0"/>
                  <a:r>
                    <a:rPr lang="es-ES" sz="1200" b="1">
                      <a:latin typeface="Times New Roman" charset="0"/>
                    </a:rPr>
                    <a:t>LIBRERÍAS INTERNAS</a:t>
                  </a:r>
                </a:p>
              </p:txBody>
            </p:sp>
            <p:sp>
              <p:nvSpPr>
                <p:cNvPr id="34" name="Text Box 16">
                  <a:extLst>
                    <a:ext uri="{FF2B5EF4-FFF2-40B4-BE49-F238E27FC236}">
                      <a16:creationId xmlns:a16="http://schemas.microsoft.com/office/drawing/2014/main" id="{98B2CDF1-D3EC-4B77-804F-52BA514C8AE1}"/>
                    </a:ext>
                  </a:extLst>
                </p:cNvPr>
                <p:cNvSpPr txBox="1">
                  <a:spLocks noChangeArrowheads="1"/>
                </p:cNvSpPr>
                <p:nvPr/>
              </p:nvSpPr>
              <p:spPr bwMode="auto">
                <a:xfrm>
                  <a:off x="7461" y="10804"/>
                  <a:ext cx="2359" cy="540"/>
                </a:xfrm>
                <a:prstGeom prst="rect">
                  <a:avLst/>
                </a:prstGeom>
                <a:solidFill>
                  <a:srgbClr val="FFFFFF"/>
                </a:solidFill>
                <a:ln w="9525">
                  <a:solidFill>
                    <a:srgbClr val="000000"/>
                  </a:solidFill>
                  <a:miter lim="800000"/>
                  <a:headEnd/>
                  <a:tailEnd/>
                </a:ln>
              </p:spPr>
              <p:txBody>
                <a:bodyPr/>
                <a:lstStyle/>
                <a:p>
                  <a:pPr algn="ctr" eaLnBrk="0" hangingPunct="0"/>
                  <a:r>
                    <a:rPr lang="es-ES" sz="1200" b="1">
                      <a:latin typeface="Times New Roman" charset="0"/>
                    </a:rPr>
                    <a:t>LIBRERÍAS EXTERNAS</a:t>
                  </a:r>
                </a:p>
              </p:txBody>
            </p:sp>
            <p:sp>
              <p:nvSpPr>
                <p:cNvPr id="35" name="Line 17">
                  <a:extLst>
                    <a:ext uri="{FF2B5EF4-FFF2-40B4-BE49-F238E27FC236}">
                      <a16:creationId xmlns:a16="http://schemas.microsoft.com/office/drawing/2014/main" id="{8EB4DBFD-3CD7-46DA-9ED5-9EB312009F47}"/>
                    </a:ext>
                  </a:extLst>
                </p:cNvPr>
                <p:cNvSpPr>
                  <a:spLocks noChangeShapeType="1"/>
                </p:cNvSpPr>
                <p:nvPr/>
              </p:nvSpPr>
              <p:spPr bwMode="auto">
                <a:xfrm>
                  <a:off x="10161" y="6304"/>
                  <a:ext cx="0" cy="4860"/>
                </a:xfrm>
                <a:prstGeom prst="line">
                  <a:avLst/>
                </a:prstGeom>
                <a:noFill/>
                <a:ln w="9525">
                  <a:solidFill>
                    <a:srgbClr val="000000"/>
                  </a:solidFill>
                  <a:round/>
                  <a:headEnd/>
                  <a:tailEnd/>
                </a:ln>
              </p:spPr>
              <p:txBody>
                <a:bodyPr/>
                <a:lstStyle/>
                <a:p>
                  <a:endParaRPr lang="es-ES"/>
                </a:p>
              </p:txBody>
            </p:sp>
            <p:sp>
              <p:nvSpPr>
                <p:cNvPr id="36" name="Line 18">
                  <a:extLst>
                    <a:ext uri="{FF2B5EF4-FFF2-40B4-BE49-F238E27FC236}">
                      <a16:creationId xmlns:a16="http://schemas.microsoft.com/office/drawing/2014/main" id="{082D52ED-8FE1-4C1D-8147-9C85333808EA}"/>
                    </a:ext>
                  </a:extLst>
                </p:cNvPr>
                <p:cNvSpPr>
                  <a:spLocks noChangeShapeType="1"/>
                </p:cNvSpPr>
                <p:nvPr/>
              </p:nvSpPr>
              <p:spPr bwMode="auto">
                <a:xfrm>
                  <a:off x="9801" y="6304"/>
                  <a:ext cx="360" cy="0"/>
                </a:xfrm>
                <a:prstGeom prst="line">
                  <a:avLst/>
                </a:prstGeom>
                <a:noFill/>
                <a:ln w="9525">
                  <a:solidFill>
                    <a:srgbClr val="000000"/>
                  </a:solidFill>
                  <a:round/>
                  <a:headEnd/>
                  <a:tailEnd/>
                </a:ln>
              </p:spPr>
              <p:txBody>
                <a:bodyPr/>
                <a:lstStyle/>
                <a:p>
                  <a:endParaRPr lang="es-ES"/>
                </a:p>
              </p:txBody>
            </p:sp>
            <p:sp>
              <p:nvSpPr>
                <p:cNvPr id="37" name="Line 19">
                  <a:extLst>
                    <a:ext uri="{FF2B5EF4-FFF2-40B4-BE49-F238E27FC236}">
                      <a16:creationId xmlns:a16="http://schemas.microsoft.com/office/drawing/2014/main" id="{B76200C1-AAE8-41D7-B8C8-12C985C732FE}"/>
                    </a:ext>
                  </a:extLst>
                </p:cNvPr>
                <p:cNvSpPr>
                  <a:spLocks noChangeShapeType="1"/>
                </p:cNvSpPr>
                <p:nvPr/>
              </p:nvSpPr>
              <p:spPr bwMode="auto">
                <a:xfrm>
                  <a:off x="9827" y="11173"/>
                  <a:ext cx="360" cy="0"/>
                </a:xfrm>
                <a:prstGeom prst="line">
                  <a:avLst/>
                </a:prstGeom>
                <a:noFill/>
                <a:ln w="9525">
                  <a:solidFill>
                    <a:srgbClr val="000000"/>
                  </a:solidFill>
                  <a:round/>
                  <a:headEnd/>
                  <a:tailEnd/>
                </a:ln>
              </p:spPr>
              <p:txBody>
                <a:bodyPr/>
                <a:lstStyle/>
                <a:p>
                  <a:endParaRPr lang="es-ES"/>
                </a:p>
              </p:txBody>
            </p:sp>
            <p:sp>
              <p:nvSpPr>
                <p:cNvPr id="38" name="Line 20">
                  <a:extLst>
                    <a:ext uri="{FF2B5EF4-FFF2-40B4-BE49-F238E27FC236}">
                      <a16:creationId xmlns:a16="http://schemas.microsoft.com/office/drawing/2014/main" id="{286E4D1B-3645-4A1D-A6EF-23AA0269EC59}"/>
                    </a:ext>
                  </a:extLst>
                </p:cNvPr>
                <p:cNvSpPr>
                  <a:spLocks noChangeShapeType="1"/>
                </p:cNvSpPr>
                <p:nvPr/>
              </p:nvSpPr>
              <p:spPr bwMode="auto">
                <a:xfrm>
                  <a:off x="9291" y="7474"/>
                  <a:ext cx="900" cy="0"/>
                </a:xfrm>
                <a:prstGeom prst="line">
                  <a:avLst/>
                </a:prstGeom>
                <a:noFill/>
                <a:ln w="9525">
                  <a:solidFill>
                    <a:srgbClr val="000000"/>
                  </a:solidFill>
                  <a:round/>
                  <a:headEnd/>
                  <a:tailEnd/>
                </a:ln>
              </p:spPr>
              <p:txBody>
                <a:bodyPr/>
                <a:lstStyle/>
                <a:p>
                  <a:endParaRPr lang="es-ES"/>
                </a:p>
              </p:txBody>
            </p:sp>
            <p:sp>
              <p:nvSpPr>
                <p:cNvPr id="39" name="Line 21">
                  <a:extLst>
                    <a:ext uri="{FF2B5EF4-FFF2-40B4-BE49-F238E27FC236}">
                      <a16:creationId xmlns:a16="http://schemas.microsoft.com/office/drawing/2014/main" id="{CA3C7EEB-F238-4ECF-9712-C4043E36BD1C}"/>
                    </a:ext>
                  </a:extLst>
                </p:cNvPr>
                <p:cNvSpPr>
                  <a:spLocks noChangeShapeType="1"/>
                </p:cNvSpPr>
                <p:nvPr/>
              </p:nvSpPr>
              <p:spPr bwMode="auto">
                <a:xfrm>
                  <a:off x="9291" y="9686"/>
                  <a:ext cx="900" cy="0"/>
                </a:xfrm>
                <a:prstGeom prst="line">
                  <a:avLst/>
                </a:prstGeom>
                <a:noFill/>
                <a:ln w="9525">
                  <a:solidFill>
                    <a:srgbClr val="000000"/>
                  </a:solidFill>
                  <a:round/>
                  <a:headEnd/>
                  <a:tailEnd/>
                </a:ln>
              </p:spPr>
              <p:txBody>
                <a:bodyPr/>
                <a:lstStyle/>
                <a:p>
                  <a:endParaRPr lang="es-ES"/>
                </a:p>
              </p:txBody>
            </p:sp>
            <p:sp>
              <p:nvSpPr>
                <p:cNvPr id="40" name="Line 22">
                  <a:extLst>
                    <a:ext uri="{FF2B5EF4-FFF2-40B4-BE49-F238E27FC236}">
                      <a16:creationId xmlns:a16="http://schemas.microsoft.com/office/drawing/2014/main" id="{69ED54D0-D368-4B1A-B6F9-0EE32CD1959A}"/>
                    </a:ext>
                  </a:extLst>
                </p:cNvPr>
                <p:cNvSpPr>
                  <a:spLocks noChangeShapeType="1"/>
                </p:cNvSpPr>
                <p:nvPr/>
              </p:nvSpPr>
              <p:spPr bwMode="auto">
                <a:xfrm>
                  <a:off x="9283" y="8537"/>
                  <a:ext cx="1800" cy="0"/>
                </a:xfrm>
                <a:prstGeom prst="line">
                  <a:avLst/>
                </a:prstGeom>
                <a:noFill/>
                <a:ln w="9525">
                  <a:solidFill>
                    <a:srgbClr val="000000"/>
                  </a:solidFill>
                  <a:round/>
                  <a:headEnd/>
                  <a:tailEnd type="triangle" w="med" len="med"/>
                </a:ln>
              </p:spPr>
              <p:txBody>
                <a:bodyPr/>
                <a:lstStyle/>
                <a:p>
                  <a:endParaRPr lang="es-ES"/>
                </a:p>
              </p:txBody>
            </p:sp>
          </p:grpSp>
          <p:grpSp>
            <p:nvGrpSpPr>
              <p:cNvPr id="10" name="Group 23">
                <a:extLst>
                  <a:ext uri="{FF2B5EF4-FFF2-40B4-BE49-F238E27FC236}">
                    <a16:creationId xmlns:a16="http://schemas.microsoft.com/office/drawing/2014/main" id="{764BBD67-3585-41DC-950A-70AE53E0477D}"/>
                  </a:ext>
                </a:extLst>
              </p:cNvPr>
              <p:cNvGrpSpPr>
                <a:grpSpLocks/>
              </p:cNvGrpSpPr>
              <p:nvPr/>
            </p:nvGrpSpPr>
            <p:grpSpPr bwMode="auto">
              <a:xfrm>
                <a:off x="621" y="5944"/>
                <a:ext cx="5413" cy="5760"/>
                <a:chOff x="621" y="5944"/>
                <a:chExt cx="5413" cy="5760"/>
              </a:xfrm>
            </p:grpSpPr>
            <p:grpSp>
              <p:nvGrpSpPr>
                <p:cNvPr id="11" name="Group 24">
                  <a:extLst>
                    <a:ext uri="{FF2B5EF4-FFF2-40B4-BE49-F238E27FC236}">
                      <a16:creationId xmlns:a16="http://schemas.microsoft.com/office/drawing/2014/main" id="{DD1FCFDD-562D-4077-85A3-D5B5A50D3AA3}"/>
                    </a:ext>
                  </a:extLst>
                </p:cNvPr>
                <p:cNvGrpSpPr>
                  <a:grpSpLocks/>
                </p:cNvGrpSpPr>
                <p:nvPr/>
              </p:nvGrpSpPr>
              <p:grpSpPr bwMode="auto">
                <a:xfrm>
                  <a:off x="4401" y="5944"/>
                  <a:ext cx="1633" cy="5760"/>
                  <a:chOff x="5841" y="5944"/>
                  <a:chExt cx="1633" cy="5760"/>
                </a:xfrm>
              </p:grpSpPr>
              <p:sp>
                <p:nvSpPr>
                  <p:cNvPr id="26" name="Text Box 25">
                    <a:extLst>
                      <a:ext uri="{FF2B5EF4-FFF2-40B4-BE49-F238E27FC236}">
                        <a16:creationId xmlns:a16="http://schemas.microsoft.com/office/drawing/2014/main" id="{5CE7843A-6492-4E87-8E42-011AF3644FA4}"/>
                      </a:ext>
                    </a:extLst>
                  </p:cNvPr>
                  <p:cNvSpPr txBox="1">
                    <a:spLocks noChangeArrowheads="1"/>
                  </p:cNvSpPr>
                  <p:nvPr/>
                </p:nvSpPr>
                <p:spPr bwMode="auto">
                  <a:xfrm>
                    <a:off x="5841" y="5944"/>
                    <a:ext cx="540" cy="5760"/>
                  </a:xfrm>
                  <a:prstGeom prst="rect">
                    <a:avLst/>
                  </a:prstGeom>
                  <a:solidFill>
                    <a:srgbClr val="FFFFFF"/>
                  </a:solidFill>
                  <a:ln w="9525">
                    <a:solidFill>
                      <a:srgbClr val="000000"/>
                    </a:solidFill>
                    <a:miter lim="800000"/>
                    <a:headEnd/>
                    <a:tailEnd/>
                  </a:ln>
                </p:spPr>
                <p:txBody>
                  <a:bodyPr/>
                  <a:lstStyle/>
                  <a:p>
                    <a:pPr algn="ctr" eaLnBrk="0" hangingPunct="0"/>
                    <a:r>
                      <a:rPr lang="es-ES" sz="1500" b="1">
                        <a:latin typeface="Lucida Console" pitchFamily="49" charset="0"/>
                      </a:rPr>
                      <a:t>C</a:t>
                    </a:r>
                  </a:p>
                  <a:p>
                    <a:pPr algn="ctr" eaLnBrk="0" hangingPunct="0"/>
                    <a:endParaRPr lang="es-ES" sz="1500" b="1">
                      <a:latin typeface="Lucida Console" pitchFamily="49" charset="0"/>
                    </a:endParaRPr>
                  </a:p>
                  <a:p>
                    <a:pPr algn="ctr" eaLnBrk="0" hangingPunct="0"/>
                    <a:r>
                      <a:rPr lang="es-ES" sz="1500" b="1">
                        <a:latin typeface="Lucida Console" pitchFamily="49" charset="0"/>
                      </a:rPr>
                      <a:t>O</a:t>
                    </a:r>
                  </a:p>
                  <a:p>
                    <a:pPr algn="ctr" eaLnBrk="0" hangingPunct="0"/>
                    <a:endParaRPr lang="es-ES" sz="1500" b="1">
                      <a:latin typeface="Lucida Console" pitchFamily="49" charset="0"/>
                    </a:endParaRPr>
                  </a:p>
                  <a:p>
                    <a:pPr algn="ctr" eaLnBrk="0" hangingPunct="0"/>
                    <a:r>
                      <a:rPr lang="es-ES" sz="1500" b="1">
                        <a:latin typeface="Lucida Console" pitchFamily="49" charset="0"/>
                      </a:rPr>
                      <a:t>M</a:t>
                    </a:r>
                  </a:p>
                  <a:p>
                    <a:pPr algn="ctr" eaLnBrk="0" hangingPunct="0"/>
                    <a:endParaRPr lang="es-ES" sz="1500" b="1">
                      <a:latin typeface="Lucida Console" pitchFamily="49" charset="0"/>
                    </a:endParaRPr>
                  </a:p>
                  <a:p>
                    <a:pPr algn="ctr" eaLnBrk="0" hangingPunct="0"/>
                    <a:r>
                      <a:rPr lang="es-ES" sz="1500" b="1">
                        <a:latin typeface="Lucida Console" pitchFamily="49" charset="0"/>
                      </a:rPr>
                      <a:t>P</a:t>
                    </a:r>
                  </a:p>
                  <a:p>
                    <a:pPr algn="ctr" eaLnBrk="0" hangingPunct="0"/>
                    <a:endParaRPr lang="es-ES" sz="1500" b="1">
                      <a:latin typeface="Lucida Console" pitchFamily="49" charset="0"/>
                    </a:endParaRPr>
                  </a:p>
                  <a:p>
                    <a:pPr algn="ctr" eaLnBrk="0" hangingPunct="0"/>
                    <a:r>
                      <a:rPr lang="es-ES" sz="1500" b="1">
                        <a:latin typeface="Lucida Console" pitchFamily="49" charset="0"/>
                      </a:rPr>
                      <a:t>I</a:t>
                    </a:r>
                  </a:p>
                  <a:p>
                    <a:pPr algn="ctr" eaLnBrk="0" hangingPunct="0"/>
                    <a:endParaRPr lang="es-ES" sz="1500" b="1">
                      <a:latin typeface="Lucida Console" pitchFamily="49" charset="0"/>
                    </a:endParaRPr>
                  </a:p>
                  <a:p>
                    <a:pPr algn="ctr" eaLnBrk="0" hangingPunct="0"/>
                    <a:r>
                      <a:rPr lang="es-ES" sz="1500" b="1">
                        <a:latin typeface="Lucida Console" pitchFamily="49" charset="0"/>
                      </a:rPr>
                      <a:t>L</a:t>
                    </a:r>
                  </a:p>
                  <a:p>
                    <a:pPr algn="ctr" eaLnBrk="0" hangingPunct="0"/>
                    <a:endParaRPr lang="es-ES" sz="1500" b="1">
                      <a:latin typeface="Lucida Console" pitchFamily="49" charset="0"/>
                    </a:endParaRPr>
                  </a:p>
                  <a:p>
                    <a:pPr algn="ctr" eaLnBrk="0" hangingPunct="0"/>
                    <a:r>
                      <a:rPr lang="es-ES" sz="1500" b="1">
                        <a:latin typeface="Lucida Console" pitchFamily="49" charset="0"/>
                      </a:rPr>
                      <a:t>A</a:t>
                    </a:r>
                  </a:p>
                  <a:p>
                    <a:pPr algn="ctr" eaLnBrk="0" hangingPunct="0"/>
                    <a:endParaRPr lang="es-ES" sz="1500" b="1">
                      <a:latin typeface="Lucida Console" pitchFamily="49" charset="0"/>
                    </a:endParaRPr>
                  </a:p>
                  <a:p>
                    <a:pPr algn="ctr" eaLnBrk="0" hangingPunct="0"/>
                    <a:r>
                      <a:rPr lang="es-ES" sz="1500" b="1">
                        <a:latin typeface="Lucida Console" pitchFamily="49" charset="0"/>
                      </a:rPr>
                      <a:t>D</a:t>
                    </a:r>
                  </a:p>
                  <a:p>
                    <a:pPr algn="ctr" eaLnBrk="0" hangingPunct="0"/>
                    <a:endParaRPr lang="es-ES" sz="1500" b="1">
                      <a:latin typeface="Lucida Console" pitchFamily="49" charset="0"/>
                    </a:endParaRPr>
                  </a:p>
                  <a:p>
                    <a:pPr algn="ctr" eaLnBrk="0" hangingPunct="0"/>
                    <a:r>
                      <a:rPr lang="es-ES" sz="1500" b="1">
                        <a:latin typeface="Lucida Console" pitchFamily="49" charset="0"/>
                      </a:rPr>
                      <a:t>O</a:t>
                    </a:r>
                  </a:p>
                  <a:p>
                    <a:pPr algn="ctr" eaLnBrk="0" hangingPunct="0"/>
                    <a:endParaRPr lang="es-ES" sz="1500" b="1">
                      <a:latin typeface="Lucida Console" pitchFamily="49" charset="0"/>
                    </a:endParaRPr>
                  </a:p>
                  <a:p>
                    <a:pPr algn="ctr" eaLnBrk="0" hangingPunct="0"/>
                    <a:r>
                      <a:rPr lang="es-ES" sz="1500" b="1">
                        <a:latin typeface="Lucida Console" pitchFamily="49" charset="0"/>
                      </a:rPr>
                      <a:t>R</a:t>
                    </a:r>
                  </a:p>
                </p:txBody>
              </p:sp>
              <p:sp>
                <p:nvSpPr>
                  <p:cNvPr id="27" name="Line 26">
                    <a:extLst>
                      <a:ext uri="{FF2B5EF4-FFF2-40B4-BE49-F238E27FC236}">
                        <a16:creationId xmlns:a16="http://schemas.microsoft.com/office/drawing/2014/main" id="{1F0C062A-DD1C-48DC-BFB1-D240A4AF52A8}"/>
                      </a:ext>
                    </a:extLst>
                  </p:cNvPr>
                  <p:cNvSpPr>
                    <a:spLocks noChangeShapeType="1"/>
                  </p:cNvSpPr>
                  <p:nvPr/>
                </p:nvSpPr>
                <p:spPr bwMode="auto">
                  <a:xfrm>
                    <a:off x="6369" y="7500"/>
                    <a:ext cx="1080" cy="0"/>
                  </a:xfrm>
                  <a:prstGeom prst="line">
                    <a:avLst/>
                  </a:prstGeom>
                  <a:noFill/>
                  <a:ln w="9525">
                    <a:solidFill>
                      <a:srgbClr val="000000"/>
                    </a:solidFill>
                    <a:round/>
                    <a:headEnd/>
                    <a:tailEnd type="triangle" w="med" len="med"/>
                  </a:ln>
                </p:spPr>
                <p:txBody>
                  <a:bodyPr/>
                  <a:lstStyle/>
                  <a:p>
                    <a:endParaRPr lang="es-ES"/>
                  </a:p>
                </p:txBody>
              </p:sp>
              <p:sp>
                <p:nvSpPr>
                  <p:cNvPr id="28" name="Line 27">
                    <a:extLst>
                      <a:ext uri="{FF2B5EF4-FFF2-40B4-BE49-F238E27FC236}">
                        <a16:creationId xmlns:a16="http://schemas.microsoft.com/office/drawing/2014/main" id="{7DFF0B6F-CDA9-4F58-A294-64D714715966}"/>
                      </a:ext>
                    </a:extLst>
                  </p:cNvPr>
                  <p:cNvSpPr>
                    <a:spLocks noChangeShapeType="1"/>
                  </p:cNvSpPr>
                  <p:nvPr/>
                </p:nvSpPr>
                <p:spPr bwMode="auto">
                  <a:xfrm>
                    <a:off x="6394" y="8580"/>
                    <a:ext cx="1080" cy="0"/>
                  </a:xfrm>
                  <a:prstGeom prst="line">
                    <a:avLst/>
                  </a:prstGeom>
                  <a:noFill/>
                  <a:ln w="9525">
                    <a:solidFill>
                      <a:srgbClr val="000000"/>
                    </a:solidFill>
                    <a:round/>
                    <a:headEnd/>
                    <a:tailEnd type="triangle" w="med" len="med"/>
                  </a:ln>
                </p:spPr>
                <p:txBody>
                  <a:bodyPr/>
                  <a:lstStyle/>
                  <a:p>
                    <a:endParaRPr lang="es-ES"/>
                  </a:p>
                </p:txBody>
              </p:sp>
              <p:sp>
                <p:nvSpPr>
                  <p:cNvPr id="29" name="Line 28">
                    <a:extLst>
                      <a:ext uri="{FF2B5EF4-FFF2-40B4-BE49-F238E27FC236}">
                        <a16:creationId xmlns:a16="http://schemas.microsoft.com/office/drawing/2014/main" id="{C5B9CFA5-9881-4AB2-BE08-6520F9061A34}"/>
                      </a:ext>
                    </a:extLst>
                  </p:cNvPr>
                  <p:cNvSpPr>
                    <a:spLocks noChangeShapeType="1"/>
                  </p:cNvSpPr>
                  <p:nvPr/>
                </p:nvSpPr>
                <p:spPr bwMode="auto">
                  <a:xfrm>
                    <a:off x="6399" y="9664"/>
                    <a:ext cx="1050" cy="0"/>
                  </a:xfrm>
                  <a:prstGeom prst="line">
                    <a:avLst/>
                  </a:prstGeom>
                  <a:noFill/>
                  <a:ln w="9525">
                    <a:solidFill>
                      <a:srgbClr val="000000"/>
                    </a:solidFill>
                    <a:round/>
                    <a:headEnd/>
                    <a:tailEnd type="triangle" w="med" len="med"/>
                  </a:ln>
                </p:spPr>
                <p:txBody>
                  <a:bodyPr/>
                  <a:lstStyle/>
                  <a:p>
                    <a:endParaRPr lang="es-ES"/>
                  </a:p>
                </p:txBody>
              </p:sp>
            </p:grpSp>
            <p:grpSp>
              <p:nvGrpSpPr>
                <p:cNvPr id="12" name="Group 29">
                  <a:extLst>
                    <a:ext uri="{FF2B5EF4-FFF2-40B4-BE49-F238E27FC236}">
                      <a16:creationId xmlns:a16="http://schemas.microsoft.com/office/drawing/2014/main" id="{C3220AAD-65FC-44FD-822C-C84D85CDA57E}"/>
                    </a:ext>
                  </a:extLst>
                </p:cNvPr>
                <p:cNvGrpSpPr>
                  <a:grpSpLocks/>
                </p:cNvGrpSpPr>
                <p:nvPr/>
              </p:nvGrpSpPr>
              <p:grpSpPr bwMode="auto">
                <a:xfrm>
                  <a:off x="621" y="7024"/>
                  <a:ext cx="3800" cy="3420"/>
                  <a:chOff x="621" y="7024"/>
                  <a:chExt cx="3800" cy="3420"/>
                </a:xfrm>
              </p:grpSpPr>
              <p:grpSp>
                <p:nvGrpSpPr>
                  <p:cNvPr id="13" name="Group 30">
                    <a:extLst>
                      <a:ext uri="{FF2B5EF4-FFF2-40B4-BE49-F238E27FC236}">
                        <a16:creationId xmlns:a16="http://schemas.microsoft.com/office/drawing/2014/main" id="{67A113DE-3AC3-43CB-9901-56AA3E0A5AC7}"/>
                      </a:ext>
                    </a:extLst>
                  </p:cNvPr>
                  <p:cNvGrpSpPr>
                    <a:grpSpLocks/>
                  </p:cNvGrpSpPr>
                  <p:nvPr/>
                </p:nvGrpSpPr>
                <p:grpSpPr bwMode="auto">
                  <a:xfrm>
                    <a:off x="621" y="7024"/>
                    <a:ext cx="1093" cy="3420"/>
                    <a:chOff x="981" y="7024"/>
                    <a:chExt cx="1093" cy="3420"/>
                  </a:xfrm>
                </p:grpSpPr>
                <p:sp>
                  <p:nvSpPr>
                    <p:cNvPr id="22" name="Text Box 31">
                      <a:extLst>
                        <a:ext uri="{FF2B5EF4-FFF2-40B4-BE49-F238E27FC236}">
                          <a16:creationId xmlns:a16="http://schemas.microsoft.com/office/drawing/2014/main" id="{EACD2D18-922C-476A-ACCE-31C542EF9D25}"/>
                        </a:ext>
                      </a:extLst>
                    </p:cNvPr>
                    <p:cNvSpPr txBox="1">
                      <a:spLocks noChangeArrowheads="1"/>
                    </p:cNvSpPr>
                    <p:nvPr/>
                  </p:nvSpPr>
                  <p:spPr bwMode="auto">
                    <a:xfrm>
                      <a:off x="981" y="7024"/>
                      <a:ext cx="540" cy="3420"/>
                    </a:xfrm>
                    <a:prstGeom prst="rect">
                      <a:avLst/>
                    </a:prstGeom>
                    <a:solidFill>
                      <a:srgbClr val="FFFFFF"/>
                    </a:solidFill>
                    <a:ln w="9525">
                      <a:solidFill>
                        <a:srgbClr val="000000"/>
                      </a:solidFill>
                      <a:miter lim="800000"/>
                      <a:headEnd/>
                      <a:tailEnd/>
                    </a:ln>
                  </p:spPr>
                  <p:txBody>
                    <a:bodyPr/>
                    <a:lstStyle/>
                    <a:p>
                      <a:pPr algn="ctr" eaLnBrk="0" hangingPunct="0"/>
                      <a:r>
                        <a:rPr lang="es-ES" sz="1500" b="1">
                          <a:latin typeface="Lucida Console" pitchFamily="49" charset="0"/>
                        </a:rPr>
                        <a:t>E</a:t>
                      </a:r>
                    </a:p>
                    <a:p>
                      <a:pPr algn="ctr" eaLnBrk="0" hangingPunct="0"/>
                      <a:endParaRPr lang="es-ES" sz="1500" b="1">
                        <a:latin typeface="Lucida Console" pitchFamily="49" charset="0"/>
                      </a:endParaRPr>
                    </a:p>
                    <a:p>
                      <a:pPr algn="ctr" eaLnBrk="0" hangingPunct="0"/>
                      <a:r>
                        <a:rPr lang="es-ES" sz="1500" b="1">
                          <a:latin typeface="Lucida Console" pitchFamily="49" charset="0"/>
                        </a:rPr>
                        <a:t>D</a:t>
                      </a:r>
                    </a:p>
                    <a:p>
                      <a:pPr algn="ctr" eaLnBrk="0" hangingPunct="0"/>
                      <a:endParaRPr lang="es-ES" sz="1500" b="1">
                        <a:latin typeface="Lucida Console" pitchFamily="49" charset="0"/>
                      </a:endParaRPr>
                    </a:p>
                    <a:p>
                      <a:pPr algn="ctr" eaLnBrk="0" hangingPunct="0"/>
                      <a:r>
                        <a:rPr lang="es-ES" sz="1500" b="1">
                          <a:latin typeface="Lucida Console" pitchFamily="49" charset="0"/>
                        </a:rPr>
                        <a:t>I</a:t>
                      </a:r>
                    </a:p>
                    <a:p>
                      <a:pPr algn="ctr" eaLnBrk="0" hangingPunct="0"/>
                      <a:endParaRPr lang="es-ES" sz="1500" b="1">
                        <a:latin typeface="Lucida Console" pitchFamily="49" charset="0"/>
                      </a:endParaRPr>
                    </a:p>
                    <a:p>
                      <a:pPr algn="ctr" eaLnBrk="0" hangingPunct="0"/>
                      <a:r>
                        <a:rPr lang="es-ES" sz="1500" b="1">
                          <a:latin typeface="Lucida Console" pitchFamily="49" charset="0"/>
                        </a:rPr>
                        <a:t>T</a:t>
                      </a:r>
                    </a:p>
                    <a:p>
                      <a:pPr algn="ctr" eaLnBrk="0" hangingPunct="0"/>
                      <a:endParaRPr lang="es-ES" sz="1500" b="1">
                        <a:latin typeface="Lucida Console" pitchFamily="49" charset="0"/>
                      </a:endParaRPr>
                    </a:p>
                    <a:p>
                      <a:pPr algn="ctr" eaLnBrk="0" hangingPunct="0"/>
                      <a:r>
                        <a:rPr lang="es-ES" sz="1500" b="1">
                          <a:latin typeface="Lucida Console" pitchFamily="49" charset="0"/>
                        </a:rPr>
                        <a:t>O</a:t>
                      </a:r>
                    </a:p>
                    <a:p>
                      <a:pPr algn="ctr" eaLnBrk="0" hangingPunct="0"/>
                      <a:endParaRPr lang="es-ES" sz="1500" b="1">
                        <a:latin typeface="Lucida Console" pitchFamily="49" charset="0"/>
                      </a:endParaRPr>
                    </a:p>
                    <a:p>
                      <a:pPr algn="ctr" eaLnBrk="0" hangingPunct="0"/>
                      <a:r>
                        <a:rPr lang="es-ES" sz="1500" b="1">
                          <a:latin typeface="Lucida Console" pitchFamily="49" charset="0"/>
                        </a:rPr>
                        <a:t>R</a:t>
                      </a:r>
                    </a:p>
                  </p:txBody>
                </p:sp>
                <p:sp>
                  <p:nvSpPr>
                    <p:cNvPr id="23" name="Line 32">
                      <a:extLst>
                        <a:ext uri="{FF2B5EF4-FFF2-40B4-BE49-F238E27FC236}">
                          <a16:creationId xmlns:a16="http://schemas.microsoft.com/office/drawing/2014/main" id="{804F87C2-7517-420C-B52C-DC713B764C40}"/>
                        </a:ext>
                      </a:extLst>
                    </p:cNvPr>
                    <p:cNvSpPr>
                      <a:spLocks noChangeShapeType="1"/>
                    </p:cNvSpPr>
                    <p:nvPr/>
                  </p:nvSpPr>
                  <p:spPr bwMode="auto">
                    <a:xfrm>
                      <a:off x="1521" y="7564"/>
                      <a:ext cx="540" cy="0"/>
                    </a:xfrm>
                    <a:prstGeom prst="line">
                      <a:avLst/>
                    </a:prstGeom>
                    <a:noFill/>
                    <a:ln w="9525">
                      <a:solidFill>
                        <a:srgbClr val="000000"/>
                      </a:solidFill>
                      <a:round/>
                      <a:headEnd/>
                      <a:tailEnd type="triangle" w="med" len="med"/>
                    </a:ln>
                  </p:spPr>
                  <p:txBody>
                    <a:bodyPr/>
                    <a:lstStyle/>
                    <a:p>
                      <a:endParaRPr lang="es-ES"/>
                    </a:p>
                  </p:txBody>
                </p:sp>
                <p:sp>
                  <p:nvSpPr>
                    <p:cNvPr id="24" name="Line 33">
                      <a:extLst>
                        <a:ext uri="{FF2B5EF4-FFF2-40B4-BE49-F238E27FC236}">
                          <a16:creationId xmlns:a16="http://schemas.microsoft.com/office/drawing/2014/main" id="{F3EBF586-ADC0-4116-A565-41AAA7CE29E4}"/>
                        </a:ext>
                      </a:extLst>
                    </p:cNvPr>
                    <p:cNvSpPr>
                      <a:spLocks noChangeShapeType="1"/>
                    </p:cNvSpPr>
                    <p:nvPr/>
                  </p:nvSpPr>
                  <p:spPr bwMode="auto">
                    <a:xfrm>
                      <a:off x="1534" y="8734"/>
                      <a:ext cx="540" cy="0"/>
                    </a:xfrm>
                    <a:prstGeom prst="line">
                      <a:avLst/>
                    </a:prstGeom>
                    <a:noFill/>
                    <a:ln w="9525">
                      <a:solidFill>
                        <a:srgbClr val="000000"/>
                      </a:solidFill>
                      <a:round/>
                      <a:headEnd/>
                      <a:tailEnd type="triangle" w="med" len="med"/>
                    </a:ln>
                  </p:spPr>
                  <p:txBody>
                    <a:bodyPr/>
                    <a:lstStyle/>
                    <a:p>
                      <a:endParaRPr lang="es-ES"/>
                    </a:p>
                  </p:txBody>
                </p:sp>
                <p:sp>
                  <p:nvSpPr>
                    <p:cNvPr id="25" name="Line 34">
                      <a:extLst>
                        <a:ext uri="{FF2B5EF4-FFF2-40B4-BE49-F238E27FC236}">
                          <a16:creationId xmlns:a16="http://schemas.microsoft.com/office/drawing/2014/main" id="{E7DD07D8-5A61-4746-B27B-D1898279319E}"/>
                        </a:ext>
                      </a:extLst>
                    </p:cNvPr>
                    <p:cNvSpPr>
                      <a:spLocks noChangeShapeType="1"/>
                    </p:cNvSpPr>
                    <p:nvPr/>
                  </p:nvSpPr>
                  <p:spPr bwMode="auto">
                    <a:xfrm>
                      <a:off x="1534" y="9711"/>
                      <a:ext cx="540" cy="0"/>
                    </a:xfrm>
                    <a:prstGeom prst="line">
                      <a:avLst/>
                    </a:prstGeom>
                    <a:noFill/>
                    <a:ln w="9525">
                      <a:solidFill>
                        <a:srgbClr val="000000"/>
                      </a:solidFill>
                      <a:round/>
                      <a:headEnd/>
                      <a:tailEnd type="triangle" w="med" len="med"/>
                    </a:ln>
                  </p:spPr>
                  <p:txBody>
                    <a:bodyPr/>
                    <a:lstStyle/>
                    <a:p>
                      <a:endParaRPr lang="es-ES"/>
                    </a:p>
                  </p:txBody>
                </p:sp>
              </p:grpSp>
              <p:grpSp>
                <p:nvGrpSpPr>
                  <p:cNvPr id="14" name="Group 35">
                    <a:extLst>
                      <a:ext uri="{FF2B5EF4-FFF2-40B4-BE49-F238E27FC236}">
                        <a16:creationId xmlns:a16="http://schemas.microsoft.com/office/drawing/2014/main" id="{30BC2B52-9A25-41F2-992E-3CB72D47B5AA}"/>
                      </a:ext>
                    </a:extLst>
                  </p:cNvPr>
                  <p:cNvGrpSpPr>
                    <a:grpSpLocks/>
                  </p:cNvGrpSpPr>
                  <p:nvPr/>
                </p:nvGrpSpPr>
                <p:grpSpPr bwMode="auto">
                  <a:xfrm>
                    <a:off x="1701" y="7384"/>
                    <a:ext cx="2720" cy="2645"/>
                    <a:chOff x="2581" y="7384"/>
                    <a:chExt cx="2720" cy="2645"/>
                  </a:xfrm>
                </p:grpSpPr>
                <p:sp>
                  <p:nvSpPr>
                    <p:cNvPr id="15" name="Text Box 36">
                      <a:extLst>
                        <a:ext uri="{FF2B5EF4-FFF2-40B4-BE49-F238E27FC236}">
                          <a16:creationId xmlns:a16="http://schemas.microsoft.com/office/drawing/2014/main" id="{DEEBAEE7-F542-4503-B1C9-EE195B69591D}"/>
                        </a:ext>
                      </a:extLst>
                    </p:cNvPr>
                    <p:cNvSpPr txBox="1">
                      <a:spLocks noChangeArrowheads="1"/>
                    </p:cNvSpPr>
                    <p:nvPr/>
                  </p:nvSpPr>
                  <p:spPr bwMode="auto">
                    <a:xfrm>
                      <a:off x="2601" y="7384"/>
                      <a:ext cx="1800" cy="540"/>
                    </a:xfrm>
                    <a:prstGeom prst="rect">
                      <a:avLst/>
                    </a:prstGeom>
                    <a:solidFill>
                      <a:srgbClr val="FFFFFF"/>
                    </a:solidFill>
                    <a:ln w="9525">
                      <a:solidFill>
                        <a:srgbClr val="000000"/>
                      </a:solidFill>
                      <a:miter lim="800000"/>
                      <a:headEnd/>
                      <a:tailEnd/>
                    </a:ln>
                  </p:spPr>
                  <p:txBody>
                    <a:bodyPr/>
                    <a:lstStyle/>
                    <a:p>
                      <a:pPr algn="ctr" eaLnBrk="0" hangingPunct="0"/>
                      <a:r>
                        <a:rPr lang="es-ES" sz="1200" b="1">
                          <a:latin typeface="Times New Roman" charset="0"/>
                        </a:rPr>
                        <a:t>Archivo1.cpp</a:t>
                      </a:r>
                    </a:p>
                  </p:txBody>
                </p:sp>
                <p:sp>
                  <p:nvSpPr>
                    <p:cNvPr id="16" name="Text Box 37">
                      <a:extLst>
                        <a:ext uri="{FF2B5EF4-FFF2-40B4-BE49-F238E27FC236}">
                          <a16:creationId xmlns:a16="http://schemas.microsoft.com/office/drawing/2014/main" id="{14D8E126-CE8C-44B7-9F3B-F57E1CBAC79F}"/>
                        </a:ext>
                      </a:extLst>
                    </p:cNvPr>
                    <p:cNvSpPr txBox="1">
                      <a:spLocks noChangeArrowheads="1"/>
                    </p:cNvSpPr>
                    <p:nvPr/>
                  </p:nvSpPr>
                  <p:spPr bwMode="auto">
                    <a:xfrm>
                      <a:off x="2589" y="8469"/>
                      <a:ext cx="1800" cy="540"/>
                    </a:xfrm>
                    <a:prstGeom prst="rect">
                      <a:avLst/>
                    </a:prstGeom>
                    <a:solidFill>
                      <a:srgbClr val="FFFFFF"/>
                    </a:solidFill>
                    <a:ln w="9525">
                      <a:solidFill>
                        <a:srgbClr val="000000"/>
                      </a:solidFill>
                      <a:miter lim="800000"/>
                      <a:headEnd/>
                      <a:tailEnd/>
                    </a:ln>
                  </p:spPr>
                  <p:txBody>
                    <a:bodyPr/>
                    <a:lstStyle/>
                    <a:p>
                      <a:pPr algn="ctr" eaLnBrk="0" hangingPunct="0"/>
                      <a:r>
                        <a:rPr lang="es-ES" sz="1200" b="1">
                          <a:latin typeface="Times New Roman" charset="0"/>
                        </a:rPr>
                        <a:t>Archivo2.cpp</a:t>
                      </a:r>
                    </a:p>
                  </p:txBody>
                </p:sp>
                <p:sp>
                  <p:nvSpPr>
                    <p:cNvPr id="17" name="Text Box 38">
                      <a:extLst>
                        <a:ext uri="{FF2B5EF4-FFF2-40B4-BE49-F238E27FC236}">
                          <a16:creationId xmlns:a16="http://schemas.microsoft.com/office/drawing/2014/main" id="{C51446F7-5512-4153-9279-0488160966DD}"/>
                        </a:ext>
                      </a:extLst>
                    </p:cNvPr>
                    <p:cNvSpPr txBox="1">
                      <a:spLocks noChangeArrowheads="1"/>
                    </p:cNvSpPr>
                    <p:nvPr/>
                  </p:nvSpPr>
                  <p:spPr bwMode="auto">
                    <a:xfrm>
                      <a:off x="2581" y="9489"/>
                      <a:ext cx="1800" cy="540"/>
                    </a:xfrm>
                    <a:prstGeom prst="rect">
                      <a:avLst/>
                    </a:prstGeom>
                    <a:solidFill>
                      <a:srgbClr val="FFFFFF"/>
                    </a:solidFill>
                    <a:ln w="9525">
                      <a:solidFill>
                        <a:srgbClr val="000000"/>
                      </a:solidFill>
                      <a:miter lim="800000"/>
                      <a:headEnd/>
                      <a:tailEnd/>
                    </a:ln>
                  </p:spPr>
                  <p:txBody>
                    <a:bodyPr/>
                    <a:lstStyle/>
                    <a:p>
                      <a:pPr algn="ctr" eaLnBrk="0" hangingPunct="0"/>
                      <a:r>
                        <a:rPr lang="es-ES" sz="1200" b="1">
                          <a:latin typeface="Times New Roman" charset="0"/>
                        </a:rPr>
                        <a:t>ArchivoN.cpp</a:t>
                      </a:r>
                    </a:p>
                  </p:txBody>
                </p:sp>
                <p:sp>
                  <p:nvSpPr>
                    <p:cNvPr id="18" name="Line 39">
                      <a:extLst>
                        <a:ext uri="{FF2B5EF4-FFF2-40B4-BE49-F238E27FC236}">
                          <a16:creationId xmlns:a16="http://schemas.microsoft.com/office/drawing/2014/main" id="{2511F51C-FD97-4BD1-8D54-ED7B069FE5C9}"/>
                        </a:ext>
                      </a:extLst>
                    </p:cNvPr>
                    <p:cNvSpPr>
                      <a:spLocks noChangeShapeType="1"/>
                    </p:cNvSpPr>
                    <p:nvPr/>
                  </p:nvSpPr>
                  <p:spPr bwMode="auto">
                    <a:xfrm>
                      <a:off x="4761" y="7744"/>
                      <a:ext cx="5" cy="1925"/>
                    </a:xfrm>
                    <a:prstGeom prst="line">
                      <a:avLst/>
                    </a:prstGeom>
                    <a:noFill/>
                    <a:ln w="9525">
                      <a:solidFill>
                        <a:srgbClr val="000000"/>
                      </a:solidFill>
                      <a:round/>
                      <a:headEnd/>
                      <a:tailEnd/>
                    </a:ln>
                  </p:spPr>
                  <p:txBody>
                    <a:bodyPr/>
                    <a:lstStyle/>
                    <a:p>
                      <a:endParaRPr lang="es-ES"/>
                    </a:p>
                  </p:txBody>
                </p:sp>
                <p:sp>
                  <p:nvSpPr>
                    <p:cNvPr id="19" name="Line 40">
                      <a:extLst>
                        <a:ext uri="{FF2B5EF4-FFF2-40B4-BE49-F238E27FC236}">
                          <a16:creationId xmlns:a16="http://schemas.microsoft.com/office/drawing/2014/main" id="{B1A0B414-7ADC-48F6-B558-20905BD3303F}"/>
                        </a:ext>
                      </a:extLst>
                    </p:cNvPr>
                    <p:cNvSpPr>
                      <a:spLocks noChangeShapeType="1"/>
                    </p:cNvSpPr>
                    <p:nvPr/>
                  </p:nvSpPr>
                  <p:spPr bwMode="auto">
                    <a:xfrm>
                      <a:off x="4401" y="7744"/>
                      <a:ext cx="360" cy="0"/>
                    </a:xfrm>
                    <a:prstGeom prst="line">
                      <a:avLst/>
                    </a:prstGeom>
                    <a:noFill/>
                    <a:ln w="9525">
                      <a:solidFill>
                        <a:srgbClr val="000000"/>
                      </a:solidFill>
                      <a:round/>
                      <a:headEnd/>
                      <a:tailEnd/>
                    </a:ln>
                  </p:spPr>
                  <p:txBody>
                    <a:bodyPr/>
                    <a:lstStyle/>
                    <a:p>
                      <a:endParaRPr lang="es-ES"/>
                    </a:p>
                  </p:txBody>
                </p:sp>
                <p:sp>
                  <p:nvSpPr>
                    <p:cNvPr id="20" name="Line 41">
                      <a:extLst>
                        <a:ext uri="{FF2B5EF4-FFF2-40B4-BE49-F238E27FC236}">
                          <a16:creationId xmlns:a16="http://schemas.microsoft.com/office/drawing/2014/main" id="{EAA039AA-1912-4814-A4EE-B76A638A3438}"/>
                        </a:ext>
                      </a:extLst>
                    </p:cNvPr>
                    <p:cNvSpPr>
                      <a:spLocks noChangeShapeType="1"/>
                    </p:cNvSpPr>
                    <p:nvPr/>
                  </p:nvSpPr>
                  <p:spPr bwMode="auto">
                    <a:xfrm>
                      <a:off x="4401" y="8824"/>
                      <a:ext cx="900" cy="0"/>
                    </a:xfrm>
                    <a:prstGeom prst="line">
                      <a:avLst/>
                    </a:prstGeom>
                    <a:noFill/>
                    <a:ln w="9525">
                      <a:solidFill>
                        <a:srgbClr val="000000"/>
                      </a:solidFill>
                      <a:round/>
                      <a:headEnd/>
                      <a:tailEnd type="triangle" w="med" len="med"/>
                    </a:ln>
                  </p:spPr>
                  <p:txBody>
                    <a:bodyPr/>
                    <a:lstStyle/>
                    <a:p>
                      <a:endParaRPr lang="es-ES"/>
                    </a:p>
                  </p:txBody>
                </p:sp>
                <p:sp>
                  <p:nvSpPr>
                    <p:cNvPr id="21" name="Line 42">
                      <a:extLst>
                        <a:ext uri="{FF2B5EF4-FFF2-40B4-BE49-F238E27FC236}">
                          <a16:creationId xmlns:a16="http://schemas.microsoft.com/office/drawing/2014/main" id="{519EB862-0B33-4290-9F6C-52D8D306BC9C}"/>
                        </a:ext>
                      </a:extLst>
                    </p:cNvPr>
                    <p:cNvSpPr>
                      <a:spLocks noChangeShapeType="1"/>
                    </p:cNvSpPr>
                    <p:nvPr/>
                  </p:nvSpPr>
                  <p:spPr bwMode="auto">
                    <a:xfrm>
                      <a:off x="4389" y="9643"/>
                      <a:ext cx="360" cy="0"/>
                    </a:xfrm>
                    <a:prstGeom prst="line">
                      <a:avLst/>
                    </a:prstGeom>
                    <a:noFill/>
                    <a:ln w="9525">
                      <a:solidFill>
                        <a:srgbClr val="000000"/>
                      </a:solidFill>
                      <a:round/>
                      <a:headEnd/>
                      <a:tailEnd/>
                    </a:ln>
                  </p:spPr>
                  <p:txBody>
                    <a:bodyPr/>
                    <a:lstStyle/>
                    <a:p>
                      <a:endParaRPr lang="es-ES"/>
                    </a:p>
                  </p:txBody>
                </p:sp>
              </p:grpSp>
            </p:grpSp>
          </p:grpSp>
        </p:grpSp>
        <p:grpSp>
          <p:nvGrpSpPr>
            <p:cNvPr id="5" name="Group 43">
              <a:extLst>
                <a:ext uri="{FF2B5EF4-FFF2-40B4-BE49-F238E27FC236}">
                  <a16:creationId xmlns:a16="http://schemas.microsoft.com/office/drawing/2014/main" id="{4FD02CCD-81A1-4246-98F8-63595FC6A0D8}"/>
                </a:ext>
              </a:extLst>
            </p:cNvPr>
            <p:cNvGrpSpPr>
              <a:grpSpLocks/>
            </p:cNvGrpSpPr>
            <p:nvPr/>
          </p:nvGrpSpPr>
          <p:grpSpPr bwMode="auto">
            <a:xfrm>
              <a:off x="9621" y="6124"/>
              <a:ext cx="2221" cy="5241"/>
              <a:chOff x="9801" y="6147"/>
              <a:chExt cx="2221" cy="5241"/>
            </a:xfrm>
          </p:grpSpPr>
          <p:sp>
            <p:nvSpPr>
              <p:cNvPr id="6" name="Text Box 44">
                <a:extLst>
                  <a:ext uri="{FF2B5EF4-FFF2-40B4-BE49-F238E27FC236}">
                    <a16:creationId xmlns:a16="http://schemas.microsoft.com/office/drawing/2014/main" id="{6EB0D3C8-2B60-4EEB-B6AD-C5D0F8BE74D3}"/>
                  </a:ext>
                </a:extLst>
              </p:cNvPr>
              <p:cNvSpPr txBox="1">
                <a:spLocks noChangeArrowheads="1"/>
              </p:cNvSpPr>
              <p:nvPr/>
            </p:nvSpPr>
            <p:spPr bwMode="auto">
              <a:xfrm>
                <a:off x="9801" y="6147"/>
                <a:ext cx="540" cy="5241"/>
              </a:xfrm>
              <a:prstGeom prst="rect">
                <a:avLst/>
              </a:prstGeom>
              <a:solidFill>
                <a:srgbClr val="FFFFFF"/>
              </a:solidFill>
              <a:ln w="9525">
                <a:solidFill>
                  <a:srgbClr val="000000"/>
                </a:solidFill>
                <a:miter lim="800000"/>
                <a:headEnd/>
                <a:tailEnd/>
              </a:ln>
            </p:spPr>
            <p:txBody>
              <a:bodyPr/>
              <a:lstStyle/>
              <a:p>
                <a:pPr algn="ctr" eaLnBrk="0" hangingPunct="0"/>
                <a:r>
                  <a:rPr lang="es-ES" sz="1500" b="1">
                    <a:latin typeface="Lucida Console" pitchFamily="49" charset="0"/>
                  </a:rPr>
                  <a:t>E</a:t>
                </a:r>
              </a:p>
              <a:p>
                <a:pPr algn="ctr" eaLnBrk="0" hangingPunct="0"/>
                <a:endParaRPr lang="es-ES" sz="1500" b="1">
                  <a:latin typeface="Lucida Console" pitchFamily="49" charset="0"/>
                </a:endParaRPr>
              </a:p>
              <a:p>
                <a:pPr algn="ctr" eaLnBrk="0" hangingPunct="0"/>
                <a:r>
                  <a:rPr lang="es-ES" sz="1500" b="1">
                    <a:latin typeface="Lucida Console" pitchFamily="49" charset="0"/>
                  </a:rPr>
                  <a:t>N</a:t>
                </a:r>
              </a:p>
              <a:p>
                <a:pPr algn="ctr" eaLnBrk="0" hangingPunct="0"/>
                <a:endParaRPr lang="es-ES" sz="1500" b="1">
                  <a:latin typeface="Lucida Console" pitchFamily="49" charset="0"/>
                </a:endParaRPr>
              </a:p>
              <a:p>
                <a:pPr algn="ctr" eaLnBrk="0" hangingPunct="0"/>
                <a:r>
                  <a:rPr lang="es-ES" sz="1500" b="1">
                    <a:latin typeface="Lucida Console" pitchFamily="49" charset="0"/>
                  </a:rPr>
                  <a:t>L</a:t>
                </a:r>
              </a:p>
              <a:p>
                <a:pPr algn="ctr" eaLnBrk="0" hangingPunct="0"/>
                <a:endParaRPr lang="es-ES" sz="1500" b="1">
                  <a:latin typeface="Lucida Console" pitchFamily="49" charset="0"/>
                </a:endParaRPr>
              </a:p>
              <a:p>
                <a:pPr algn="ctr" eaLnBrk="0" hangingPunct="0"/>
                <a:r>
                  <a:rPr lang="es-ES" sz="1500" b="1">
                    <a:latin typeface="Lucida Console" pitchFamily="49" charset="0"/>
                  </a:rPr>
                  <a:t>A</a:t>
                </a:r>
              </a:p>
              <a:p>
                <a:pPr algn="ctr" eaLnBrk="0" hangingPunct="0"/>
                <a:endParaRPr lang="es-ES" sz="1500" b="1">
                  <a:latin typeface="Lucida Console" pitchFamily="49" charset="0"/>
                </a:endParaRPr>
              </a:p>
              <a:p>
                <a:pPr algn="ctr" eaLnBrk="0" hangingPunct="0"/>
                <a:r>
                  <a:rPr lang="es-ES" sz="1500" b="1">
                    <a:latin typeface="Lucida Console" pitchFamily="49" charset="0"/>
                  </a:rPr>
                  <a:t>Z</a:t>
                </a:r>
              </a:p>
              <a:p>
                <a:pPr algn="ctr" eaLnBrk="0" hangingPunct="0"/>
                <a:endParaRPr lang="es-ES" sz="1500" b="1">
                  <a:latin typeface="Lucida Console" pitchFamily="49" charset="0"/>
                </a:endParaRPr>
              </a:p>
              <a:p>
                <a:pPr algn="ctr" eaLnBrk="0" hangingPunct="0"/>
                <a:r>
                  <a:rPr lang="es-ES" sz="1500" b="1">
                    <a:latin typeface="Lucida Console" pitchFamily="49" charset="0"/>
                  </a:rPr>
                  <a:t>A</a:t>
                </a:r>
              </a:p>
              <a:p>
                <a:pPr algn="ctr" eaLnBrk="0" hangingPunct="0"/>
                <a:endParaRPr lang="es-ES" sz="1500" b="1">
                  <a:latin typeface="Lucida Console" pitchFamily="49" charset="0"/>
                </a:endParaRPr>
              </a:p>
              <a:p>
                <a:pPr algn="ctr" eaLnBrk="0" hangingPunct="0"/>
                <a:r>
                  <a:rPr lang="es-ES" sz="1500" b="1">
                    <a:latin typeface="Lucida Console" pitchFamily="49" charset="0"/>
                  </a:rPr>
                  <a:t>D</a:t>
                </a:r>
              </a:p>
              <a:p>
                <a:pPr algn="ctr" eaLnBrk="0" hangingPunct="0"/>
                <a:endParaRPr lang="es-ES" sz="1500" b="1">
                  <a:latin typeface="Lucida Console" pitchFamily="49" charset="0"/>
                </a:endParaRPr>
              </a:p>
              <a:p>
                <a:pPr algn="ctr" eaLnBrk="0" hangingPunct="0"/>
                <a:r>
                  <a:rPr lang="es-ES" sz="1500" b="1">
                    <a:latin typeface="Lucida Console" pitchFamily="49" charset="0"/>
                  </a:rPr>
                  <a:t>O</a:t>
                </a:r>
              </a:p>
              <a:p>
                <a:pPr algn="ctr" eaLnBrk="0" hangingPunct="0"/>
                <a:endParaRPr lang="es-ES" sz="1500" b="1">
                  <a:latin typeface="Lucida Console" pitchFamily="49" charset="0"/>
                </a:endParaRPr>
              </a:p>
              <a:p>
                <a:pPr algn="ctr" eaLnBrk="0" hangingPunct="0"/>
                <a:r>
                  <a:rPr lang="es-ES" sz="1500" b="1">
                    <a:latin typeface="Lucida Console" pitchFamily="49" charset="0"/>
                  </a:rPr>
                  <a:t>R</a:t>
                </a:r>
              </a:p>
            </p:txBody>
          </p:sp>
          <p:sp>
            <p:nvSpPr>
              <p:cNvPr id="7" name="Text Box 45">
                <a:extLst>
                  <a:ext uri="{FF2B5EF4-FFF2-40B4-BE49-F238E27FC236}">
                    <a16:creationId xmlns:a16="http://schemas.microsoft.com/office/drawing/2014/main" id="{855543CD-84EC-4EBA-852E-536946422BE4}"/>
                  </a:ext>
                </a:extLst>
              </p:cNvPr>
              <p:cNvSpPr txBox="1">
                <a:spLocks noChangeArrowheads="1"/>
              </p:cNvSpPr>
              <p:nvPr/>
            </p:nvSpPr>
            <p:spPr bwMode="auto">
              <a:xfrm>
                <a:off x="10942" y="7136"/>
                <a:ext cx="1080" cy="3240"/>
              </a:xfrm>
              <a:prstGeom prst="rect">
                <a:avLst/>
              </a:prstGeom>
              <a:solidFill>
                <a:srgbClr val="FFFFFF"/>
              </a:solidFill>
              <a:ln w="9525">
                <a:solidFill>
                  <a:srgbClr val="000000"/>
                </a:solidFill>
                <a:miter lim="800000"/>
                <a:headEnd/>
                <a:tailEnd/>
              </a:ln>
            </p:spPr>
            <p:txBody>
              <a:bodyPr/>
              <a:lstStyle/>
              <a:p>
                <a:pPr algn="ctr" eaLnBrk="0" hangingPunct="0"/>
                <a:r>
                  <a:rPr lang="es-ES" sz="1600" b="1">
                    <a:latin typeface="Times New Roman" charset="0"/>
                  </a:rPr>
                  <a:t>A</a:t>
                </a:r>
              </a:p>
              <a:p>
                <a:pPr algn="ctr" eaLnBrk="0" hangingPunct="0"/>
                <a:r>
                  <a:rPr lang="es-ES" sz="1600" b="1">
                    <a:latin typeface="Times New Roman" charset="0"/>
                  </a:rPr>
                  <a:t>r</a:t>
                </a:r>
              </a:p>
              <a:p>
                <a:pPr algn="ctr" eaLnBrk="0" hangingPunct="0"/>
                <a:r>
                  <a:rPr lang="es-ES" sz="1600" b="1">
                    <a:latin typeface="Times New Roman" charset="0"/>
                  </a:rPr>
                  <a:t>c</a:t>
                </a:r>
              </a:p>
              <a:p>
                <a:pPr algn="ctr" eaLnBrk="0" hangingPunct="0"/>
                <a:r>
                  <a:rPr lang="es-ES" sz="1600" b="1">
                    <a:latin typeface="Times New Roman" charset="0"/>
                  </a:rPr>
                  <a:t>h</a:t>
                </a:r>
              </a:p>
              <a:p>
                <a:pPr algn="ctr" eaLnBrk="0" hangingPunct="0"/>
                <a:r>
                  <a:rPr lang="es-ES" sz="1600" b="1">
                    <a:latin typeface="Times New Roman" charset="0"/>
                  </a:rPr>
                  <a:t>i</a:t>
                </a:r>
              </a:p>
              <a:p>
                <a:pPr algn="ctr" eaLnBrk="0" hangingPunct="0"/>
                <a:r>
                  <a:rPr lang="es-ES" sz="1600" b="1">
                    <a:latin typeface="Times New Roman" charset="0"/>
                  </a:rPr>
                  <a:t>v</a:t>
                </a:r>
              </a:p>
              <a:p>
                <a:pPr algn="ctr" eaLnBrk="0" hangingPunct="0"/>
                <a:r>
                  <a:rPr lang="es-ES" sz="1600" b="1">
                    <a:latin typeface="Times New Roman" charset="0"/>
                  </a:rPr>
                  <a:t>o (.exe)</a:t>
                </a:r>
              </a:p>
            </p:txBody>
          </p:sp>
          <p:sp>
            <p:nvSpPr>
              <p:cNvPr id="8" name="Line 46">
                <a:extLst>
                  <a:ext uri="{FF2B5EF4-FFF2-40B4-BE49-F238E27FC236}">
                    <a16:creationId xmlns:a16="http://schemas.microsoft.com/office/drawing/2014/main" id="{8F4BF9CA-67DF-40D1-B874-FC9B4F7841E3}"/>
                  </a:ext>
                </a:extLst>
              </p:cNvPr>
              <p:cNvSpPr>
                <a:spLocks noChangeShapeType="1"/>
              </p:cNvSpPr>
              <p:nvPr/>
            </p:nvSpPr>
            <p:spPr bwMode="auto">
              <a:xfrm>
                <a:off x="10359" y="8516"/>
                <a:ext cx="540" cy="0"/>
              </a:xfrm>
              <a:prstGeom prst="line">
                <a:avLst/>
              </a:prstGeom>
              <a:noFill/>
              <a:ln w="9525">
                <a:solidFill>
                  <a:srgbClr val="000000"/>
                </a:solidFill>
                <a:round/>
                <a:headEnd/>
                <a:tailEnd type="triangle" w="med" len="med"/>
              </a:ln>
            </p:spPr>
            <p:txBody>
              <a:bodyPr/>
              <a:lstStyle/>
              <a:p>
                <a:endParaRPr lang="es-ES"/>
              </a:p>
            </p:txBody>
          </p:sp>
        </p:grpSp>
      </p:grpSp>
    </p:spTree>
    <p:extLst>
      <p:ext uri="{BB962C8B-B14F-4D97-AF65-F5344CB8AC3E}">
        <p14:creationId xmlns:p14="http://schemas.microsoft.com/office/powerpoint/2010/main" val="7122465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8D35973E-5206-4FD0-AD63-1AE2BE847ED3}"/>
              </a:ext>
            </a:extLst>
          </p:cNvPr>
          <p:cNvSpPr>
            <a:spLocks noChangeArrowheads="1"/>
          </p:cNvSpPr>
          <p:nvPr/>
        </p:nvSpPr>
        <p:spPr bwMode="auto">
          <a:xfrm>
            <a:off x="381000" y="424838"/>
            <a:ext cx="6777445" cy="492443"/>
          </a:xfrm>
          <a:prstGeom prst="rect">
            <a:avLst/>
          </a:prstGeom>
          <a:noFill/>
          <a:ln w="9525">
            <a:noFill/>
            <a:miter lim="800000"/>
            <a:headEnd/>
            <a:tailEnd/>
          </a:ln>
          <a:effectLst/>
        </p:spPr>
        <p:txBody>
          <a:bodyPr wrap="squar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ES" sz="2600" b="1" i="0" u="none" strike="noStrike" kern="1200" cap="none" spc="0" normalizeH="0" baseline="0" noProof="0" dirty="0">
                <a:ln>
                  <a:noFill/>
                </a:ln>
                <a:solidFill>
                  <a:srgbClr val="0099A8"/>
                </a:solidFill>
                <a:effectLst/>
                <a:uLnTx/>
                <a:uFillTx/>
                <a:latin typeface="Arial" charset="0"/>
                <a:ea typeface="+mn-ea"/>
                <a:cs typeface="+mn-cs"/>
              </a:rPr>
              <a:t>Elementos de un programa en C/C++</a:t>
            </a:r>
          </a:p>
        </p:txBody>
      </p:sp>
      <p:sp>
        <p:nvSpPr>
          <p:cNvPr id="3" name="Rectangle 5">
            <a:extLst>
              <a:ext uri="{FF2B5EF4-FFF2-40B4-BE49-F238E27FC236}">
                <a16:creationId xmlns:a16="http://schemas.microsoft.com/office/drawing/2014/main" id="{0D77BE34-3B9E-480C-980B-AD73B8A236F6}"/>
              </a:ext>
            </a:extLst>
          </p:cNvPr>
          <p:cNvSpPr>
            <a:spLocks noChangeArrowheads="1"/>
          </p:cNvSpPr>
          <p:nvPr/>
        </p:nvSpPr>
        <p:spPr bwMode="auto">
          <a:xfrm>
            <a:off x="896983" y="1551071"/>
            <a:ext cx="7345251" cy="446276"/>
          </a:xfrm>
          <a:prstGeom prst="rect">
            <a:avLst/>
          </a:prstGeom>
          <a:noFill/>
          <a:ln w="9525">
            <a:noFill/>
            <a:miter lim="800000"/>
            <a:headEnd/>
            <a:tailEnd/>
          </a:ln>
          <a:effectLst/>
        </p:spPr>
        <p:txBody>
          <a:bodyPr wrap="square" lIns="228528" bIns="0" anchor="ctr">
            <a:spAutoFit/>
          </a:bodyPr>
          <a:lstStyle/>
          <a:p>
            <a:pPr marL="342900" indent="-342900">
              <a:lnSpc>
                <a:spcPct val="130000"/>
              </a:lnSpc>
              <a:buFontTx/>
              <a:buAutoNum type="arabicPeriod"/>
              <a:tabLst>
                <a:tab pos="431800" algn="l"/>
              </a:tabLst>
            </a:pPr>
            <a:r>
              <a:rPr lang="es-MX" sz="2000" b="1" dirty="0"/>
              <a:t>Juego de Caracteres C/C++</a:t>
            </a:r>
          </a:p>
        </p:txBody>
      </p:sp>
      <p:sp>
        <p:nvSpPr>
          <p:cNvPr id="4" name="Rectangle 8">
            <a:extLst>
              <a:ext uri="{FF2B5EF4-FFF2-40B4-BE49-F238E27FC236}">
                <a16:creationId xmlns:a16="http://schemas.microsoft.com/office/drawing/2014/main" id="{2B61AB45-51B2-47F2-9957-52C5CA99845E}"/>
              </a:ext>
            </a:extLst>
          </p:cNvPr>
          <p:cNvSpPr>
            <a:spLocks noChangeArrowheads="1"/>
          </p:cNvSpPr>
          <p:nvPr/>
        </p:nvSpPr>
        <p:spPr bwMode="auto">
          <a:xfrm>
            <a:off x="896983" y="2371997"/>
            <a:ext cx="8458200" cy="2978150"/>
          </a:xfrm>
          <a:prstGeom prst="rect">
            <a:avLst/>
          </a:prstGeom>
          <a:noFill/>
          <a:ln w="9525">
            <a:noFill/>
            <a:miter lim="800000"/>
            <a:headEnd/>
            <a:tailEnd/>
          </a:ln>
          <a:effectLst/>
        </p:spPr>
        <p:txBody>
          <a:bodyPr wrap="square">
            <a:spAutoFit/>
          </a:bodyPr>
          <a:lstStyle/>
          <a:p>
            <a:pPr algn="just">
              <a:lnSpc>
                <a:spcPct val="150000"/>
              </a:lnSpc>
            </a:pPr>
            <a:r>
              <a:rPr lang="es-MX" sz="2100" dirty="0">
                <a:latin typeface="Courier New" pitchFamily="49" charset="0"/>
                <a:cs typeface="Courier New" pitchFamily="49" charset="0"/>
              </a:rPr>
              <a:t>a b c d e f g h i j k l m n o p q r s t u v w x y z</a:t>
            </a:r>
            <a:endParaRPr lang="es-MX" sz="2100" dirty="0">
              <a:latin typeface="Courier New" pitchFamily="49" charset="0"/>
              <a:ea typeface="Arial Unicode MS" pitchFamily="34" charset="-128"/>
              <a:cs typeface="Arial Unicode MS" pitchFamily="34" charset="-128"/>
            </a:endParaRPr>
          </a:p>
          <a:p>
            <a:pPr algn="just" eaLnBrk="0" hangingPunct="0">
              <a:lnSpc>
                <a:spcPct val="150000"/>
              </a:lnSpc>
            </a:pPr>
            <a:r>
              <a:rPr lang="es-MX" sz="2100" dirty="0">
                <a:latin typeface="Courier New" pitchFamily="49" charset="0"/>
                <a:ea typeface="Arial Unicode MS" pitchFamily="34" charset="-128"/>
                <a:cs typeface="Arial Unicode MS" pitchFamily="34" charset="-128"/>
              </a:rPr>
              <a:t>A B C D E F G H I J K L M N O P Q R S T U V W X Y Z</a:t>
            </a:r>
          </a:p>
          <a:p>
            <a:pPr algn="just" eaLnBrk="0" hangingPunct="0">
              <a:lnSpc>
                <a:spcPct val="150000"/>
              </a:lnSpc>
            </a:pPr>
            <a:r>
              <a:rPr lang="es-MX" sz="2100" dirty="0">
                <a:latin typeface="Courier New" pitchFamily="49" charset="0"/>
                <a:cs typeface="Courier New" pitchFamily="49" charset="0"/>
              </a:rPr>
              <a:t>0 1 2 3 4 5 6 7 8 9</a:t>
            </a:r>
            <a:endParaRPr lang="es-MX" sz="2100" dirty="0">
              <a:latin typeface="Courier New" pitchFamily="49" charset="0"/>
              <a:ea typeface="Arial Unicode MS" pitchFamily="34" charset="-128"/>
              <a:cs typeface="Arial Unicode MS" pitchFamily="34" charset="-128"/>
            </a:endParaRPr>
          </a:p>
          <a:p>
            <a:pPr algn="just" eaLnBrk="0" hangingPunct="0">
              <a:lnSpc>
                <a:spcPct val="150000"/>
              </a:lnSpc>
            </a:pPr>
            <a:r>
              <a:rPr lang="es-MX" sz="2100" dirty="0">
                <a:latin typeface="Courier New" pitchFamily="49" charset="0"/>
                <a:ea typeface="Arial Unicode MS" pitchFamily="34" charset="-128"/>
                <a:cs typeface="Arial Unicode MS" pitchFamily="34" charset="-128"/>
              </a:rPr>
              <a:t>+ - * / = { } ( ) [ ] &lt; &gt; ‘</a:t>
            </a:r>
          </a:p>
          <a:p>
            <a:pPr algn="just" eaLnBrk="0" hangingPunct="0">
              <a:lnSpc>
                <a:spcPct val="150000"/>
              </a:lnSpc>
            </a:pPr>
            <a:r>
              <a:rPr lang="es-MX" sz="2100" dirty="0">
                <a:latin typeface="Courier New" pitchFamily="49" charset="0"/>
                <a:ea typeface="Arial Unicode MS" pitchFamily="34" charset="-128"/>
                <a:cs typeface="Arial Unicode MS" pitchFamily="34" charset="-128"/>
              </a:rPr>
              <a:t>“ ! # ~ ^ % &amp; _ : ; , . ? | \</a:t>
            </a:r>
          </a:p>
          <a:p>
            <a:pPr algn="just" eaLnBrk="0" hangingPunct="0">
              <a:lnSpc>
                <a:spcPct val="150000"/>
              </a:lnSpc>
            </a:pPr>
            <a:r>
              <a:rPr lang="es-MX" sz="2100" dirty="0">
                <a:latin typeface="Courier New" pitchFamily="49" charset="0"/>
                <a:ea typeface="Arial Unicode MS" pitchFamily="34" charset="-128"/>
                <a:cs typeface="Arial Unicode MS" pitchFamily="34" charset="-128"/>
              </a:rPr>
              <a:t>Carácter en blanco y tabulador</a:t>
            </a:r>
            <a:endParaRPr lang="es-MX" sz="2100" dirty="0">
              <a:latin typeface="Courier New" pitchFamily="49" charset="0"/>
            </a:endParaRPr>
          </a:p>
        </p:txBody>
      </p:sp>
      <p:sp>
        <p:nvSpPr>
          <p:cNvPr id="5" name="Line 10">
            <a:extLst>
              <a:ext uri="{FF2B5EF4-FFF2-40B4-BE49-F238E27FC236}">
                <a16:creationId xmlns:a16="http://schemas.microsoft.com/office/drawing/2014/main" id="{2E2525C8-8B1F-468E-B291-28F61425D399}"/>
              </a:ext>
            </a:extLst>
          </p:cNvPr>
          <p:cNvSpPr>
            <a:spLocks noChangeShapeType="1"/>
          </p:cNvSpPr>
          <p:nvPr/>
        </p:nvSpPr>
        <p:spPr bwMode="auto">
          <a:xfrm>
            <a:off x="1128302" y="2139918"/>
            <a:ext cx="8382000" cy="0"/>
          </a:xfrm>
          <a:prstGeom prst="line">
            <a:avLst/>
          </a:prstGeom>
          <a:noFill/>
          <a:ln w="38100">
            <a:solidFill>
              <a:schemeClr val="tx1"/>
            </a:solidFill>
            <a:round/>
            <a:headEnd/>
            <a:tailEnd/>
          </a:ln>
          <a:effectLst/>
        </p:spPr>
        <p:txBody>
          <a:bodyPr/>
          <a:lstStyle/>
          <a:p>
            <a:endParaRPr lang="es-ES"/>
          </a:p>
        </p:txBody>
      </p:sp>
    </p:spTree>
    <p:extLst>
      <p:ext uri="{BB962C8B-B14F-4D97-AF65-F5344CB8AC3E}">
        <p14:creationId xmlns:p14="http://schemas.microsoft.com/office/powerpoint/2010/main" val="15825183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8D35973E-5206-4FD0-AD63-1AE2BE847ED3}"/>
              </a:ext>
            </a:extLst>
          </p:cNvPr>
          <p:cNvSpPr>
            <a:spLocks noChangeArrowheads="1"/>
          </p:cNvSpPr>
          <p:nvPr/>
        </p:nvSpPr>
        <p:spPr bwMode="auto">
          <a:xfrm>
            <a:off x="381000" y="424838"/>
            <a:ext cx="6777445" cy="492443"/>
          </a:xfrm>
          <a:prstGeom prst="rect">
            <a:avLst/>
          </a:prstGeom>
          <a:noFill/>
          <a:ln w="9525">
            <a:noFill/>
            <a:miter lim="800000"/>
            <a:headEnd/>
            <a:tailEnd/>
          </a:ln>
          <a:effectLst/>
        </p:spPr>
        <p:txBody>
          <a:bodyPr wrap="squar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ES" sz="2600" b="1" i="0" u="none" strike="noStrike" kern="1200" cap="none" spc="0" normalizeH="0" baseline="0" noProof="0" dirty="0">
                <a:ln>
                  <a:noFill/>
                </a:ln>
                <a:solidFill>
                  <a:srgbClr val="0099A8"/>
                </a:solidFill>
                <a:effectLst/>
                <a:uLnTx/>
                <a:uFillTx/>
                <a:latin typeface="Arial" charset="0"/>
                <a:ea typeface="+mn-ea"/>
                <a:cs typeface="+mn-cs"/>
              </a:rPr>
              <a:t>Elementos de un programa en C/C++</a:t>
            </a:r>
          </a:p>
        </p:txBody>
      </p:sp>
      <p:sp>
        <p:nvSpPr>
          <p:cNvPr id="5" name="Rectangle 7">
            <a:extLst>
              <a:ext uri="{FF2B5EF4-FFF2-40B4-BE49-F238E27FC236}">
                <a16:creationId xmlns:a16="http://schemas.microsoft.com/office/drawing/2014/main" id="{DAD39A2B-4A30-40A4-AECB-15517862FA43}"/>
              </a:ext>
            </a:extLst>
          </p:cNvPr>
          <p:cNvSpPr>
            <a:spLocks noChangeArrowheads="1"/>
          </p:cNvSpPr>
          <p:nvPr/>
        </p:nvSpPr>
        <p:spPr bwMode="auto">
          <a:xfrm>
            <a:off x="381000" y="1173602"/>
            <a:ext cx="5715000" cy="446276"/>
          </a:xfrm>
          <a:prstGeom prst="rect">
            <a:avLst/>
          </a:prstGeom>
          <a:noFill/>
          <a:ln w="9525">
            <a:noFill/>
            <a:miter lim="800000"/>
            <a:headEnd/>
            <a:tailEnd/>
          </a:ln>
          <a:effectLst/>
        </p:spPr>
        <p:txBody>
          <a:bodyPr wrap="square" lIns="228528" bIns="0" anchor="ctr">
            <a:spAutoFit/>
          </a:bodyPr>
          <a:lstStyle/>
          <a:p>
            <a:pPr marL="342900" indent="-342900">
              <a:lnSpc>
                <a:spcPct val="130000"/>
              </a:lnSpc>
              <a:buFontTx/>
              <a:buAutoNum type="arabicPeriod" startAt="2"/>
              <a:tabLst>
                <a:tab pos="431800" algn="l"/>
              </a:tabLst>
            </a:pPr>
            <a:r>
              <a:rPr lang="es-MX" sz="2000" b="1" dirty="0"/>
              <a:t>Palabras Reservadas en C/C++</a:t>
            </a:r>
          </a:p>
        </p:txBody>
      </p:sp>
      <p:sp>
        <p:nvSpPr>
          <p:cNvPr id="6" name="Rectangle 9">
            <a:extLst>
              <a:ext uri="{FF2B5EF4-FFF2-40B4-BE49-F238E27FC236}">
                <a16:creationId xmlns:a16="http://schemas.microsoft.com/office/drawing/2014/main" id="{5C64D923-1854-48DF-AF64-D8B60393A897}"/>
              </a:ext>
            </a:extLst>
          </p:cNvPr>
          <p:cNvSpPr>
            <a:spLocks noChangeArrowheads="1"/>
          </p:cNvSpPr>
          <p:nvPr/>
        </p:nvSpPr>
        <p:spPr bwMode="auto">
          <a:xfrm>
            <a:off x="650845" y="1915387"/>
            <a:ext cx="2066229" cy="1569660"/>
          </a:xfrm>
          <a:prstGeom prst="rect">
            <a:avLst/>
          </a:prstGeom>
          <a:noFill/>
          <a:ln w="9525">
            <a:noFill/>
            <a:miter lim="800000"/>
            <a:headEnd/>
            <a:tailEnd/>
          </a:ln>
          <a:effectLst/>
        </p:spPr>
        <p:txBody>
          <a:bodyPr wrap="square">
            <a:spAutoFit/>
          </a:bodyPr>
          <a:lstStyle/>
          <a:p>
            <a:r>
              <a:rPr lang="es-MX" sz="1600" b="1" dirty="0">
                <a:ea typeface="Arial Unicode MS" pitchFamily="34" charset="-128"/>
                <a:cs typeface="Arial Unicode MS" pitchFamily="34" charset="-128"/>
              </a:rPr>
              <a:t>Palabras Reservadas ISO/ANSI C++</a:t>
            </a:r>
            <a:endParaRPr lang="es-MX" sz="1600" dirty="0">
              <a:ea typeface="Arial Unicode MS" pitchFamily="34" charset="-128"/>
              <a:cs typeface="Arial Unicode MS" pitchFamily="34" charset="-128"/>
            </a:endParaRPr>
          </a:p>
          <a:p>
            <a:r>
              <a:rPr lang="es-MX" sz="1600" dirty="0">
                <a:ea typeface="Arial Unicode MS" pitchFamily="34" charset="-128"/>
                <a:cs typeface="Arial Unicode MS" pitchFamily="34" charset="-128"/>
              </a:rPr>
              <a:t>(</a:t>
            </a:r>
            <a:r>
              <a:rPr lang="es-MX" sz="1600" i="1" dirty="0">
                <a:ea typeface="Arial Unicode MS" pitchFamily="34" charset="-128"/>
                <a:cs typeface="Arial Unicode MS" pitchFamily="34" charset="-128"/>
              </a:rPr>
              <a:t>Recuerde que C es un subconjunto de C++</a:t>
            </a:r>
            <a:r>
              <a:rPr lang="es-MX" sz="1600" dirty="0">
                <a:ea typeface="Arial Unicode MS" pitchFamily="34" charset="-128"/>
                <a:cs typeface="Arial Unicode MS" pitchFamily="34" charset="-128"/>
              </a:rPr>
              <a:t>)</a:t>
            </a:r>
            <a:endParaRPr lang="es-MX" sz="1600" dirty="0"/>
          </a:p>
        </p:txBody>
      </p:sp>
      <p:graphicFrame>
        <p:nvGraphicFramePr>
          <p:cNvPr id="7" name="Object 407">
            <a:extLst>
              <a:ext uri="{FF2B5EF4-FFF2-40B4-BE49-F238E27FC236}">
                <a16:creationId xmlns:a16="http://schemas.microsoft.com/office/drawing/2014/main" id="{6076E89D-779A-46BE-BFAC-5658E1AF6A9D}"/>
              </a:ext>
            </a:extLst>
          </p:cNvPr>
          <p:cNvGraphicFramePr>
            <a:graphicFrameLocks noChangeAspect="1"/>
          </p:cNvGraphicFramePr>
          <p:nvPr>
            <p:extLst>
              <p:ext uri="{D42A27DB-BD31-4B8C-83A1-F6EECF244321}">
                <p14:modId xmlns:p14="http://schemas.microsoft.com/office/powerpoint/2010/main" val="2723378354"/>
              </p:ext>
            </p:extLst>
          </p:nvPr>
        </p:nvGraphicFramePr>
        <p:xfrm>
          <a:off x="2717074" y="1954576"/>
          <a:ext cx="9506731" cy="4393973"/>
        </p:xfrm>
        <a:graphic>
          <a:graphicData uri="http://schemas.openxmlformats.org/presentationml/2006/ole">
            <mc:AlternateContent xmlns:mc="http://schemas.openxmlformats.org/markup-compatibility/2006">
              <mc:Choice xmlns:v="urn:schemas-microsoft-com:vml" Requires="v">
                <p:oleObj spid="_x0000_s4102" name="Documento" r:id="rId3" imgW="6588720" imgH="3305880" progId="Word.Document.8">
                  <p:embed/>
                </p:oleObj>
              </mc:Choice>
              <mc:Fallback>
                <p:oleObj name="Documento" r:id="rId3" imgW="6588720" imgH="3305880" progId="Word.Document.8">
                  <p:embed/>
                  <p:pic>
                    <p:nvPicPr>
                      <p:cNvPr id="105879" name="Object 40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17074" y="1954576"/>
                        <a:ext cx="9506731" cy="4393973"/>
                      </a:xfrm>
                      <a:prstGeom prst="rect">
                        <a:avLst/>
                      </a:prstGeom>
                      <a:noFill/>
                      <a:ln>
                        <a:noFill/>
                      </a:ln>
                      <a:effectLst/>
                    </p:spPr>
                  </p:pic>
                </p:oleObj>
              </mc:Fallback>
            </mc:AlternateContent>
          </a:graphicData>
        </a:graphic>
      </p:graphicFrame>
      <p:sp>
        <p:nvSpPr>
          <p:cNvPr id="8" name="Line 10">
            <a:extLst>
              <a:ext uri="{FF2B5EF4-FFF2-40B4-BE49-F238E27FC236}">
                <a16:creationId xmlns:a16="http://schemas.microsoft.com/office/drawing/2014/main" id="{70D05293-6B65-4C47-858A-7702709DDC33}"/>
              </a:ext>
            </a:extLst>
          </p:cNvPr>
          <p:cNvSpPr>
            <a:spLocks noChangeShapeType="1"/>
          </p:cNvSpPr>
          <p:nvPr/>
        </p:nvSpPr>
        <p:spPr bwMode="auto">
          <a:xfrm>
            <a:off x="650845" y="1645246"/>
            <a:ext cx="8382000" cy="0"/>
          </a:xfrm>
          <a:prstGeom prst="line">
            <a:avLst/>
          </a:prstGeom>
          <a:noFill/>
          <a:ln w="38100">
            <a:solidFill>
              <a:schemeClr val="tx1"/>
            </a:solidFill>
            <a:round/>
            <a:headEnd/>
            <a:tailEnd/>
          </a:ln>
          <a:effectLst/>
        </p:spPr>
        <p:txBody>
          <a:bodyPr/>
          <a:lstStyle/>
          <a:p>
            <a:endParaRPr lang="es-ES"/>
          </a:p>
        </p:txBody>
      </p:sp>
    </p:spTree>
    <p:extLst>
      <p:ext uri="{BB962C8B-B14F-4D97-AF65-F5344CB8AC3E}">
        <p14:creationId xmlns:p14="http://schemas.microsoft.com/office/powerpoint/2010/main" val="1255574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8D35973E-5206-4FD0-AD63-1AE2BE847ED3}"/>
              </a:ext>
            </a:extLst>
          </p:cNvPr>
          <p:cNvSpPr>
            <a:spLocks noChangeArrowheads="1"/>
          </p:cNvSpPr>
          <p:nvPr/>
        </p:nvSpPr>
        <p:spPr bwMode="auto">
          <a:xfrm>
            <a:off x="381000" y="424838"/>
            <a:ext cx="6777445" cy="492443"/>
          </a:xfrm>
          <a:prstGeom prst="rect">
            <a:avLst/>
          </a:prstGeom>
          <a:noFill/>
          <a:ln w="9525">
            <a:noFill/>
            <a:miter lim="800000"/>
            <a:headEnd/>
            <a:tailEnd/>
          </a:ln>
          <a:effectLst/>
        </p:spPr>
        <p:txBody>
          <a:bodyPr wrap="squar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ES" sz="2600" b="1" i="0" u="none" strike="noStrike" kern="1200" cap="none" spc="0" normalizeH="0" baseline="0" noProof="0" dirty="0">
                <a:ln>
                  <a:noFill/>
                </a:ln>
                <a:solidFill>
                  <a:srgbClr val="0099A8"/>
                </a:solidFill>
                <a:effectLst/>
                <a:uLnTx/>
                <a:uFillTx/>
                <a:latin typeface="Arial" charset="0"/>
                <a:ea typeface="+mn-ea"/>
                <a:cs typeface="+mn-cs"/>
              </a:rPr>
              <a:t>Elementos de un programa en C/C++</a:t>
            </a:r>
          </a:p>
        </p:txBody>
      </p:sp>
      <p:sp>
        <p:nvSpPr>
          <p:cNvPr id="8" name="Line 10">
            <a:extLst>
              <a:ext uri="{FF2B5EF4-FFF2-40B4-BE49-F238E27FC236}">
                <a16:creationId xmlns:a16="http://schemas.microsoft.com/office/drawing/2014/main" id="{70D05293-6B65-4C47-858A-7702709DDC33}"/>
              </a:ext>
            </a:extLst>
          </p:cNvPr>
          <p:cNvSpPr>
            <a:spLocks noChangeShapeType="1"/>
          </p:cNvSpPr>
          <p:nvPr/>
        </p:nvSpPr>
        <p:spPr bwMode="auto">
          <a:xfrm>
            <a:off x="650845" y="1645246"/>
            <a:ext cx="8382000" cy="0"/>
          </a:xfrm>
          <a:prstGeom prst="line">
            <a:avLst/>
          </a:prstGeom>
          <a:noFill/>
          <a:ln w="38100">
            <a:solidFill>
              <a:schemeClr val="tx1"/>
            </a:solidFill>
            <a:round/>
            <a:headEnd/>
            <a:tailEnd/>
          </a:ln>
          <a:effectLst/>
        </p:spPr>
        <p:txBody>
          <a:bodyPr/>
          <a:lstStyle/>
          <a:p>
            <a:endParaRPr lang="es-ES"/>
          </a:p>
        </p:txBody>
      </p:sp>
      <p:sp>
        <p:nvSpPr>
          <p:cNvPr id="9" name="Rectangle 3">
            <a:extLst>
              <a:ext uri="{FF2B5EF4-FFF2-40B4-BE49-F238E27FC236}">
                <a16:creationId xmlns:a16="http://schemas.microsoft.com/office/drawing/2014/main" id="{22D01ED1-62C2-4583-B853-F4668E7F2EEE}"/>
              </a:ext>
            </a:extLst>
          </p:cNvPr>
          <p:cNvSpPr>
            <a:spLocks noChangeArrowheads="1"/>
          </p:cNvSpPr>
          <p:nvPr/>
        </p:nvSpPr>
        <p:spPr bwMode="auto">
          <a:xfrm>
            <a:off x="381000" y="1099059"/>
            <a:ext cx="4876800" cy="442913"/>
          </a:xfrm>
          <a:prstGeom prst="rect">
            <a:avLst/>
          </a:prstGeom>
          <a:noFill/>
          <a:ln w="9525">
            <a:noFill/>
            <a:miter lim="800000"/>
            <a:headEnd/>
            <a:tailEnd/>
          </a:ln>
          <a:effectLst/>
        </p:spPr>
        <p:txBody>
          <a:bodyPr lIns="228528" bIns="0" anchor="ctr">
            <a:spAutoFit/>
          </a:bodyPr>
          <a:lstStyle/>
          <a:p>
            <a:pPr marL="342900" indent="-342900">
              <a:lnSpc>
                <a:spcPct val="130000"/>
              </a:lnSpc>
              <a:buFontTx/>
              <a:buAutoNum type="arabicPeriod" startAt="3"/>
              <a:tabLst>
                <a:tab pos="431800" algn="l"/>
              </a:tabLst>
            </a:pPr>
            <a:r>
              <a:rPr lang="es-MX" sz="2000" b="1" dirty="0"/>
              <a:t>Comentarios en C/C++</a:t>
            </a:r>
          </a:p>
        </p:txBody>
      </p:sp>
      <p:sp>
        <p:nvSpPr>
          <p:cNvPr id="10" name="Rectangle 7">
            <a:extLst>
              <a:ext uri="{FF2B5EF4-FFF2-40B4-BE49-F238E27FC236}">
                <a16:creationId xmlns:a16="http://schemas.microsoft.com/office/drawing/2014/main" id="{FB8468FE-462D-405F-93BD-3EB710202979}"/>
              </a:ext>
            </a:extLst>
          </p:cNvPr>
          <p:cNvSpPr>
            <a:spLocks noChangeArrowheads="1"/>
          </p:cNvSpPr>
          <p:nvPr/>
        </p:nvSpPr>
        <p:spPr bwMode="auto">
          <a:xfrm>
            <a:off x="650845" y="1951809"/>
            <a:ext cx="10571531" cy="3533275"/>
          </a:xfrm>
          <a:prstGeom prst="rect">
            <a:avLst/>
          </a:prstGeom>
          <a:noFill/>
          <a:ln w="9525">
            <a:noFill/>
            <a:miter lim="800000"/>
            <a:headEnd/>
            <a:tailEnd/>
          </a:ln>
          <a:effectLst/>
        </p:spPr>
        <p:txBody>
          <a:bodyPr wrap="square">
            <a:spAutoFit/>
          </a:bodyPr>
          <a:lstStyle/>
          <a:p>
            <a:pPr algn="just">
              <a:lnSpc>
                <a:spcPct val="130000"/>
              </a:lnSpc>
            </a:pPr>
            <a:r>
              <a:rPr lang="es-MX" sz="2000" dirty="0">
                <a:ea typeface="Arial Unicode MS" pitchFamily="34" charset="-128"/>
                <a:cs typeface="Arial Unicode MS" pitchFamily="34" charset="-128"/>
              </a:rPr>
              <a:t>Recordemos que los comentarios son aclaraciones que hace el programador en un programa con el fin de hacerlo más comprensivo para él mismo y para otros programadores. Inicialmente en el lenguaje C los comentarios se escribían usando un símbolo de apertura (</a:t>
            </a:r>
            <a:r>
              <a:rPr lang="es-MX" sz="2000" b="1" dirty="0">
                <a:latin typeface="Arial Black" pitchFamily="34" charset="0"/>
                <a:ea typeface="Arial Unicode MS" pitchFamily="34" charset="-128"/>
                <a:cs typeface="Arial Unicode MS" pitchFamily="34" charset="-128"/>
              </a:rPr>
              <a:t>/*</a:t>
            </a:r>
            <a:r>
              <a:rPr lang="es-MX" sz="2000" dirty="0">
                <a:ea typeface="Arial Unicode MS" pitchFamily="34" charset="-128"/>
                <a:cs typeface="Arial Unicode MS" pitchFamily="34" charset="-128"/>
              </a:rPr>
              <a:t>) y otro de cerradura (</a:t>
            </a:r>
            <a:r>
              <a:rPr lang="es-MX" sz="2000" b="1" dirty="0">
                <a:latin typeface="Arial Black" pitchFamily="34" charset="0"/>
                <a:ea typeface="Arial Unicode MS" pitchFamily="34" charset="-128"/>
                <a:cs typeface="Arial Unicode MS" pitchFamily="34" charset="-128"/>
              </a:rPr>
              <a:t>*/</a:t>
            </a:r>
            <a:r>
              <a:rPr lang="es-MX" sz="2000" dirty="0">
                <a:ea typeface="Arial Unicode MS" pitchFamily="34" charset="-128"/>
                <a:cs typeface="Arial Unicode MS" pitchFamily="34" charset="-128"/>
              </a:rPr>
              <a:t>).</a:t>
            </a:r>
          </a:p>
          <a:p>
            <a:pPr algn="just">
              <a:lnSpc>
                <a:spcPct val="130000"/>
              </a:lnSpc>
            </a:pPr>
            <a:endParaRPr lang="es-MX" sz="2000" dirty="0">
              <a:ea typeface="Arial Unicode MS" pitchFamily="34" charset="-128"/>
              <a:cs typeface="Arial Unicode MS" pitchFamily="34" charset="-128"/>
            </a:endParaRPr>
          </a:p>
          <a:p>
            <a:pPr algn="just">
              <a:lnSpc>
                <a:spcPct val="130000"/>
              </a:lnSpc>
            </a:pPr>
            <a:r>
              <a:rPr lang="es-ES" b="1" dirty="0" err="1">
                <a:latin typeface="Courier New" pitchFamily="49" charset="0"/>
                <a:ea typeface="Arial Unicode MS" pitchFamily="34" charset="-128"/>
                <a:cs typeface="Arial Unicode MS" pitchFamily="34" charset="-128"/>
              </a:rPr>
              <a:t>int</a:t>
            </a:r>
            <a:r>
              <a:rPr lang="es-ES" dirty="0">
                <a:latin typeface="Courier New" pitchFamily="49" charset="0"/>
                <a:ea typeface="Arial Unicode MS" pitchFamily="34" charset="-128"/>
                <a:cs typeface="Arial Unicode MS" pitchFamily="34" charset="-128"/>
              </a:rPr>
              <a:t> </a:t>
            </a:r>
            <a:r>
              <a:rPr lang="es-ES" dirty="0" err="1">
                <a:latin typeface="Courier New" pitchFamily="49" charset="0"/>
                <a:ea typeface="Arial Unicode MS" pitchFamily="34" charset="-128"/>
                <a:cs typeface="Arial Unicode MS" pitchFamily="34" charset="-128"/>
              </a:rPr>
              <a:t>main</a:t>
            </a:r>
            <a:r>
              <a:rPr lang="es-ES" dirty="0">
                <a:latin typeface="Courier New" pitchFamily="49" charset="0"/>
                <a:ea typeface="Arial Unicode MS" pitchFamily="34" charset="-128"/>
                <a:cs typeface="Arial Unicode MS" pitchFamily="34" charset="-128"/>
              </a:rPr>
              <a:t>()</a:t>
            </a:r>
          </a:p>
          <a:p>
            <a:pPr algn="just">
              <a:lnSpc>
                <a:spcPct val="130000"/>
              </a:lnSpc>
            </a:pPr>
            <a:r>
              <a:rPr lang="es-ES" dirty="0">
                <a:latin typeface="Courier New" pitchFamily="49" charset="0"/>
                <a:ea typeface="Arial Unicode MS" pitchFamily="34" charset="-128"/>
                <a:cs typeface="Arial Unicode MS" pitchFamily="34" charset="-128"/>
              </a:rPr>
              <a:t>{</a:t>
            </a:r>
          </a:p>
          <a:p>
            <a:pPr algn="just">
              <a:lnSpc>
                <a:spcPct val="130000"/>
              </a:lnSpc>
            </a:pPr>
            <a:r>
              <a:rPr lang="es-MX" dirty="0">
                <a:latin typeface="Courier New" pitchFamily="49" charset="0"/>
                <a:ea typeface="Arial Unicode MS" pitchFamily="34" charset="-128"/>
                <a:cs typeface="Arial Unicode MS" pitchFamily="34" charset="-128"/>
              </a:rPr>
              <a:t>	</a:t>
            </a:r>
            <a:r>
              <a:rPr lang="es-ES" b="1" dirty="0" err="1">
                <a:latin typeface="Courier New" pitchFamily="49" charset="0"/>
                <a:ea typeface="Arial Unicode MS" pitchFamily="34" charset="-128"/>
                <a:cs typeface="Arial Unicode MS" pitchFamily="34" charset="-128"/>
              </a:rPr>
              <a:t>int</a:t>
            </a:r>
            <a:r>
              <a:rPr lang="es-ES" dirty="0">
                <a:latin typeface="Courier New" pitchFamily="49" charset="0"/>
                <a:ea typeface="Arial Unicode MS" pitchFamily="34" charset="-128"/>
                <a:cs typeface="Arial Unicode MS" pitchFamily="34" charset="-128"/>
              </a:rPr>
              <a:t> x; </a:t>
            </a:r>
            <a:r>
              <a:rPr lang="es-ES" sz="1600" dirty="0">
                <a:ea typeface="Arial Unicode MS" pitchFamily="34" charset="-128"/>
                <a:cs typeface="Arial Unicode MS" pitchFamily="34" charset="-128"/>
              </a:rPr>
              <a:t>/* </a:t>
            </a:r>
            <a:r>
              <a:rPr lang="es-ES" sz="1600" dirty="0" err="1">
                <a:ea typeface="Arial Unicode MS" pitchFamily="34" charset="-128"/>
                <a:cs typeface="Arial Unicode MS" pitchFamily="34" charset="-128"/>
              </a:rPr>
              <a:t>est</a:t>
            </a:r>
            <a:r>
              <a:rPr lang="es-MX" sz="1600" dirty="0">
                <a:ea typeface="Arial Unicode MS" pitchFamily="34" charset="-128"/>
                <a:cs typeface="Arial Unicode MS" pitchFamily="34" charset="-128"/>
              </a:rPr>
              <a:t>a</a:t>
            </a:r>
            <a:r>
              <a:rPr lang="es-ES" sz="1600" dirty="0">
                <a:ea typeface="Arial Unicode MS" pitchFamily="34" charset="-128"/>
                <a:cs typeface="Arial Unicode MS" pitchFamily="34" charset="-128"/>
              </a:rPr>
              <a:t> es la declaración de una variable de tipo entero</a:t>
            </a:r>
            <a:r>
              <a:rPr lang="es-MX" sz="1600" dirty="0">
                <a:ea typeface="Arial Unicode MS" pitchFamily="34" charset="-128"/>
                <a:cs typeface="Arial Unicode MS" pitchFamily="34" charset="-128"/>
              </a:rPr>
              <a:t> </a:t>
            </a:r>
            <a:r>
              <a:rPr lang="es-ES" sz="1600" dirty="0">
                <a:ea typeface="Arial Unicode MS" pitchFamily="34" charset="-128"/>
                <a:cs typeface="Arial Unicode MS" pitchFamily="34" charset="-128"/>
              </a:rPr>
              <a:t>*/</a:t>
            </a:r>
          </a:p>
          <a:p>
            <a:pPr algn="just">
              <a:lnSpc>
                <a:spcPct val="130000"/>
              </a:lnSpc>
            </a:pPr>
            <a:r>
              <a:rPr lang="es-ES" dirty="0">
                <a:latin typeface="Courier New" pitchFamily="49" charset="0"/>
                <a:ea typeface="Arial Unicode MS" pitchFamily="34" charset="-128"/>
                <a:cs typeface="Arial Unicode MS" pitchFamily="34" charset="-128"/>
              </a:rPr>
              <a:t>}</a:t>
            </a:r>
            <a:endParaRPr lang="es-MX" dirty="0">
              <a:latin typeface="Courier New" pitchFamily="49" charset="0"/>
            </a:endParaRPr>
          </a:p>
        </p:txBody>
      </p:sp>
    </p:spTree>
    <p:extLst>
      <p:ext uri="{BB962C8B-B14F-4D97-AF65-F5344CB8AC3E}">
        <p14:creationId xmlns:p14="http://schemas.microsoft.com/office/powerpoint/2010/main" val="9482569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8D35973E-5206-4FD0-AD63-1AE2BE847ED3}"/>
              </a:ext>
            </a:extLst>
          </p:cNvPr>
          <p:cNvSpPr>
            <a:spLocks noChangeArrowheads="1"/>
          </p:cNvSpPr>
          <p:nvPr/>
        </p:nvSpPr>
        <p:spPr bwMode="auto">
          <a:xfrm>
            <a:off x="381000" y="424838"/>
            <a:ext cx="6777445" cy="492443"/>
          </a:xfrm>
          <a:prstGeom prst="rect">
            <a:avLst/>
          </a:prstGeom>
          <a:noFill/>
          <a:ln w="9525">
            <a:noFill/>
            <a:miter lim="800000"/>
            <a:headEnd/>
            <a:tailEnd/>
          </a:ln>
          <a:effectLst/>
        </p:spPr>
        <p:txBody>
          <a:bodyPr wrap="squar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ES" sz="2600" b="1" i="0" u="none" strike="noStrike" kern="1200" cap="none" spc="0" normalizeH="0" baseline="0" noProof="0" dirty="0">
                <a:ln>
                  <a:noFill/>
                </a:ln>
                <a:solidFill>
                  <a:srgbClr val="0099A8"/>
                </a:solidFill>
                <a:effectLst/>
                <a:uLnTx/>
                <a:uFillTx/>
                <a:latin typeface="Arial" charset="0"/>
                <a:ea typeface="+mn-ea"/>
                <a:cs typeface="+mn-cs"/>
              </a:rPr>
              <a:t>Elementos de un programa en C/C++</a:t>
            </a:r>
          </a:p>
        </p:txBody>
      </p:sp>
      <p:sp>
        <p:nvSpPr>
          <p:cNvPr id="8" name="Line 10">
            <a:extLst>
              <a:ext uri="{FF2B5EF4-FFF2-40B4-BE49-F238E27FC236}">
                <a16:creationId xmlns:a16="http://schemas.microsoft.com/office/drawing/2014/main" id="{70D05293-6B65-4C47-858A-7702709DDC33}"/>
              </a:ext>
            </a:extLst>
          </p:cNvPr>
          <p:cNvSpPr>
            <a:spLocks noChangeShapeType="1"/>
          </p:cNvSpPr>
          <p:nvPr/>
        </p:nvSpPr>
        <p:spPr bwMode="auto">
          <a:xfrm>
            <a:off x="650845" y="1645246"/>
            <a:ext cx="8382000" cy="0"/>
          </a:xfrm>
          <a:prstGeom prst="line">
            <a:avLst/>
          </a:prstGeom>
          <a:noFill/>
          <a:ln w="38100">
            <a:solidFill>
              <a:schemeClr val="tx1"/>
            </a:solidFill>
            <a:round/>
            <a:headEnd/>
            <a:tailEnd/>
          </a:ln>
          <a:effectLst/>
        </p:spPr>
        <p:txBody>
          <a:bodyPr/>
          <a:lstStyle/>
          <a:p>
            <a:endParaRPr lang="es-ES"/>
          </a:p>
        </p:txBody>
      </p:sp>
      <p:sp>
        <p:nvSpPr>
          <p:cNvPr id="9" name="Rectangle 3">
            <a:extLst>
              <a:ext uri="{FF2B5EF4-FFF2-40B4-BE49-F238E27FC236}">
                <a16:creationId xmlns:a16="http://schemas.microsoft.com/office/drawing/2014/main" id="{22D01ED1-62C2-4583-B853-F4668E7F2EEE}"/>
              </a:ext>
            </a:extLst>
          </p:cNvPr>
          <p:cNvSpPr>
            <a:spLocks noChangeArrowheads="1"/>
          </p:cNvSpPr>
          <p:nvPr/>
        </p:nvSpPr>
        <p:spPr bwMode="auto">
          <a:xfrm>
            <a:off x="381000" y="1099059"/>
            <a:ext cx="4876800" cy="442913"/>
          </a:xfrm>
          <a:prstGeom prst="rect">
            <a:avLst/>
          </a:prstGeom>
          <a:noFill/>
          <a:ln w="9525">
            <a:noFill/>
            <a:miter lim="800000"/>
            <a:headEnd/>
            <a:tailEnd/>
          </a:ln>
          <a:effectLst/>
        </p:spPr>
        <p:txBody>
          <a:bodyPr lIns="228528" bIns="0" anchor="ctr">
            <a:spAutoFit/>
          </a:bodyPr>
          <a:lstStyle/>
          <a:p>
            <a:pPr marL="342900" indent="-342900">
              <a:lnSpc>
                <a:spcPct val="130000"/>
              </a:lnSpc>
              <a:buFontTx/>
              <a:buAutoNum type="arabicPeriod" startAt="3"/>
              <a:tabLst>
                <a:tab pos="431800" algn="l"/>
              </a:tabLst>
            </a:pPr>
            <a:r>
              <a:rPr lang="es-MX" sz="2000" b="1" dirty="0"/>
              <a:t>Comentarios en C/C++</a:t>
            </a:r>
          </a:p>
        </p:txBody>
      </p:sp>
      <p:sp>
        <p:nvSpPr>
          <p:cNvPr id="6" name="Rectangle 6">
            <a:extLst>
              <a:ext uri="{FF2B5EF4-FFF2-40B4-BE49-F238E27FC236}">
                <a16:creationId xmlns:a16="http://schemas.microsoft.com/office/drawing/2014/main" id="{12596984-7C11-4336-B922-9B711EE2439A}"/>
              </a:ext>
            </a:extLst>
          </p:cNvPr>
          <p:cNvSpPr>
            <a:spLocks noChangeArrowheads="1"/>
          </p:cNvSpPr>
          <p:nvPr/>
        </p:nvSpPr>
        <p:spPr bwMode="auto">
          <a:xfrm>
            <a:off x="622479" y="1906544"/>
            <a:ext cx="10947041" cy="3533275"/>
          </a:xfrm>
          <a:prstGeom prst="rect">
            <a:avLst/>
          </a:prstGeom>
          <a:noFill/>
          <a:ln w="9525">
            <a:noFill/>
            <a:miter lim="800000"/>
            <a:headEnd/>
            <a:tailEnd/>
          </a:ln>
          <a:effectLst/>
        </p:spPr>
        <p:txBody>
          <a:bodyPr wrap="square">
            <a:spAutoFit/>
          </a:bodyPr>
          <a:lstStyle/>
          <a:p>
            <a:pPr algn="just">
              <a:lnSpc>
                <a:spcPct val="130000"/>
              </a:lnSpc>
            </a:pPr>
            <a:r>
              <a:rPr lang="es-MX" sz="2000" dirty="0">
                <a:ea typeface="Arial Unicode MS" pitchFamily="34" charset="-128"/>
                <a:cs typeface="Arial Unicode MS" pitchFamily="34" charset="-128"/>
              </a:rPr>
              <a:t>C++ soporta dos formas de poner comentarios. El primero, heredado del C, que utiliza los mismos símbolos para definir el rango que comprende el comentario. El segundo utiliza la pareja de caracteres </a:t>
            </a:r>
            <a:r>
              <a:rPr lang="es-MX" sz="2000" b="1" dirty="0">
                <a:latin typeface="Arial Black" pitchFamily="34" charset="0"/>
                <a:ea typeface="Arial Unicode MS" pitchFamily="34" charset="-128"/>
                <a:cs typeface="Arial Unicode MS" pitchFamily="34" charset="-128"/>
              </a:rPr>
              <a:t>//</a:t>
            </a:r>
            <a:r>
              <a:rPr lang="es-MX" sz="2000" dirty="0">
                <a:ea typeface="Arial Unicode MS" pitchFamily="34" charset="-128"/>
                <a:cs typeface="Arial Unicode MS" pitchFamily="34" charset="-128"/>
              </a:rPr>
              <a:t> que marca el comienzo de un comentario que se extiende estrictamente hasta el final de la misma línea.</a:t>
            </a:r>
          </a:p>
          <a:p>
            <a:pPr algn="just" eaLnBrk="0" hangingPunct="0">
              <a:lnSpc>
                <a:spcPct val="130000"/>
              </a:lnSpc>
            </a:pPr>
            <a:r>
              <a:rPr lang="es-MX" sz="2000" dirty="0">
                <a:ea typeface="Arial Unicode MS" pitchFamily="34" charset="-128"/>
                <a:cs typeface="Arial Unicode MS" pitchFamily="34" charset="-128"/>
              </a:rPr>
              <a:t> </a:t>
            </a:r>
          </a:p>
          <a:p>
            <a:pPr algn="just" eaLnBrk="0" hangingPunct="0">
              <a:lnSpc>
                <a:spcPct val="130000"/>
              </a:lnSpc>
            </a:pPr>
            <a:r>
              <a:rPr lang="es-MX" b="1" dirty="0" err="1">
                <a:latin typeface="Courier New" pitchFamily="49" charset="0"/>
                <a:ea typeface="Arial Unicode MS" pitchFamily="34" charset="-128"/>
                <a:cs typeface="Arial Unicode MS" pitchFamily="34" charset="-128"/>
              </a:rPr>
              <a:t>int</a:t>
            </a:r>
            <a:r>
              <a:rPr lang="es-MX" dirty="0">
                <a:latin typeface="Courier New" pitchFamily="49" charset="0"/>
                <a:ea typeface="Arial Unicode MS" pitchFamily="34" charset="-128"/>
                <a:cs typeface="Arial Unicode MS" pitchFamily="34" charset="-128"/>
              </a:rPr>
              <a:t> </a:t>
            </a:r>
            <a:r>
              <a:rPr lang="es-MX" dirty="0" err="1">
                <a:latin typeface="Courier New" pitchFamily="49" charset="0"/>
                <a:ea typeface="Arial Unicode MS" pitchFamily="34" charset="-128"/>
                <a:cs typeface="Arial Unicode MS" pitchFamily="34" charset="-128"/>
              </a:rPr>
              <a:t>main</a:t>
            </a:r>
            <a:r>
              <a:rPr lang="es-MX" dirty="0">
                <a:latin typeface="Courier New" pitchFamily="49" charset="0"/>
                <a:ea typeface="Arial Unicode MS" pitchFamily="34" charset="-128"/>
                <a:cs typeface="Arial Unicode MS" pitchFamily="34" charset="-128"/>
              </a:rPr>
              <a:t> ( )</a:t>
            </a:r>
          </a:p>
          <a:p>
            <a:pPr algn="just" eaLnBrk="0" hangingPunct="0">
              <a:lnSpc>
                <a:spcPct val="130000"/>
              </a:lnSpc>
            </a:pPr>
            <a:r>
              <a:rPr lang="es-MX" dirty="0">
                <a:latin typeface="Courier New" pitchFamily="49" charset="0"/>
                <a:ea typeface="Arial Unicode MS" pitchFamily="34" charset="-128"/>
                <a:cs typeface="Arial Unicode MS" pitchFamily="34" charset="-128"/>
              </a:rPr>
              <a:t>{</a:t>
            </a:r>
          </a:p>
          <a:p>
            <a:pPr algn="just" eaLnBrk="0" hangingPunct="0">
              <a:lnSpc>
                <a:spcPct val="130000"/>
              </a:lnSpc>
            </a:pPr>
            <a:r>
              <a:rPr lang="es-MX" b="1" dirty="0">
                <a:latin typeface="Courier New" pitchFamily="49" charset="0"/>
                <a:ea typeface="Arial Unicode MS" pitchFamily="34" charset="-128"/>
                <a:cs typeface="Arial Unicode MS" pitchFamily="34" charset="-128"/>
              </a:rPr>
              <a:t>	</a:t>
            </a:r>
            <a:r>
              <a:rPr lang="es-MX" b="1" dirty="0" err="1">
                <a:latin typeface="Courier New" pitchFamily="49" charset="0"/>
                <a:ea typeface="Arial Unicode MS" pitchFamily="34" charset="-128"/>
                <a:cs typeface="Arial Unicode MS" pitchFamily="34" charset="-128"/>
              </a:rPr>
              <a:t>int</a:t>
            </a:r>
            <a:r>
              <a:rPr lang="es-MX" dirty="0">
                <a:latin typeface="Courier New" pitchFamily="49" charset="0"/>
                <a:ea typeface="Arial Unicode MS" pitchFamily="34" charset="-128"/>
                <a:cs typeface="Arial Unicode MS" pitchFamily="34" charset="-128"/>
              </a:rPr>
              <a:t> x; </a:t>
            </a:r>
            <a:r>
              <a:rPr lang="es-MX" sz="1600" dirty="0">
                <a:ea typeface="Arial Unicode MS" pitchFamily="34" charset="-128"/>
                <a:cs typeface="Arial Unicode MS" pitchFamily="34" charset="-128"/>
              </a:rPr>
              <a:t>// esto es la declaración de una variable de tipo entero</a:t>
            </a:r>
          </a:p>
          <a:p>
            <a:pPr algn="just" eaLnBrk="0" hangingPunct="0">
              <a:lnSpc>
                <a:spcPct val="130000"/>
              </a:lnSpc>
            </a:pPr>
            <a:r>
              <a:rPr lang="es-MX" dirty="0">
                <a:latin typeface="Courier New" pitchFamily="49" charset="0"/>
                <a:ea typeface="Arial Unicode MS" pitchFamily="34" charset="-128"/>
                <a:cs typeface="Arial Unicode MS" pitchFamily="34" charset="-128"/>
              </a:rPr>
              <a:t>}</a:t>
            </a:r>
            <a:endParaRPr lang="es-MX" dirty="0">
              <a:latin typeface="Courier New" pitchFamily="49" charset="0"/>
            </a:endParaRPr>
          </a:p>
        </p:txBody>
      </p:sp>
    </p:spTree>
    <p:extLst>
      <p:ext uri="{BB962C8B-B14F-4D97-AF65-F5344CB8AC3E}">
        <p14:creationId xmlns:p14="http://schemas.microsoft.com/office/powerpoint/2010/main" val="16480651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8D35973E-5206-4FD0-AD63-1AE2BE847ED3}"/>
              </a:ext>
            </a:extLst>
          </p:cNvPr>
          <p:cNvSpPr>
            <a:spLocks noChangeArrowheads="1"/>
          </p:cNvSpPr>
          <p:nvPr/>
        </p:nvSpPr>
        <p:spPr bwMode="auto">
          <a:xfrm>
            <a:off x="381000" y="424838"/>
            <a:ext cx="6777445" cy="492443"/>
          </a:xfrm>
          <a:prstGeom prst="rect">
            <a:avLst/>
          </a:prstGeom>
          <a:noFill/>
          <a:ln w="9525">
            <a:noFill/>
            <a:miter lim="800000"/>
            <a:headEnd/>
            <a:tailEnd/>
          </a:ln>
          <a:effectLst/>
        </p:spPr>
        <p:txBody>
          <a:bodyPr wrap="squar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ES" sz="2600" b="1" i="0" u="none" strike="noStrike" kern="1200" cap="none" spc="0" normalizeH="0" baseline="0" noProof="0" dirty="0">
                <a:ln>
                  <a:noFill/>
                </a:ln>
                <a:solidFill>
                  <a:srgbClr val="0099A8"/>
                </a:solidFill>
                <a:effectLst/>
                <a:uLnTx/>
                <a:uFillTx/>
                <a:latin typeface="Arial" charset="0"/>
                <a:ea typeface="+mn-ea"/>
                <a:cs typeface="+mn-cs"/>
              </a:rPr>
              <a:t>Elementos de un programa en C/C++</a:t>
            </a:r>
          </a:p>
        </p:txBody>
      </p:sp>
      <p:sp>
        <p:nvSpPr>
          <p:cNvPr id="8" name="Line 10">
            <a:extLst>
              <a:ext uri="{FF2B5EF4-FFF2-40B4-BE49-F238E27FC236}">
                <a16:creationId xmlns:a16="http://schemas.microsoft.com/office/drawing/2014/main" id="{70D05293-6B65-4C47-858A-7702709DDC33}"/>
              </a:ext>
            </a:extLst>
          </p:cNvPr>
          <p:cNvSpPr>
            <a:spLocks noChangeShapeType="1"/>
          </p:cNvSpPr>
          <p:nvPr/>
        </p:nvSpPr>
        <p:spPr bwMode="auto">
          <a:xfrm>
            <a:off x="650845" y="1645246"/>
            <a:ext cx="8382000" cy="0"/>
          </a:xfrm>
          <a:prstGeom prst="line">
            <a:avLst/>
          </a:prstGeom>
          <a:noFill/>
          <a:ln w="38100">
            <a:solidFill>
              <a:schemeClr val="tx1"/>
            </a:solidFill>
            <a:round/>
            <a:headEnd/>
            <a:tailEnd/>
          </a:ln>
          <a:effectLst/>
        </p:spPr>
        <p:txBody>
          <a:bodyPr/>
          <a:lstStyle/>
          <a:p>
            <a:endParaRPr lang="es-ES"/>
          </a:p>
        </p:txBody>
      </p:sp>
      <p:sp>
        <p:nvSpPr>
          <p:cNvPr id="6" name="Rectangle 3">
            <a:extLst>
              <a:ext uri="{FF2B5EF4-FFF2-40B4-BE49-F238E27FC236}">
                <a16:creationId xmlns:a16="http://schemas.microsoft.com/office/drawing/2014/main" id="{6253BF70-D59E-49EB-B9E9-CD69192C7111}"/>
              </a:ext>
            </a:extLst>
          </p:cNvPr>
          <p:cNvSpPr>
            <a:spLocks noChangeArrowheads="1"/>
          </p:cNvSpPr>
          <p:nvPr/>
        </p:nvSpPr>
        <p:spPr bwMode="auto">
          <a:xfrm>
            <a:off x="381000" y="1092144"/>
            <a:ext cx="4876800" cy="442913"/>
          </a:xfrm>
          <a:prstGeom prst="rect">
            <a:avLst/>
          </a:prstGeom>
          <a:noFill/>
          <a:ln w="9525">
            <a:noFill/>
            <a:miter lim="800000"/>
            <a:headEnd/>
            <a:tailEnd/>
          </a:ln>
          <a:effectLst/>
        </p:spPr>
        <p:txBody>
          <a:bodyPr lIns="228528" bIns="0" anchor="ctr">
            <a:spAutoFit/>
          </a:bodyPr>
          <a:lstStyle/>
          <a:p>
            <a:pPr marL="342900" indent="-342900">
              <a:lnSpc>
                <a:spcPct val="130000"/>
              </a:lnSpc>
              <a:buFontTx/>
              <a:buAutoNum type="arabicPeriod" startAt="4"/>
              <a:tabLst>
                <a:tab pos="431800" algn="l"/>
              </a:tabLst>
            </a:pPr>
            <a:r>
              <a:rPr lang="es-MX" sz="2000" b="1" dirty="0"/>
              <a:t>Identificadores</a:t>
            </a:r>
          </a:p>
        </p:txBody>
      </p:sp>
      <p:sp>
        <p:nvSpPr>
          <p:cNvPr id="7" name="Rectangle 6">
            <a:extLst>
              <a:ext uri="{FF2B5EF4-FFF2-40B4-BE49-F238E27FC236}">
                <a16:creationId xmlns:a16="http://schemas.microsoft.com/office/drawing/2014/main" id="{CC22AF5F-0368-4271-B4E4-E1158D0B567E}"/>
              </a:ext>
            </a:extLst>
          </p:cNvPr>
          <p:cNvSpPr>
            <a:spLocks noChangeArrowheads="1"/>
          </p:cNvSpPr>
          <p:nvPr/>
        </p:nvSpPr>
        <p:spPr bwMode="auto">
          <a:xfrm>
            <a:off x="618002" y="2152834"/>
            <a:ext cx="10779617" cy="851515"/>
          </a:xfrm>
          <a:prstGeom prst="rect">
            <a:avLst/>
          </a:prstGeom>
          <a:noFill/>
          <a:ln w="9525">
            <a:noFill/>
            <a:miter lim="800000"/>
            <a:headEnd/>
            <a:tailEnd/>
          </a:ln>
          <a:effectLst/>
        </p:spPr>
        <p:txBody>
          <a:bodyPr wrap="square">
            <a:spAutoFit/>
          </a:bodyPr>
          <a:lstStyle/>
          <a:p>
            <a:pPr>
              <a:lnSpc>
                <a:spcPct val="130000"/>
              </a:lnSpc>
            </a:pPr>
            <a:r>
              <a:rPr lang="es-MX" sz="2000" dirty="0">
                <a:cs typeface="Times New Roman" charset="0"/>
              </a:rPr>
              <a:t>Un identificador es una secuencia de letras, dígitos y caracteres subrayados  ( _ )que se usan para asignar como nombre a una variable, función, constante y similares</a:t>
            </a:r>
            <a:r>
              <a:rPr lang="es-MX" sz="2000" dirty="0"/>
              <a:t>.</a:t>
            </a:r>
          </a:p>
        </p:txBody>
      </p:sp>
      <p:graphicFrame>
        <p:nvGraphicFramePr>
          <p:cNvPr id="11" name="Object 7">
            <a:extLst>
              <a:ext uri="{FF2B5EF4-FFF2-40B4-BE49-F238E27FC236}">
                <a16:creationId xmlns:a16="http://schemas.microsoft.com/office/drawing/2014/main" id="{6860FE14-EF6C-4E72-960A-FA939FE7C2F7}"/>
              </a:ext>
            </a:extLst>
          </p:cNvPr>
          <p:cNvGraphicFramePr>
            <a:graphicFrameLocks noChangeAspect="1"/>
          </p:cNvGraphicFramePr>
          <p:nvPr>
            <p:extLst>
              <p:ext uri="{D42A27DB-BD31-4B8C-83A1-F6EECF244321}">
                <p14:modId xmlns:p14="http://schemas.microsoft.com/office/powerpoint/2010/main" val="1251520680"/>
              </p:ext>
            </p:extLst>
          </p:nvPr>
        </p:nvGraphicFramePr>
        <p:xfrm>
          <a:off x="1004368" y="3511734"/>
          <a:ext cx="9040969" cy="2743200"/>
        </p:xfrm>
        <a:graphic>
          <a:graphicData uri="http://schemas.openxmlformats.org/presentationml/2006/ole">
            <mc:AlternateContent xmlns:mc="http://schemas.openxmlformats.org/markup-compatibility/2006">
              <mc:Choice xmlns:v="urn:schemas-microsoft-com:vml" Requires="v">
                <p:oleObj spid="_x0000_s5127" name="Documento" r:id="rId3" imgW="6000120" imgH="1927800" progId="Word.Document.8">
                  <p:embed/>
                </p:oleObj>
              </mc:Choice>
              <mc:Fallback>
                <p:oleObj name="Documento" r:id="rId3" imgW="6000120" imgH="1927800" progId="Word.Document.8">
                  <p:embed/>
                  <p:pic>
                    <p:nvPicPr>
                      <p:cNvPr id="108551"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4368" y="3511734"/>
                        <a:ext cx="9040969" cy="2743200"/>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9729937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8D35973E-5206-4FD0-AD63-1AE2BE847ED3}"/>
              </a:ext>
            </a:extLst>
          </p:cNvPr>
          <p:cNvSpPr>
            <a:spLocks noChangeArrowheads="1"/>
          </p:cNvSpPr>
          <p:nvPr/>
        </p:nvSpPr>
        <p:spPr bwMode="auto">
          <a:xfrm>
            <a:off x="381000" y="424838"/>
            <a:ext cx="6777445" cy="492443"/>
          </a:xfrm>
          <a:prstGeom prst="rect">
            <a:avLst/>
          </a:prstGeom>
          <a:noFill/>
          <a:ln w="9525">
            <a:noFill/>
            <a:miter lim="800000"/>
            <a:headEnd/>
            <a:tailEnd/>
          </a:ln>
          <a:effectLst/>
        </p:spPr>
        <p:txBody>
          <a:bodyPr wrap="squar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ES" sz="2600" b="1" i="0" u="none" strike="noStrike" kern="1200" cap="none" spc="0" normalizeH="0" baseline="0" noProof="0" dirty="0">
                <a:ln>
                  <a:noFill/>
                </a:ln>
                <a:solidFill>
                  <a:srgbClr val="0099A8"/>
                </a:solidFill>
                <a:effectLst/>
                <a:uLnTx/>
                <a:uFillTx/>
                <a:latin typeface="Arial" charset="0"/>
                <a:ea typeface="+mn-ea"/>
                <a:cs typeface="+mn-cs"/>
              </a:rPr>
              <a:t>Elementos de un programa en C/C++</a:t>
            </a:r>
          </a:p>
        </p:txBody>
      </p:sp>
      <p:sp>
        <p:nvSpPr>
          <p:cNvPr id="8" name="Line 10">
            <a:extLst>
              <a:ext uri="{FF2B5EF4-FFF2-40B4-BE49-F238E27FC236}">
                <a16:creationId xmlns:a16="http://schemas.microsoft.com/office/drawing/2014/main" id="{70D05293-6B65-4C47-858A-7702709DDC33}"/>
              </a:ext>
            </a:extLst>
          </p:cNvPr>
          <p:cNvSpPr>
            <a:spLocks noChangeShapeType="1"/>
          </p:cNvSpPr>
          <p:nvPr/>
        </p:nvSpPr>
        <p:spPr bwMode="auto">
          <a:xfrm>
            <a:off x="650845" y="1645246"/>
            <a:ext cx="8382000" cy="0"/>
          </a:xfrm>
          <a:prstGeom prst="line">
            <a:avLst/>
          </a:prstGeom>
          <a:noFill/>
          <a:ln w="38100">
            <a:solidFill>
              <a:schemeClr val="tx1"/>
            </a:solidFill>
            <a:round/>
            <a:headEnd/>
            <a:tailEnd/>
          </a:ln>
          <a:effectLst/>
        </p:spPr>
        <p:txBody>
          <a:bodyPr/>
          <a:lstStyle/>
          <a:p>
            <a:endParaRPr lang="es-ES"/>
          </a:p>
        </p:txBody>
      </p:sp>
      <p:sp>
        <p:nvSpPr>
          <p:cNvPr id="9" name="Rectangle 3">
            <a:extLst>
              <a:ext uri="{FF2B5EF4-FFF2-40B4-BE49-F238E27FC236}">
                <a16:creationId xmlns:a16="http://schemas.microsoft.com/office/drawing/2014/main" id="{1595579F-A8DA-4AD3-9AE2-603F3F5718B4}"/>
              </a:ext>
            </a:extLst>
          </p:cNvPr>
          <p:cNvSpPr>
            <a:spLocks noChangeArrowheads="1"/>
          </p:cNvSpPr>
          <p:nvPr/>
        </p:nvSpPr>
        <p:spPr bwMode="auto">
          <a:xfrm>
            <a:off x="515439" y="1125616"/>
            <a:ext cx="4876800" cy="442913"/>
          </a:xfrm>
          <a:prstGeom prst="rect">
            <a:avLst/>
          </a:prstGeom>
          <a:noFill/>
          <a:ln w="9525">
            <a:noFill/>
            <a:miter lim="800000"/>
            <a:headEnd/>
            <a:tailEnd/>
          </a:ln>
          <a:effectLst/>
        </p:spPr>
        <p:txBody>
          <a:bodyPr lIns="228528" bIns="0" anchor="ctr">
            <a:spAutoFit/>
          </a:bodyPr>
          <a:lstStyle/>
          <a:p>
            <a:pPr marL="342900" indent="-342900">
              <a:lnSpc>
                <a:spcPct val="130000"/>
              </a:lnSpc>
              <a:buFontTx/>
              <a:buAutoNum type="arabicPeriod" startAt="5"/>
              <a:tabLst>
                <a:tab pos="431800" algn="l"/>
              </a:tabLst>
            </a:pPr>
            <a:r>
              <a:rPr lang="es-MX" sz="2000" b="1" dirty="0"/>
              <a:t>Variables</a:t>
            </a:r>
          </a:p>
        </p:txBody>
      </p:sp>
      <p:sp>
        <p:nvSpPr>
          <p:cNvPr id="10" name="Rectangle 7">
            <a:extLst>
              <a:ext uri="{FF2B5EF4-FFF2-40B4-BE49-F238E27FC236}">
                <a16:creationId xmlns:a16="http://schemas.microsoft.com/office/drawing/2014/main" id="{AFE7AF45-77C4-4F37-A43D-CF2470540C84}"/>
              </a:ext>
            </a:extLst>
          </p:cNvPr>
          <p:cNvSpPr>
            <a:spLocks noChangeArrowheads="1"/>
          </p:cNvSpPr>
          <p:nvPr/>
        </p:nvSpPr>
        <p:spPr bwMode="auto">
          <a:xfrm>
            <a:off x="648789" y="2200729"/>
            <a:ext cx="11114468" cy="3670236"/>
          </a:xfrm>
          <a:prstGeom prst="rect">
            <a:avLst/>
          </a:prstGeom>
          <a:noFill/>
          <a:ln w="9525">
            <a:noFill/>
            <a:miter lim="800000"/>
            <a:headEnd/>
            <a:tailEnd/>
          </a:ln>
          <a:effectLst/>
        </p:spPr>
        <p:txBody>
          <a:bodyPr wrap="square">
            <a:spAutoFit/>
          </a:bodyPr>
          <a:lstStyle/>
          <a:p>
            <a:pPr algn="just">
              <a:lnSpc>
                <a:spcPct val="130000"/>
              </a:lnSpc>
            </a:pPr>
            <a:r>
              <a:rPr lang="es-MX" sz="2000" dirty="0">
                <a:cs typeface="Times New Roman" charset="0"/>
              </a:rPr>
              <a:t>Una </a:t>
            </a:r>
            <a:r>
              <a:rPr lang="es-MX" sz="2000" b="1" dirty="0">
                <a:cs typeface="Times New Roman" charset="0"/>
              </a:rPr>
              <a:t>variable</a:t>
            </a:r>
            <a:r>
              <a:rPr lang="es-MX" sz="2000" dirty="0">
                <a:cs typeface="Times New Roman" charset="0"/>
              </a:rPr>
              <a:t> es una posición de memoria con nombre (identificador) donde se almacena un valor de un cierto tipo de dato</a:t>
            </a:r>
            <a:r>
              <a:rPr lang="es-MX" sz="2000" dirty="0"/>
              <a:t>. </a:t>
            </a:r>
            <a:r>
              <a:rPr lang="es-ES" sz="2000" dirty="0">
                <a:cs typeface="Times New Roman" charset="0"/>
              </a:rPr>
              <a:t>Toda variable que se usa en un programa debe ser declarada previamente</a:t>
            </a:r>
            <a:r>
              <a:rPr lang="es-MX" sz="2000" dirty="0"/>
              <a:t>.</a:t>
            </a:r>
          </a:p>
          <a:p>
            <a:pPr algn="just">
              <a:lnSpc>
                <a:spcPct val="130000"/>
              </a:lnSpc>
            </a:pPr>
            <a:endParaRPr lang="es-MX" sz="2000" dirty="0"/>
          </a:p>
          <a:p>
            <a:pPr algn="just">
              <a:lnSpc>
                <a:spcPct val="130000"/>
              </a:lnSpc>
            </a:pPr>
            <a:r>
              <a:rPr lang="es-ES" sz="2000" dirty="0">
                <a:latin typeface="Arial Unicode MS" pitchFamily="34" charset="-128"/>
                <a:cs typeface="Times New Roman" charset="0"/>
              </a:rPr>
              <a:t>Una declaración de variable reserva un espacio de almacenamiento en memoria. El proceso para crear una variable es escribir el </a:t>
            </a:r>
            <a:r>
              <a:rPr lang="es-ES" sz="2000" b="1" dirty="0">
                <a:latin typeface="Arial Unicode MS" pitchFamily="34" charset="-128"/>
                <a:cs typeface="Times New Roman" charset="0"/>
              </a:rPr>
              <a:t>tipo de dato</a:t>
            </a:r>
            <a:r>
              <a:rPr lang="es-ES" sz="2000" dirty="0">
                <a:latin typeface="Arial Unicode MS" pitchFamily="34" charset="-128"/>
                <a:cs typeface="Times New Roman" charset="0"/>
              </a:rPr>
              <a:t>, el </a:t>
            </a:r>
            <a:r>
              <a:rPr lang="es-ES" sz="2000" b="1" dirty="0">
                <a:latin typeface="Arial Unicode MS" pitchFamily="34" charset="-128"/>
                <a:cs typeface="Times New Roman" charset="0"/>
              </a:rPr>
              <a:t>identificador</a:t>
            </a:r>
            <a:r>
              <a:rPr lang="es-ES" sz="2000" dirty="0">
                <a:latin typeface="Arial Unicode MS" pitchFamily="34" charset="-128"/>
                <a:cs typeface="Times New Roman" charset="0"/>
              </a:rPr>
              <a:t> o nombre de variable y, en ocasiones, un valor inicial. </a:t>
            </a:r>
          </a:p>
          <a:p>
            <a:pPr algn="just">
              <a:lnSpc>
                <a:spcPct val="130000"/>
              </a:lnSpc>
            </a:pPr>
            <a:r>
              <a:rPr lang="es-ES" sz="2000" dirty="0">
                <a:latin typeface="Arial Unicode MS" pitchFamily="34" charset="-128"/>
                <a:cs typeface="Times New Roman" charset="0"/>
              </a:rPr>
              <a:t>Por ejemplo:</a:t>
            </a:r>
            <a:r>
              <a:rPr lang="es-MX" sz="2000" dirty="0">
                <a:latin typeface="Arial Unicode MS" pitchFamily="34" charset="-128"/>
                <a:cs typeface="Times New Roman" charset="0"/>
              </a:rPr>
              <a:t>	</a:t>
            </a:r>
          </a:p>
          <a:p>
            <a:pPr algn="just">
              <a:lnSpc>
                <a:spcPct val="130000"/>
              </a:lnSpc>
            </a:pPr>
            <a:r>
              <a:rPr lang="es-MX" sz="2000" b="1" dirty="0">
                <a:latin typeface="Courier New" pitchFamily="49" charset="0"/>
                <a:cs typeface="Times New Roman" charset="0"/>
              </a:rPr>
              <a:t>			</a:t>
            </a:r>
            <a:r>
              <a:rPr lang="es-ES" sz="2000" b="1" dirty="0" err="1">
                <a:latin typeface="Courier New" pitchFamily="49" charset="0"/>
                <a:cs typeface="Times New Roman" charset="0"/>
              </a:rPr>
              <a:t>char</a:t>
            </a:r>
            <a:r>
              <a:rPr lang="es-ES" sz="2000" dirty="0">
                <a:latin typeface="Courier New" pitchFamily="49" charset="0"/>
                <a:cs typeface="Times New Roman" charset="0"/>
              </a:rPr>
              <a:t> repuesta;</a:t>
            </a:r>
            <a:r>
              <a:rPr lang="es-MX" sz="2000" dirty="0">
                <a:latin typeface="Courier New" pitchFamily="49" charset="0"/>
                <a:cs typeface="Times New Roman" charset="0"/>
              </a:rPr>
              <a:t>		</a:t>
            </a:r>
            <a:r>
              <a:rPr lang="es-ES" sz="2000" b="1" dirty="0" err="1">
                <a:latin typeface="Courier New" pitchFamily="49" charset="0"/>
                <a:cs typeface="Times New Roman" charset="0"/>
              </a:rPr>
              <a:t>int</a:t>
            </a:r>
            <a:r>
              <a:rPr lang="es-ES" sz="2000" dirty="0">
                <a:latin typeface="Courier New" pitchFamily="49" charset="0"/>
                <a:cs typeface="Times New Roman" charset="0"/>
              </a:rPr>
              <a:t> total;</a:t>
            </a:r>
          </a:p>
          <a:p>
            <a:pPr algn="just">
              <a:lnSpc>
                <a:spcPct val="130000"/>
              </a:lnSpc>
            </a:pPr>
            <a:r>
              <a:rPr lang="es-MX" sz="2000" dirty="0">
                <a:latin typeface="Courier New" pitchFamily="49" charset="0"/>
                <a:cs typeface="Times New Roman" charset="0"/>
              </a:rPr>
              <a:t>			</a:t>
            </a:r>
            <a:r>
              <a:rPr lang="es-ES" sz="2000" b="1" dirty="0" err="1">
                <a:latin typeface="Courier New" pitchFamily="49" charset="0"/>
                <a:cs typeface="Times New Roman" charset="0"/>
              </a:rPr>
              <a:t>char</a:t>
            </a:r>
            <a:r>
              <a:rPr lang="es-ES" sz="2000" dirty="0">
                <a:latin typeface="Courier New" pitchFamily="49" charset="0"/>
                <a:cs typeface="Times New Roman" charset="0"/>
              </a:rPr>
              <a:t> </a:t>
            </a:r>
            <a:r>
              <a:rPr lang="es-ES" sz="2000" dirty="0" err="1">
                <a:latin typeface="Courier New" pitchFamily="49" charset="0"/>
                <a:cs typeface="Times New Roman" charset="0"/>
              </a:rPr>
              <a:t>caracter</a:t>
            </a:r>
            <a:r>
              <a:rPr lang="es-ES" sz="2000" dirty="0">
                <a:latin typeface="Courier New" pitchFamily="49" charset="0"/>
                <a:cs typeface="Times New Roman" charset="0"/>
              </a:rPr>
              <a:t>=’R’;</a:t>
            </a:r>
            <a:r>
              <a:rPr lang="es-MX" sz="2000" dirty="0">
                <a:latin typeface="Courier New" pitchFamily="49" charset="0"/>
                <a:cs typeface="Times New Roman" charset="0"/>
              </a:rPr>
              <a:t>	</a:t>
            </a:r>
            <a:r>
              <a:rPr lang="es-ES" sz="2000" b="1" dirty="0" err="1">
                <a:latin typeface="Courier New" pitchFamily="49" charset="0"/>
                <a:cs typeface="Times New Roman" charset="0"/>
              </a:rPr>
              <a:t>float</a:t>
            </a:r>
            <a:r>
              <a:rPr lang="es-ES" sz="2000" dirty="0">
                <a:latin typeface="Courier New" pitchFamily="49" charset="0"/>
                <a:cs typeface="Times New Roman" charset="0"/>
              </a:rPr>
              <a:t> valor=3.8;</a:t>
            </a:r>
            <a:endParaRPr lang="es-MX" sz="2000" dirty="0">
              <a:latin typeface="Courier New" pitchFamily="49" charset="0"/>
            </a:endParaRPr>
          </a:p>
        </p:txBody>
      </p:sp>
    </p:spTree>
    <p:extLst>
      <p:ext uri="{BB962C8B-B14F-4D97-AF65-F5344CB8AC3E}">
        <p14:creationId xmlns:p14="http://schemas.microsoft.com/office/powerpoint/2010/main" val="9473286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8D35973E-5206-4FD0-AD63-1AE2BE847ED3}"/>
              </a:ext>
            </a:extLst>
          </p:cNvPr>
          <p:cNvSpPr>
            <a:spLocks noChangeArrowheads="1"/>
          </p:cNvSpPr>
          <p:nvPr/>
        </p:nvSpPr>
        <p:spPr bwMode="auto">
          <a:xfrm>
            <a:off x="381000" y="424838"/>
            <a:ext cx="6777445" cy="492443"/>
          </a:xfrm>
          <a:prstGeom prst="rect">
            <a:avLst/>
          </a:prstGeom>
          <a:noFill/>
          <a:ln w="9525">
            <a:noFill/>
            <a:miter lim="800000"/>
            <a:headEnd/>
            <a:tailEnd/>
          </a:ln>
          <a:effectLst/>
        </p:spPr>
        <p:txBody>
          <a:bodyPr wrap="squar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ES" sz="2600" b="1" i="0" u="none" strike="noStrike" kern="1200" cap="none" spc="0" normalizeH="0" baseline="0" noProof="0" dirty="0">
                <a:ln>
                  <a:noFill/>
                </a:ln>
                <a:solidFill>
                  <a:srgbClr val="0099A8"/>
                </a:solidFill>
                <a:effectLst/>
                <a:uLnTx/>
                <a:uFillTx/>
                <a:latin typeface="Arial" charset="0"/>
                <a:ea typeface="+mn-ea"/>
                <a:cs typeface="+mn-cs"/>
              </a:rPr>
              <a:t>Elementos de un programa en C/C++</a:t>
            </a:r>
          </a:p>
        </p:txBody>
      </p:sp>
      <p:sp>
        <p:nvSpPr>
          <p:cNvPr id="8" name="Line 10">
            <a:extLst>
              <a:ext uri="{FF2B5EF4-FFF2-40B4-BE49-F238E27FC236}">
                <a16:creationId xmlns:a16="http://schemas.microsoft.com/office/drawing/2014/main" id="{70D05293-6B65-4C47-858A-7702709DDC33}"/>
              </a:ext>
            </a:extLst>
          </p:cNvPr>
          <p:cNvSpPr>
            <a:spLocks noChangeShapeType="1"/>
          </p:cNvSpPr>
          <p:nvPr/>
        </p:nvSpPr>
        <p:spPr bwMode="auto">
          <a:xfrm>
            <a:off x="650845" y="1645246"/>
            <a:ext cx="8382000" cy="0"/>
          </a:xfrm>
          <a:prstGeom prst="line">
            <a:avLst/>
          </a:prstGeom>
          <a:noFill/>
          <a:ln w="38100">
            <a:solidFill>
              <a:schemeClr val="tx1"/>
            </a:solidFill>
            <a:round/>
            <a:headEnd/>
            <a:tailEnd/>
          </a:ln>
          <a:effectLst/>
        </p:spPr>
        <p:txBody>
          <a:bodyPr/>
          <a:lstStyle/>
          <a:p>
            <a:endParaRPr lang="es-ES"/>
          </a:p>
        </p:txBody>
      </p:sp>
      <p:sp>
        <p:nvSpPr>
          <p:cNvPr id="6" name="Rectangle 3">
            <a:extLst>
              <a:ext uri="{FF2B5EF4-FFF2-40B4-BE49-F238E27FC236}">
                <a16:creationId xmlns:a16="http://schemas.microsoft.com/office/drawing/2014/main" id="{37B02174-1AAD-4307-B897-9BA33D867A96}"/>
              </a:ext>
            </a:extLst>
          </p:cNvPr>
          <p:cNvSpPr>
            <a:spLocks noChangeArrowheads="1"/>
          </p:cNvSpPr>
          <p:nvPr/>
        </p:nvSpPr>
        <p:spPr bwMode="auto">
          <a:xfrm>
            <a:off x="516995" y="1059807"/>
            <a:ext cx="4876800" cy="442913"/>
          </a:xfrm>
          <a:prstGeom prst="rect">
            <a:avLst/>
          </a:prstGeom>
          <a:noFill/>
          <a:ln w="9525">
            <a:noFill/>
            <a:miter lim="800000"/>
            <a:headEnd/>
            <a:tailEnd/>
          </a:ln>
          <a:effectLst/>
        </p:spPr>
        <p:txBody>
          <a:bodyPr lIns="228528" bIns="0" anchor="ctr">
            <a:spAutoFit/>
          </a:bodyPr>
          <a:lstStyle/>
          <a:p>
            <a:pPr marL="342900" indent="-342900">
              <a:lnSpc>
                <a:spcPct val="130000"/>
              </a:lnSpc>
              <a:buFontTx/>
              <a:buAutoNum type="arabicPeriod" startAt="6"/>
              <a:tabLst>
                <a:tab pos="431800" algn="l"/>
              </a:tabLst>
            </a:pPr>
            <a:r>
              <a:rPr lang="es-MX" sz="2000" b="1" dirty="0"/>
              <a:t>Constantes</a:t>
            </a:r>
          </a:p>
        </p:txBody>
      </p:sp>
      <p:sp>
        <p:nvSpPr>
          <p:cNvPr id="7" name="Rectangle 5">
            <a:extLst>
              <a:ext uri="{FF2B5EF4-FFF2-40B4-BE49-F238E27FC236}">
                <a16:creationId xmlns:a16="http://schemas.microsoft.com/office/drawing/2014/main" id="{FF7BFE6D-C7C9-4DA8-B3BB-1D3807029324}"/>
              </a:ext>
            </a:extLst>
          </p:cNvPr>
          <p:cNvSpPr>
            <a:spLocks noChangeArrowheads="1"/>
          </p:cNvSpPr>
          <p:nvPr/>
        </p:nvSpPr>
        <p:spPr bwMode="auto">
          <a:xfrm>
            <a:off x="516995" y="2007417"/>
            <a:ext cx="11294772" cy="4093428"/>
          </a:xfrm>
          <a:prstGeom prst="rect">
            <a:avLst/>
          </a:prstGeom>
          <a:noFill/>
          <a:ln w="9525">
            <a:noFill/>
            <a:miter lim="800000"/>
            <a:headEnd/>
            <a:tailEnd/>
          </a:ln>
          <a:effectLst/>
        </p:spPr>
        <p:txBody>
          <a:bodyPr wrap="square">
            <a:spAutoFit/>
          </a:bodyPr>
          <a:lstStyle/>
          <a:p>
            <a:pPr algn="just">
              <a:lnSpc>
                <a:spcPct val="130000"/>
              </a:lnSpc>
            </a:pPr>
            <a:r>
              <a:rPr lang="es-ES" sz="2000" dirty="0">
                <a:ea typeface="Arial Unicode MS" pitchFamily="34" charset="-128"/>
                <a:cs typeface="Arial Unicode MS" pitchFamily="34" charset="-128"/>
              </a:rPr>
              <a:t>Una </a:t>
            </a:r>
            <a:r>
              <a:rPr lang="es-ES" sz="2000" b="1" dirty="0">
                <a:ea typeface="Arial Unicode MS" pitchFamily="34" charset="-128"/>
                <a:cs typeface="Arial Unicode MS" pitchFamily="34" charset="-128"/>
              </a:rPr>
              <a:t>constante</a:t>
            </a:r>
            <a:r>
              <a:rPr lang="es-ES" sz="2000" dirty="0">
                <a:ea typeface="Arial Unicode MS" pitchFamily="34" charset="-128"/>
                <a:cs typeface="Arial Unicode MS" pitchFamily="34" charset="-128"/>
              </a:rPr>
              <a:t> guarda un valor al igual que una variable, la diferencia está en </a:t>
            </a:r>
            <a:r>
              <a:rPr lang="es-MX" sz="2000" dirty="0">
                <a:ea typeface="Arial Unicode MS" pitchFamily="34" charset="-128"/>
                <a:cs typeface="Arial Unicode MS" pitchFamily="34" charset="-128"/>
              </a:rPr>
              <a:t>que este</a:t>
            </a:r>
            <a:r>
              <a:rPr lang="es-ES" sz="2000" dirty="0">
                <a:ea typeface="Arial Unicode MS" pitchFamily="34" charset="-128"/>
                <a:cs typeface="Arial Unicode MS" pitchFamily="34" charset="-128"/>
              </a:rPr>
              <a:t> valor nunca podrá ser modificado durante toda la ejecución de un programa. </a:t>
            </a:r>
            <a:r>
              <a:rPr lang="es-ES" sz="2000" dirty="0">
                <a:latin typeface="Arial Unicode MS" pitchFamily="34" charset="-128"/>
                <a:cs typeface="Times New Roman" charset="0"/>
              </a:rPr>
              <a:t>En C/C++ existen cuatro tipo de constantes: constantes de tipo </a:t>
            </a:r>
            <a:r>
              <a:rPr lang="es-ES" sz="2000" i="1" dirty="0">
                <a:latin typeface="Arial Unicode MS" pitchFamily="34" charset="-128"/>
                <a:cs typeface="Times New Roman" charset="0"/>
              </a:rPr>
              <a:t>entero</a:t>
            </a:r>
            <a:r>
              <a:rPr lang="es-ES" sz="2000" dirty="0">
                <a:latin typeface="Arial Unicode MS" pitchFamily="34" charset="-128"/>
                <a:cs typeface="Times New Roman" charset="0"/>
              </a:rPr>
              <a:t>, </a:t>
            </a:r>
            <a:r>
              <a:rPr lang="es-ES" sz="2000" i="1" dirty="0" err="1">
                <a:latin typeface="Arial Unicode MS" pitchFamily="34" charset="-128"/>
                <a:cs typeface="Times New Roman" charset="0"/>
              </a:rPr>
              <a:t>caracter</a:t>
            </a:r>
            <a:r>
              <a:rPr lang="es-ES" sz="2000" dirty="0">
                <a:latin typeface="Arial Unicode MS" pitchFamily="34" charset="-128"/>
                <a:cs typeface="Times New Roman" charset="0"/>
              </a:rPr>
              <a:t>, </a:t>
            </a:r>
            <a:r>
              <a:rPr lang="es-ES" sz="2000" i="1" dirty="0">
                <a:latin typeface="Arial Unicode MS" pitchFamily="34" charset="-128"/>
                <a:cs typeface="Times New Roman" charset="0"/>
              </a:rPr>
              <a:t>flotante</a:t>
            </a:r>
            <a:r>
              <a:rPr lang="es-ES" sz="2000" dirty="0">
                <a:latin typeface="Arial Unicode MS" pitchFamily="34" charset="-128"/>
                <a:cs typeface="Times New Roman" charset="0"/>
              </a:rPr>
              <a:t> y </a:t>
            </a:r>
            <a:r>
              <a:rPr lang="es-ES" sz="2000" i="1" dirty="0">
                <a:latin typeface="Arial Unicode MS" pitchFamily="34" charset="-128"/>
                <a:cs typeface="Times New Roman" charset="0"/>
              </a:rPr>
              <a:t>cadena</a:t>
            </a:r>
            <a:r>
              <a:rPr lang="es-ES" sz="2000" dirty="0">
                <a:latin typeface="Arial Unicode MS" pitchFamily="34" charset="-128"/>
                <a:cs typeface="Times New Roman" charset="0"/>
              </a:rPr>
              <a:t>.</a:t>
            </a:r>
          </a:p>
          <a:p>
            <a:pPr algn="just">
              <a:lnSpc>
                <a:spcPct val="130000"/>
              </a:lnSpc>
            </a:pPr>
            <a:r>
              <a:rPr lang="es-ES" sz="2000" b="1" dirty="0">
                <a:latin typeface="Arial Unicode MS" pitchFamily="34" charset="-128"/>
                <a:cs typeface="Times New Roman" charset="0"/>
              </a:rPr>
              <a:t>Sintaxis:</a:t>
            </a:r>
            <a:r>
              <a:rPr lang="es-ES" sz="2000" dirty="0">
                <a:latin typeface="Arial Unicode MS" pitchFamily="34" charset="-128"/>
                <a:cs typeface="Times New Roman" charset="0"/>
              </a:rPr>
              <a:t> </a:t>
            </a:r>
            <a:r>
              <a:rPr lang="es-ES" sz="2000" dirty="0">
                <a:latin typeface="Arial Black" pitchFamily="34" charset="0"/>
                <a:cs typeface="Times New Roman" charset="0"/>
              </a:rPr>
              <a:t>&lt;</a:t>
            </a:r>
            <a:r>
              <a:rPr lang="es-ES" sz="2000" dirty="0" err="1">
                <a:latin typeface="Arial Black" pitchFamily="34" charset="0"/>
                <a:cs typeface="Times New Roman" charset="0"/>
              </a:rPr>
              <a:t>const</a:t>
            </a:r>
            <a:r>
              <a:rPr lang="es-ES" sz="2000" dirty="0">
                <a:latin typeface="Arial Black" pitchFamily="34" charset="0"/>
                <a:cs typeface="Times New Roman" charset="0"/>
              </a:rPr>
              <a:t>&gt; &lt;tipo&gt; &lt;nombre&gt; &lt;=&gt; &lt;valor&gt;;</a:t>
            </a:r>
          </a:p>
          <a:p>
            <a:pPr algn="just">
              <a:lnSpc>
                <a:spcPct val="130000"/>
              </a:lnSpc>
            </a:pPr>
            <a:endParaRPr lang="es-ES" sz="2000" dirty="0">
              <a:latin typeface="Arial Black" pitchFamily="34" charset="0"/>
              <a:cs typeface="Times New Roman" charset="0"/>
            </a:endParaRPr>
          </a:p>
          <a:p>
            <a:pPr algn="just">
              <a:lnSpc>
                <a:spcPct val="130000"/>
              </a:lnSpc>
            </a:pPr>
            <a:r>
              <a:rPr lang="es-ES" sz="2000" dirty="0">
                <a:latin typeface="Arial Unicode MS" pitchFamily="34" charset="-128"/>
                <a:cs typeface="Times New Roman" charset="0"/>
              </a:rPr>
              <a:t> </a:t>
            </a:r>
            <a:r>
              <a:rPr lang="es-MX" sz="2000" dirty="0">
                <a:latin typeface="Arial Unicode MS" pitchFamily="34" charset="-128"/>
                <a:cs typeface="Times New Roman" charset="0"/>
              </a:rPr>
              <a:t>Ejemplos:	</a:t>
            </a:r>
            <a:r>
              <a:rPr lang="en-US" sz="2000" b="1" dirty="0" err="1">
                <a:latin typeface="Arial Unicode MS" pitchFamily="34" charset="-128"/>
                <a:cs typeface="Times New Roman" charset="0"/>
              </a:rPr>
              <a:t>const</a:t>
            </a:r>
            <a:r>
              <a:rPr lang="en-US" sz="2000" dirty="0">
                <a:latin typeface="Arial Unicode MS" pitchFamily="34" charset="-128"/>
                <a:cs typeface="Times New Roman" charset="0"/>
              </a:rPr>
              <a:t> </a:t>
            </a:r>
            <a:r>
              <a:rPr lang="en-US" sz="2000" dirty="0" err="1">
                <a:latin typeface="Arial Unicode MS" pitchFamily="34" charset="-128"/>
                <a:cs typeface="Times New Roman" charset="0"/>
              </a:rPr>
              <a:t>int</a:t>
            </a:r>
            <a:r>
              <a:rPr lang="en-US" sz="2000" dirty="0">
                <a:latin typeface="Arial Unicode MS" pitchFamily="34" charset="-128"/>
                <a:cs typeface="Times New Roman" charset="0"/>
              </a:rPr>
              <a:t> MAX=100;</a:t>
            </a:r>
            <a:endParaRPr lang="es-ES" sz="2000" dirty="0">
              <a:latin typeface="Arial Unicode MS" pitchFamily="34" charset="-128"/>
              <a:cs typeface="Times New Roman" charset="0"/>
            </a:endParaRPr>
          </a:p>
          <a:p>
            <a:pPr algn="just">
              <a:lnSpc>
                <a:spcPct val="130000"/>
              </a:lnSpc>
            </a:pPr>
            <a:r>
              <a:rPr lang="en-US" sz="2000" dirty="0">
                <a:latin typeface="Arial Unicode MS" pitchFamily="34" charset="-128"/>
                <a:cs typeface="Times New Roman" charset="0"/>
              </a:rPr>
              <a:t>	</a:t>
            </a:r>
            <a:r>
              <a:rPr lang="en-US" sz="2000" b="1" dirty="0">
                <a:latin typeface="Arial Unicode MS" pitchFamily="34" charset="-128"/>
                <a:cs typeface="Times New Roman" charset="0"/>
              </a:rPr>
              <a:t>	</a:t>
            </a:r>
            <a:r>
              <a:rPr lang="es-ES" sz="2000" b="1" dirty="0" err="1">
                <a:latin typeface="Arial Unicode MS" pitchFamily="34" charset="-128"/>
                <a:cs typeface="Times New Roman" charset="0"/>
              </a:rPr>
              <a:t>const</a:t>
            </a:r>
            <a:r>
              <a:rPr lang="es-ES" sz="2000" dirty="0">
                <a:latin typeface="Arial Unicode MS" pitchFamily="34" charset="-128"/>
                <a:cs typeface="Times New Roman" charset="0"/>
              </a:rPr>
              <a:t> </a:t>
            </a:r>
            <a:r>
              <a:rPr lang="es-ES" sz="2000" dirty="0" err="1">
                <a:latin typeface="Arial Unicode MS" pitchFamily="34" charset="-128"/>
                <a:cs typeface="Times New Roman" charset="0"/>
              </a:rPr>
              <a:t>char</a:t>
            </a:r>
            <a:r>
              <a:rPr lang="es-ES" sz="2000" dirty="0">
                <a:latin typeface="Arial Unicode MS" pitchFamily="34" charset="-128"/>
                <a:cs typeface="Times New Roman" charset="0"/>
              </a:rPr>
              <a:t> UNIDAD=’A’;</a:t>
            </a:r>
          </a:p>
          <a:p>
            <a:pPr algn="just">
              <a:lnSpc>
                <a:spcPct val="130000"/>
              </a:lnSpc>
            </a:pPr>
            <a:r>
              <a:rPr lang="es-ES" sz="2000" b="1" dirty="0">
                <a:latin typeface="Arial Unicode MS" pitchFamily="34" charset="-128"/>
                <a:cs typeface="Times New Roman" charset="0"/>
              </a:rPr>
              <a:t>		</a:t>
            </a:r>
            <a:r>
              <a:rPr lang="en-US" sz="2000" b="1" dirty="0" err="1">
                <a:latin typeface="Arial Unicode MS" pitchFamily="34" charset="-128"/>
                <a:cs typeface="Times New Roman" charset="0"/>
              </a:rPr>
              <a:t>const</a:t>
            </a:r>
            <a:r>
              <a:rPr lang="en-US" sz="2000" dirty="0">
                <a:latin typeface="Arial Unicode MS" pitchFamily="34" charset="-128"/>
                <a:cs typeface="Times New Roman" charset="0"/>
              </a:rPr>
              <a:t> double V=3.5;</a:t>
            </a:r>
            <a:endParaRPr lang="es-ES" sz="2000" dirty="0">
              <a:latin typeface="Arial Unicode MS" pitchFamily="34" charset="-128"/>
              <a:cs typeface="Times New Roman" charset="0"/>
            </a:endParaRPr>
          </a:p>
          <a:p>
            <a:pPr algn="just">
              <a:lnSpc>
                <a:spcPct val="130000"/>
              </a:lnSpc>
            </a:pPr>
            <a:r>
              <a:rPr lang="en-US" sz="2000" b="1" dirty="0">
                <a:latin typeface="Arial Unicode MS" pitchFamily="34" charset="-128"/>
                <a:cs typeface="Times New Roman" charset="0"/>
              </a:rPr>
              <a:t>		</a:t>
            </a:r>
            <a:r>
              <a:rPr lang="en-US" sz="2000" b="1" dirty="0" err="1">
                <a:latin typeface="Arial Unicode MS" pitchFamily="34" charset="-128"/>
                <a:cs typeface="Times New Roman" charset="0"/>
              </a:rPr>
              <a:t>const</a:t>
            </a:r>
            <a:r>
              <a:rPr lang="en-US" sz="2000" dirty="0">
                <a:latin typeface="Arial Unicode MS" pitchFamily="34" charset="-128"/>
                <a:cs typeface="Times New Roman" charset="0"/>
              </a:rPr>
              <a:t> float C=3.14e+32;</a:t>
            </a:r>
            <a:endParaRPr lang="es-ES" sz="2000" dirty="0">
              <a:latin typeface="Arial Unicode MS" pitchFamily="34" charset="-128"/>
              <a:cs typeface="Times New Roman" charset="0"/>
            </a:endParaRPr>
          </a:p>
          <a:p>
            <a:pPr algn="just">
              <a:lnSpc>
                <a:spcPct val="130000"/>
              </a:lnSpc>
            </a:pPr>
            <a:r>
              <a:rPr lang="en-US" sz="2000" b="1" dirty="0">
                <a:latin typeface="Arial Unicode MS" pitchFamily="34" charset="-128"/>
                <a:cs typeface="Times New Roman" charset="0"/>
              </a:rPr>
              <a:t>		</a:t>
            </a:r>
            <a:r>
              <a:rPr lang="es-ES" sz="2000" b="1" dirty="0" err="1">
                <a:latin typeface="Arial Unicode MS" pitchFamily="34" charset="-128"/>
                <a:cs typeface="Times New Roman" charset="0"/>
              </a:rPr>
              <a:t>const</a:t>
            </a:r>
            <a:r>
              <a:rPr lang="es-ES" sz="2000" dirty="0">
                <a:latin typeface="Arial Unicode MS" pitchFamily="34" charset="-128"/>
                <a:cs typeface="Times New Roman" charset="0"/>
              </a:rPr>
              <a:t> </a:t>
            </a:r>
            <a:r>
              <a:rPr lang="es-ES" sz="2000" dirty="0" err="1">
                <a:latin typeface="Arial Unicode MS" pitchFamily="34" charset="-128"/>
                <a:cs typeface="Times New Roman" charset="0"/>
              </a:rPr>
              <a:t>char</a:t>
            </a:r>
            <a:r>
              <a:rPr lang="es-ES" sz="2000" dirty="0">
                <a:latin typeface="Arial Unicode MS" pitchFamily="34" charset="-128"/>
                <a:cs typeface="Times New Roman" charset="0"/>
              </a:rPr>
              <a:t> CADENA[21]=“Hola a todo el Mundo“;</a:t>
            </a:r>
            <a:endParaRPr lang="es-MX" sz="2000" dirty="0"/>
          </a:p>
        </p:txBody>
      </p:sp>
    </p:spTree>
    <p:extLst>
      <p:ext uri="{BB962C8B-B14F-4D97-AF65-F5344CB8AC3E}">
        <p14:creationId xmlns:p14="http://schemas.microsoft.com/office/powerpoint/2010/main" val="41082146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8D35973E-5206-4FD0-AD63-1AE2BE847ED3}"/>
              </a:ext>
            </a:extLst>
          </p:cNvPr>
          <p:cNvSpPr>
            <a:spLocks noChangeArrowheads="1"/>
          </p:cNvSpPr>
          <p:nvPr/>
        </p:nvSpPr>
        <p:spPr bwMode="auto">
          <a:xfrm>
            <a:off x="381000" y="424838"/>
            <a:ext cx="6777445" cy="492443"/>
          </a:xfrm>
          <a:prstGeom prst="rect">
            <a:avLst/>
          </a:prstGeom>
          <a:noFill/>
          <a:ln w="9525">
            <a:noFill/>
            <a:miter lim="800000"/>
            <a:headEnd/>
            <a:tailEnd/>
          </a:ln>
          <a:effectLst/>
        </p:spPr>
        <p:txBody>
          <a:bodyPr wrap="squar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ES" sz="2600" b="1" i="0" u="none" strike="noStrike" kern="1200" cap="none" spc="0" normalizeH="0" baseline="0" noProof="0" dirty="0">
                <a:ln>
                  <a:noFill/>
                </a:ln>
                <a:solidFill>
                  <a:srgbClr val="0099A8"/>
                </a:solidFill>
                <a:effectLst/>
                <a:uLnTx/>
                <a:uFillTx/>
                <a:latin typeface="Arial" charset="0"/>
                <a:ea typeface="+mn-ea"/>
                <a:cs typeface="+mn-cs"/>
              </a:rPr>
              <a:t>Elementos de un programa en C/C++</a:t>
            </a:r>
          </a:p>
        </p:txBody>
      </p:sp>
      <p:sp>
        <p:nvSpPr>
          <p:cNvPr id="8" name="Line 10">
            <a:extLst>
              <a:ext uri="{FF2B5EF4-FFF2-40B4-BE49-F238E27FC236}">
                <a16:creationId xmlns:a16="http://schemas.microsoft.com/office/drawing/2014/main" id="{70D05293-6B65-4C47-858A-7702709DDC33}"/>
              </a:ext>
            </a:extLst>
          </p:cNvPr>
          <p:cNvSpPr>
            <a:spLocks noChangeShapeType="1"/>
          </p:cNvSpPr>
          <p:nvPr/>
        </p:nvSpPr>
        <p:spPr bwMode="auto">
          <a:xfrm>
            <a:off x="650845" y="1645246"/>
            <a:ext cx="8382000" cy="0"/>
          </a:xfrm>
          <a:prstGeom prst="line">
            <a:avLst/>
          </a:prstGeom>
          <a:noFill/>
          <a:ln w="38100">
            <a:solidFill>
              <a:schemeClr val="tx1"/>
            </a:solidFill>
            <a:round/>
            <a:headEnd/>
            <a:tailEnd/>
          </a:ln>
          <a:effectLst/>
        </p:spPr>
        <p:txBody>
          <a:bodyPr/>
          <a:lstStyle/>
          <a:p>
            <a:endParaRPr lang="es-ES"/>
          </a:p>
        </p:txBody>
      </p:sp>
      <p:sp>
        <p:nvSpPr>
          <p:cNvPr id="9" name="Rectangle 3">
            <a:extLst>
              <a:ext uri="{FF2B5EF4-FFF2-40B4-BE49-F238E27FC236}">
                <a16:creationId xmlns:a16="http://schemas.microsoft.com/office/drawing/2014/main" id="{35FEC0A2-3CD2-4DE7-A855-C9F217C581CC}"/>
              </a:ext>
            </a:extLst>
          </p:cNvPr>
          <p:cNvSpPr>
            <a:spLocks noChangeArrowheads="1"/>
          </p:cNvSpPr>
          <p:nvPr/>
        </p:nvSpPr>
        <p:spPr bwMode="auto">
          <a:xfrm>
            <a:off x="-34956" y="1061347"/>
            <a:ext cx="4876801" cy="446276"/>
          </a:xfrm>
          <a:prstGeom prst="rect">
            <a:avLst/>
          </a:prstGeom>
          <a:noFill/>
          <a:ln w="9525">
            <a:noFill/>
            <a:miter lim="800000"/>
            <a:headEnd/>
            <a:tailEnd/>
          </a:ln>
          <a:effectLst/>
        </p:spPr>
        <p:txBody>
          <a:bodyPr wrap="square" lIns="228528" bIns="0" anchor="ctr">
            <a:spAutoFit/>
          </a:bodyPr>
          <a:lstStyle/>
          <a:p>
            <a:pPr marL="342900" indent="-342900" algn="ctr">
              <a:lnSpc>
                <a:spcPct val="130000"/>
              </a:lnSpc>
              <a:buFontTx/>
              <a:buAutoNum type="arabicPeriod" startAt="7"/>
              <a:tabLst>
                <a:tab pos="431800" algn="l"/>
              </a:tabLst>
            </a:pPr>
            <a:r>
              <a:rPr lang="es-MX" sz="2000" b="1" dirty="0"/>
              <a:t>Operadores Aritméticos</a:t>
            </a:r>
          </a:p>
        </p:txBody>
      </p:sp>
      <p:graphicFrame>
        <p:nvGraphicFramePr>
          <p:cNvPr id="10" name="Object 21">
            <a:extLst>
              <a:ext uri="{FF2B5EF4-FFF2-40B4-BE49-F238E27FC236}">
                <a16:creationId xmlns:a16="http://schemas.microsoft.com/office/drawing/2014/main" id="{AF618A8A-2775-405D-86E1-E3D87EC91EE3}"/>
              </a:ext>
            </a:extLst>
          </p:cNvPr>
          <p:cNvGraphicFramePr>
            <a:graphicFrameLocks noChangeAspect="1"/>
          </p:cNvGraphicFramePr>
          <p:nvPr>
            <p:extLst>
              <p:ext uri="{D42A27DB-BD31-4B8C-83A1-F6EECF244321}">
                <p14:modId xmlns:p14="http://schemas.microsoft.com/office/powerpoint/2010/main" val="2329305835"/>
              </p:ext>
            </p:extLst>
          </p:nvPr>
        </p:nvGraphicFramePr>
        <p:xfrm>
          <a:off x="381000" y="2235588"/>
          <a:ext cx="10844010" cy="2743200"/>
        </p:xfrm>
        <a:graphic>
          <a:graphicData uri="http://schemas.openxmlformats.org/presentationml/2006/ole">
            <mc:AlternateContent xmlns:mc="http://schemas.openxmlformats.org/markup-compatibility/2006">
              <mc:Choice xmlns:v="urn:schemas-microsoft-com:vml" Requires="v">
                <p:oleObj spid="_x0000_s8195" name="Documento" r:id="rId3" imgW="5710680" imgH="1624320" progId="Word.Document.8">
                  <p:embed/>
                </p:oleObj>
              </mc:Choice>
              <mc:Fallback>
                <p:oleObj name="Documento" r:id="rId3" imgW="5710680" imgH="1624320" progId="Word.Document.8">
                  <p:embed/>
                  <p:pic>
                    <p:nvPicPr>
                      <p:cNvPr id="111637" name="Object 2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2235588"/>
                        <a:ext cx="10844010" cy="2743200"/>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7323041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8D35973E-5206-4FD0-AD63-1AE2BE847ED3}"/>
              </a:ext>
            </a:extLst>
          </p:cNvPr>
          <p:cNvSpPr>
            <a:spLocks noChangeArrowheads="1"/>
          </p:cNvSpPr>
          <p:nvPr/>
        </p:nvSpPr>
        <p:spPr bwMode="auto">
          <a:xfrm>
            <a:off x="381000" y="424838"/>
            <a:ext cx="6777445" cy="492443"/>
          </a:xfrm>
          <a:prstGeom prst="rect">
            <a:avLst/>
          </a:prstGeom>
          <a:noFill/>
          <a:ln w="9525">
            <a:noFill/>
            <a:miter lim="800000"/>
            <a:headEnd/>
            <a:tailEnd/>
          </a:ln>
          <a:effectLst/>
        </p:spPr>
        <p:txBody>
          <a:bodyPr wrap="squar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ES" sz="2600" b="1" i="0" u="none" strike="noStrike" kern="1200" cap="none" spc="0" normalizeH="0" baseline="0" noProof="0" dirty="0">
                <a:ln>
                  <a:noFill/>
                </a:ln>
                <a:solidFill>
                  <a:srgbClr val="0099A8"/>
                </a:solidFill>
                <a:effectLst/>
                <a:uLnTx/>
                <a:uFillTx/>
                <a:latin typeface="Arial" charset="0"/>
                <a:ea typeface="+mn-ea"/>
                <a:cs typeface="+mn-cs"/>
              </a:rPr>
              <a:t>Elementos de un programa en C/C++</a:t>
            </a:r>
          </a:p>
        </p:txBody>
      </p:sp>
      <p:sp>
        <p:nvSpPr>
          <p:cNvPr id="8" name="Line 10">
            <a:extLst>
              <a:ext uri="{FF2B5EF4-FFF2-40B4-BE49-F238E27FC236}">
                <a16:creationId xmlns:a16="http://schemas.microsoft.com/office/drawing/2014/main" id="{70D05293-6B65-4C47-858A-7702709DDC33}"/>
              </a:ext>
            </a:extLst>
          </p:cNvPr>
          <p:cNvSpPr>
            <a:spLocks noChangeShapeType="1"/>
          </p:cNvSpPr>
          <p:nvPr/>
        </p:nvSpPr>
        <p:spPr bwMode="auto">
          <a:xfrm>
            <a:off x="650845" y="1645246"/>
            <a:ext cx="8382000" cy="0"/>
          </a:xfrm>
          <a:prstGeom prst="line">
            <a:avLst/>
          </a:prstGeom>
          <a:noFill/>
          <a:ln w="38100">
            <a:solidFill>
              <a:schemeClr val="tx1"/>
            </a:solidFill>
            <a:round/>
            <a:headEnd/>
            <a:tailEnd/>
          </a:ln>
          <a:effectLst/>
        </p:spPr>
        <p:txBody>
          <a:bodyPr/>
          <a:lstStyle/>
          <a:p>
            <a:endParaRPr lang="es-ES"/>
          </a:p>
        </p:txBody>
      </p:sp>
      <p:sp>
        <p:nvSpPr>
          <p:cNvPr id="6" name="Rectangle 3">
            <a:extLst>
              <a:ext uri="{FF2B5EF4-FFF2-40B4-BE49-F238E27FC236}">
                <a16:creationId xmlns:a16="http://schemas.microsoft.com/office/drawing/2014/main" id="{B9DAD023-5FB9-4766-881B-EB0645B88BF7}"/>
              </a:ext>
            </a:extLst>
          </p:cNvPr>
          <p:cNvSpPr>
            <a:spLocks noChangeArrowheads="1"/>
          </p:cNvSpPr>
          <p:nvPr/>
        </p:nvSpPr>
        <p:spPr bwMode="auto">
          <a:xfrm>
            <a:off x="-338682" y="1058125"/>
            <a:ext cx="5180527" cy="446276"/>
          </a:xfrm>
          <a:prstGeom prst="rect">
            <a:avLst/>
          </a:prstGeom>
          <a:noFill/>
          <a:ln w="9525">
            <a:noFill/>
            <a:miter lim="800000"/>
            <a:headEnd/>
            <a:tailEnd/>
          </a:ln>
          <a:effectLst/>
        </p:spPr>
        <p:txBody>
          <a:bodyPr wrap="square" lIns="228528" bIns="0" anchor="ctr">
            <a:spAutoFit/>
          </a:bodyPr>
          <a:lstStyle/>
          <a:p>
            <a:pPr marL="342900" indent="-342900" algn="ctr">
              <a:lnSpc>
                <a:spcPct val="130000"/>
              </a:lnSpc>
              <a:buFontTx/>
              <a:buAutoNum type="arabicPeriod" startAt="8"/>
              <a:tabLst>
                <a:tab pos="431800" algn="l"/>
              </a:tabLst>
            </a:pPr>
            <a:r>
              <a:rPr lang="es-MX" sz="2000" b="1" dirty="0"/>
              <a:t>Operadores Relacionales</a:t>
            </a:r>
          </a:p>
        </p:txBody>
      </p:sp>
      <p:graphicFrame>
        <p:nvGraphicFramePr>
          <p:cNvPr id="7" name="Object 6">
            <a:extLst>
              <a:ext uri="{FF2B5EF4-FFF2-40B4-BE49-F238E27FC236}">
                <a16:creationId xmlns:a16="http://schemas.microsoft.com/office/drawing/2014/main" id="{4438B375-2B5F-4808-A4A3-0E3067745A4B}"/>
              </a:ext>
            </a:extLst>
          </p:cNvPr>
          <p:cNvGraphicFramePr>
            <a:graphicFrameLocks noChangeAspect="1"/>
          </p:cNvGraphicFramePr>
          <p:nvPr>
            <p:extLst>
              <p:ext uri="{D42A27DB-BD31-4B8C-83A1-F6EECF244321}">
                <p14:modId xmlns:p14="http://schemas.microsoft.com/office/powerpoint/2010/main" val="2455835280"/>
              </p:ext>
            </p:extLst>
          </p:nvPr>
        </p:nvGraphicFramePr>
        <p:xfrm>
          <a:off x="-190500" y="2258921"/>
          <a:ext cx="11375907" cy="2839533"/>
        </p:xfrm>
        <a:graphic>
          <a:graphicData uri="http://schemas.openxmlformats.org/presentationml/2006/ole">
            <mc:AlternateContent xmlns:mc="http://schemas.openxmlformats.org/markup-compatibility/2006">
              <mc:Choice xmlns:v="urn:schemas-microsoft-com:vml" Requires="v">
                <p:oleObj spid="_x0000_s7173" name="Documento" r:id="rId3" imgW="5710680" imgH="1624320" progId="Word.Document.8">
                  <p:embed/>
                </p:oleObj>
              </mc:Choice>
              <mc:Fallback>
                <p:oleObj name="Documento" r:id="rId3" imgW="5710680" imgH="1624320" progId="Word.Document.8">
                  <p:embed/>
                  <p:pic>
                    <p:nvPicPr>
                      <p:cNvPr id="112646"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500" y="2258921"/>
                        <a:ext cx="11375907" cy="2839533"/>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36243391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8D35973E-5206-4FD0-AD63-1AE2BE847ED3}"/>
              </a:ext>
            </a:extLst>
          </p:cNvPr>
          <p:cNvSpPr>
            <a:spLocks noChangeArrowheads="1"/>
          </p:cNvSpPr>
          <p:nvPr/>
        </p:nvSpPr>
        <p:spPr bwMode="auto">
          <a:xfrm>
            <a:off x="381000" y="424838"/>
            <a:ext cx="6777445" cy="492443"/>
          </a:xfrm>
          <a:prstGeom prst="rect">
            <a:avLst/>
          </a:prstGeom>
          <a:noFill/>
          <a:ln w="9525">
            <a:noFill/>
            <a:miter lim="800000"/>
            <a:headEnd/>
            <a:tailEnd/>
          </a:ln>
          <a:effectLst/>
        </p:spPr>
        <p:txBody>
          <a:bodyPr wrap="squar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ES" sz="2600" b="1" i="0" u="none" strike="noStrike" kern="1200" cap="none" spc="0" normalizeH="0" baseline="0" noProof="0" dirty="0">
                <a:ln>
                  <a:noFill/>
                </a:ln>
                <a:solidFill>
                  <a:srgbClr val="0099A8"/>
                </a:solidFill>
                <a:effectLst/>
                <a:uLnTx/>
                <a:uFillTx/>
                <a:latin typeface="Arial" charset="0"/>
                <a:ea typeface="+mn-ea"/>
                <a:cs typeface="+mn-cs"/>
              </a:rPr>
              <a:t>Elementos de un programa en C/C++</a:t>
            </a:r>
          </a:p>
        </p:txBody>
      </p:sp>
      <p:sp>
        <p:nvSpPr>
          <p:cNvPr id="8" name="Line 10">
            <a:extLst>
              <a:ext uri="{FF2B5EF4-FFF2-40B4-BE49-F238E27FC236}">
                <a16:creationId xmlns:a16="http://schemas.microsoft.com/office/drawing/2014/main" id="{70D05293-6B65-4C47-858A-7702709DDC33}"/>
              </a:ext>
            </a:extLst>
          </p:cNvPr>
          <p:cNvSpPr>
            <a:spLocks noChangeShapeType="1"/>
          </p:cNvSpPr>
          <p:nvPr/>
        </p:nvSpPr>
        <p:spPr bwMode="auto">
          <a:xfrm>
            <a:off x="650845" y="1645246"/>
            <a:ext cx="8382000" cy="0"/>
          </a:xfrm>
          <a:prstGeom prst="line">
            <a:avLst/>
          </a:prstGeom>
          <a:noFill/>
          <a:ln w="38100">
            <a:solidFill>
              <a:schemeClr val="tx1"/>
            </a:solidFill>
            <a:round/>
            <a:headEnd/>
            <a:tailEnd/>
          </a:ln>
          <a:effectLst/>
        </p:spPr>
        <p:txBody>
          <a:bodyPr/>
          <a:lstStyle/>
          <a:p>
            <a:endParaRPr lang="es-ES"/>
          </a:p>
        </p:txBody>
      </p:sp>
      <p:sp>
        <p:nvSpPr>
          <p:cNvPr id="9" name="Rectangle 3">
            <a:extLst>
              <a:ext uri="{FF2B5EF4-FFF2-40B4-BE49-F238E27FC236}">
                <a16:creationId xmlns:a16="http://schemas.microsoft.com/office/drawing/2014/main" id="{11A81ACA-6F94-43DC-BF91-B5159CBA8A93}"/>
              </a:ext>
            </a:extLst>
          </p:cNvPr>
          <p:cNvSpPr>
            <a:spLocks noChangeArrowheads="1"/>
          </p:cNvSpPr>
          <p:nvPr/>
        </p:nvSpPr>
        <p:spPr bwMode="auto">
          <a:xfrm>
            <a:off x="-253551" y="1058125"/>
            <a:ext cx="4523704" cy="446276"/>
          </a:xfrm>
          <a:prstGeom prst="rect">
            <a:avLst/>
          </a:prstGeom>
          <a:noFill/>
          <a:ln w="9525">
            <a:noFill/>
            <a:miter lim="800000"/>
            <a:headEnd/>
            <a:tailEnd/>
          </a:ln>
          <a:effectLst/>
        </p:spPr>
        <p:txBody>
          <a:bodyPr wrap="square" lIns="228528" bIns="0" anchor="ctr">
            <a:spAutoFit/>
          </a:bodyPr>
          <a:lstStyle/>
          <a:p>
            <a:pPr marL="342900" indent="-342900" algn="ctr">
              <a:lnSpc>
                <a:spcPct val="130000"/>
              </a:lnSpc>
              <a:buFontTx/>
              <a:buAutoNum type="arabicPeriod" startAt="9"/>
              <a:tabLst>
                <a:tab pos="431800" algn="l"/>
              </a:tabLst>
            </a:pPr>
            <a:r>
              <a:rPr lang="es-MX" sz="2000" b="1" dirty="0"/>
              <a:t>Operadores Lógicos</a:t>
            </a:r>
          </a:p>
        </p:txBody>
      </p:sp>
      <p:graphicFrame>
        <p:nvGraphicFramePr>
          <p:cNvPr id="10" name="Object 52">
            <a:extLst>
              <a:ext uri="{FF2B5EF4-FFF2-40B4-BE49-F238E27FC236}">
                <a16:creationId xmlns:a16="http://schemas.microsoft.com/office/drawing/2014/main" id="{6605E3BD-4847-42C4-9C8D-2E86C12A5EA3}"/>
              </a:ext>
            </a:extLst>
          </p:cNvPr>
          <p:cNvGraphicFramePr>
            <a:graphicFrameLocks noChangeAspect="1"/>
          </p:cNvGraphicFramePr>
          <p:nvPr>
            <p:extLst>
              <p:ext uri="{D42A27DB-BD31-4B8C-83A1-F6EECF244321}">
                <p14:modId xmlns:p14="http://schemas.microsoft.com/office/powerpoint/2010/main" val="4038325137"/>
              </p:ext>
            </p:extLst>
          </p:nvPr>
        </p:nvGraphicFramePr>
        <p:xfrm>
          <a:off x="0" y="2232366"/>
          <a:ext cx="9535886" cy="1869151"/>
        </p:xfrm>
        <a:graphic>
          <a:graphicData uri="http://schemas.openxmlformats.org/presentationml/2006/ole">
            <mc:AlternateContent xmlns:mc="http://schemas.openxmlformats.org/markup-compatibility/2006">
              <mc:Choice xmlns:v="urn:schemas-microsoft-com:vml" Requires="v">
                <p:oleObj spid="_x0000_s9221" name="Documento" r:id="rId3" imgW="4242600" imgH="1098360" progId="Word.Document.8">
                  <p:embed/>
                </p:oleObj>
              </mc:Choice>
              <mc:Fallback>
                <p:oleObj name="Documento" r:id="rId3" imgW="4242600" imgH="1098360" progId="Word.Document.8">
                  <p:embed/>
                  <p:pic>
                    <p:nvPicPr>
                      <p:cNvPr id="113716" name="Object 5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2232366"/>
                        <a:ext cx="9535886" cy="1869151"/>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25395196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8D35973E-5206-4FD0-AD63-1AE2BE847ED3}"/>
              </a:ext>
            </a:extLst>
          </p:cNvPr>
          <p:cNvSpPr>
            <a:spLocks noChangeArrowheads="1"/>
          </p:cNvSpPr>
          <p:nvPr/>
        </p:nvSpPr>
        <p:spPr bwMode="auto">
          <a:xfrm>
            <a:off x="381000" y="424838"/>
            <a:ext cx="6777445" cy="492443"/>
          </a:xfrm>
          <a:prstGeom prst="rect">
            <a:avLst/>
          </a:prstGeom>
          <a:noFill/>
          <a:ln w="9525">
            <a:noFill/>
            <a:miter lim="800000"/>
            <a:headEnd/>
            <a:tailEnd/>
          </a:ln>
          <a:effectLst/>
        </p:spPr>
        <p:txBody>
          <a:bodyPr wrap="squar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ES" sz="2600" b="1" i="0" u="none" strike="noStrike" kern="1200" cap="none" spc="0" normalizeH="0" baseline="0" noProof="0" dirty="0">
                <a:ln>
                  <a:noFill/>
                </a:ln>
                <a:solidFill>
                  <a:srgbClr val="0099A8"/>
                </a:solidFill>
                <a:effectLst/>
                <a:uLnTx/>
                <a:uFillTx/>
                <a:latin typeface="Arial" charset="0"/>
                <a:ea typeface="+mn-ea"/>
                <a:cs typeface="+mn-cs"/>
              </a:rPr>
              <a:t>Elementos de un programa en C/C++</a:t>
            </a:r>
          </a:p>
        </p:txBody>
      </p:sp>
      <p:sp>
        <p:nvSpPr>
          <p:cNvPr id="8" name="Line 10">
            <a:extLst>
              <a:ext uri="{FF2B5EF4-FFF2-40B4-BE49-F238E27FC236}">
                <a16:creationId xmlns:a16="http://schemas.microsoft.com/office/drawing/2014/main" id="{70D05293-6B65-4C47-858A-7702709DDC33}"/>
              </a:ext>
            </a:extLst>
          </p:cNvPr>
          <p:cNvSpPr>
            <a:spLocks noChangeShapeType="1"/>
          </p:cNvSpPr>
          <p:nvPr/>
        </p:nvSpPr>
        <p:spPr bwMode="auto">
          <a:xfrm>
            <a:off x="650845" y="1645246"/>
            <a:ext cx="8382000" cy="0"/>
          </a:xfrm>
          <a:prstGeom prst="line">
            <a:avLst/>
          </a:prstGeom>
          <a:noFill/>
          <a:ln w="38100">
            <a:solidFill>
              <a:schemeClr val="tx1"/>
            </a:solidFill>
            <a:round/>
            <a:headEnd/>
            <a:tailEnd/>
          </a:ln>
          <a:effectLst/>
        </p:spPr>
        <p:txBody>
          <a:bodyPr/>
          <a:lstStyle/>
          <a:p>
            <a:endParaRPr lang="es-ES"/>
          </a:p>
        </p:txBody>
      </p:sp>
      <p:sp>
        <p:nvSpPr>
          <p:cNvPr id="6" name="Rectangle 3">
            <a:extLst>
              <a:ext uri="{FF2B5EF4-FFF2-40B4-BE49-F238E27FC236}">
                <a16:creationId xmlns:a16="http://schemas.microsoft.com/office/drawing/2014/main" id="{134A24A4-379B-4ED3-82F2-268539E60DB4}"/>
              </a:ext>
            </a:extLst>
          </p:cNvPr>
          <p:cNvSpPr>
            <a:spLocks noChangeArrowheads="1"/>
          </p:cNvSpPr>
          <p:nvPr/>
        </p:nvSpPr>
        <p:spPr bwMode="auto">
          <a:xfrm>
            <a:off x="-355778" y="1058125"/>
            <a:ext cx="5386589" cy="446276"/>
          </a:xfrm>
          <a:prstGeom prst="rect">
            <a:avLst/>
          </a:prstGeom>
          <a:noFill/>
          <a:ln w="9525">
            <a:noFill/>
            <a:miter lim="800000"/>
            <a:headEnd/>
            <a:tailEnd/>
          </a:ln>
          <a:effectLst/>
        </p:spPr>
        <p:txBody>
          <a:bodyPr wrap="square" lIns="228528" bIns="0" anchor="ctr">
            <a:spAutoFit/>
          </a:bodyPr>
          <a:lstStyle/>
          <a:p>
            <a:pPr marL="342900" indent="-342900" algn="ctr">
              <a:lnSpc>
                <a:spcPct val="130000"/>
              </a:lnSpc>
              <a:buFontTx/>
              <a:buAutoNum type="arabicPeriod" startAt="10"/>
              <a:tabLst>
                <a:tab pos="431800" algn="l"/>
              </a:tabLst>
            </a:pPr>
            <a:r>
              <a:rPr lang="es-MX" sz="2000" b="1" dirty="0"/>
              <a:t> Operadores de Asignación</a:t>
            </a:r>
          </a:p>
        </p:txBody>
      </p:sp>
      <p:graphicFrame>
        <p:nvGraphicFramePr>
          <p:cNvPr id="7" name="Object 71">
            <a:extLst>
              <a:ext uri="{FF2B5EF4-FFF2-40B4-BE49-F238E27FC236}">
                <a16:creationId xmlns:a16="http://schemas.microsoft.com/office/drawing/2014/main" id="{C01FDAE2-6E43-4868-9206-01112B03CC44}"/>
              </a:ext>
            </a:extLst>
          </p:cNvPr>
          <p:cNvGraphicFramePr>
            <a:graphicFrameLocks noChangeAspect="1"/>
          </p:cNvGraphicFramePr>
          <p:nvPr>
            <p:extLst>
              <p:ext uri="{D42A27DB-BD31-4B8C-83A1-F6EECF244321}">
                <p14:modId xmlns:p14="http://schemas.microsoft.com/office/powerpoint/2010/main" val="3088933722"/>
              </p:ext>
            </p:extLst>
          </p:nvPr>
        </p:nvGraphicFramePr>
        <p:xfrm>
          <a:off x="-352633" y="2202040"/>
          <a:ext cx="11970453" cy="2453919"/>
        </p:xfrm>
        <a:graphic>
          <a:graphicData uri="http://schemas.openxmlformats.org/presentationml/2006/ole">
            <mc:AlternateContent xmlns:mc="http://schemas.openxmlformats.org/markup-compatibility/2006">
              <mc:Choice xmlns:v="urn:schemas-microsoft-com:vml" Requires="v">
                <p:oleObj spid="_x0000_s10245" name="Documento" r:id="rId3" imgW="6063120" imgH="1449000" progId="Word.Document.8">
                  <p:embed/>
                </p:oleObj>
              </mc:Choice>
              <mc:Fallback>
                <p:oleObj name="Documento" r:id="rId3" imgW="6063120" imgH="1449000" progId="Word.Document.8">
                  <p:embed/>
                  <p:pic>
                    <p:nvPicPr>
                      <p:cNvPr id="114759" name="Object 7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2633" y="2202040"/>
                        <a:ext cx="11970453" cy="2453919"/>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29815286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8D35973E-5206-4FD0-AD63-1AE2BE847ED3}"/>
              </a:ext>
            </a:extLst>
          </p:cNvPr>
          <p:cNvSpPr>
            <a:spLocks noChangeArrowheads="1"/>
          </p:cNvSpPr>
          <p:nvPr/>
        </p:nvSpPr>
        <p:spPr bwMode="auto">
          <a:xfrm>
            <a:off x="381000" y="424838"/>
            <a:ext cx="6777445" cy="492443"/>
          </a:xfrm>
          <a:prstGeom prst="rect">
            <a:avLst/>
          </a:prstGeom>
          <a:noFill/>
          <a:ln w="9525">
            <a:noFill/>
            <a:miter lim="800000"/>
            <a:headEnd/>
            <a:tailEnd/>
          </a:ln>
          <a:effectLst/>
        </p:spPr>
        <p:txBody>
          <a:bodyPr wrap="squar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ES" sz="2600" b="1" i="0" u="none" strike="noStrike" kern="1200" cap="none" spc="0" normalizeH="0" baseline="0" noProof="0" dirty="0">
                <a:ln>
                  <a:noFill/>
                </a:ln>
                <a:solidFill>
                  <a:srgbClr val="0099A8"/>
                </a:solidFill>
                <a:effectLst/>
                <a:uLnTx/>
                <a:uFillTx/>
                <a:latin typeface="Arial" charset="0"/>
                <a:ea typeface="+mn-ea"/>
                <a:cs typeface="+mn-cs"/>
              </a:rPr>
              <a:t>Elementos de un programa en C/C++</a:t>
            </a:r>
          </a:p>
        </p:txBody>
      </p:sp>
      <p:sp>
        <p:nvSpPr>
          <p:cNvPr id="8" name="Line 10">
            <a:extLst>
              <a:ext uri="{FF2B5EF4-FFF2-40B4-BE49-F238E27FC236}">
                <a16:creationId xmlns:a16="http://schemas.microsoft.com/office/drawing/2014/main" id="{70D05293-6B65-4C47-858A-7702709DDC33}"/>
              </a:ext>
            </a:extLst>
          </p:cNvPr>
          <p:cNvSpPr>
            <a:spLocks noChangeShapeType="1"/>
          </p:cNvSpPr>
          <p:nvPr/>
        </p:nvSpPr>
        <p:spPr bwMode="auto">
          <a:xfrm>
            <a:off x="650845" y="1645246"/>
            <a:ext cx="8382000" cy="0"/>
          </a:xfrm>
          <a:prstGeom prst="line">
            <a:avLst/>
          </a:prstGeom>
          <a:noFill/>
          <a:ln w="38100">
            <a:solidFill>
              <a:schemeClr val="tx1"/>
            </a:solidFill>
            <a:round/>
            <a:headEnd/>
            <a:tailEnd/>
          </a:ln>
          <a:effectLst/>
        </p:spPr>
        <p:txBody>
          <a:bodyPr/>
          <a:lstStyle/>
          <a:p>
            <a:endParaRPr lang="es-ES"/>
          </a:p>
        </p:txBody>
      </p:sp>
      <p:sp>
        <p:nvSpPr>
          <p:cNvPr id="9" name="Rectangle 3">
            <a:extLst>
              <a:ext uri="{FF2B5EF4-FFF2-40B4-BE49-F238E27FC236}">
                <a16:creationId xmlns:a16="http://schemas.microsoft.com/office/drawing/2014/main" id="{5C06A671-8946-42EA-9239-5DDDE046DEA1}"/>
              </a:ext>
            </a:extLst>
          </p:cNvPr>
          <p:cNvSpPr>
            <a:spLocks noChangeArrowheads="1"/>
          </p:cNvSpPr>
          <p:nvPr/>
        </p:nvSpPr>
        <p:spPr bwMode="auto">
          <a:xfrm>
            <a:off x="-820239" y="1077602"/>
            <a:ext cx="7717665" cy="446276"/>
          </a:xfrm>
          <a:prstGeom prst="rect">
            <a:avLst/>
          </a:prstGeom>
          <a:noFill/>
          <a:ln w="9525">
            <a:noFill/>
            <a:miter lim="800000"/>
            <a:headEnd/>
            <a:tailEnd/>
          </a:ln>
          <a:effectLst/>
        </p:spPr>
        <p:txBody>
          <a:bodyPr wrap="square" lIns="228528" bIns="0" anchor="ctr">
            <a:spAutoFit/>
          </a:bodyPr>
          <a:lstStyle/>
          <a:p>
            <a:pPr marL="342900" indent="-342900" algn="ctr">
              <a:lnSpc>
                <a:spcPct val="130000"/>
              </a:lnSpc>
              <a:buFontTx/>
              <a:buAutoNum type="arabicPeriod" startAt="11"/>
              <a:tabLst>
                <a:tab pos="431800" algn="l"/>
              </a:tabLst>
            </a:pPr>
            <a:r>
              <a:rPr lang="es-MX" sz="2000" b="1" dirty="0"/>
              <a:t> Operadores de Incremento y Decremento</a:t>
            </a:r>
          </a:p>
        </p:txBody>
      </p:sp>
      <p:sp>
        <p:nvSpPr>
          <p:cNvPr id="10" name="Rectangle 6">
            <a:extLst>
              <a:ext uri="{FF2B5EF4-FFF2-40B4-BE49-F238E27FC236}">
                <a16:creationId xmlns:a16="http://schemas.microsoft.com/office/drawing/2014/main" id="{8D924FCC-5410-4CBB-8F6C-44FBF2076182}"/>
              </a:ext>
            </a:extLst>
          </p:cNvPr>
          <p:cNvSpPr>
            <a:spLocks noChangeArrowheads="1"/>
          </p:cNvSpPr>
          <p:nvPr/>
        </p:nvSpPr>
        <p:spPr bwMode="auto">
          <a:xfrm>
            <a:off x="682028" y="1928664"/>
            <a:ext cx="10715221" cy="1282700"/>
          </a:xfrm>
          <a:prstGeom prst="rect">
            <a:avLst/>
          </a:prstGeom>
          <a:noFill/>
          <a:ln w="9525">
            <a:noFill/>
            <a:miter lim="800000"/>
            <a:headEnd/>
            <a:tailEnd/>
          </a:ln>
          <a:effectLst/>
        </p:spPr>
        <p:txBody>
          <a:bodyPr wrap="square">
            <a:spAutoFit/>
          </a:bodyPr>
          <a:lstStyle/>
          <a:p>
            <a:pPr algn="just">
              <a:lnSpc>
                <a:spcPct val="130000"/>
              </a:lnSpc>
            </a:pPr>
            <a:r>
              <a:rPr lang="es-MX" sz="2000" dirty="0">
                <a:cs typeface="Times New Roman" charset="0"/>
              </a:rPr>
              <a:t>C++ ofrece los operadores de incremento (</a:t>
            </a:r>
            <a:r>
              <a:rPr lang="es-MX" sz="2000" dirty="0">
                <a:latin typeface="Arial Black" pitchFamily="34" charset="0"/>
                <a:cs typeface="Times New Roman" charset="0"/>
              </a:rPr>
              <a:t>++</a:t>
            </a:r>
            <a:r>
              <a:rPr lang="es-MX" sz="2000" dirty="0">
                <a:cs typeface="Times New Roman" charset="0"/>
              </a:rPr>
              <a:t>) y decremento (</a:t>
            </a:r>
            <a:r>
              <a:rPr lang="es-MX" sz="2000" dirty="0">
                <a:latin typeface="Arial Black" pitchFamily="34" charset="0"/>
                <a:cs typeface="Times New Roman" charset="0"/>
              </a:rPr>
              <a:t>- -</a:t>
            </a:r>
            <a:r>
              <a:rPr lang="es-MX" sz="2000" dirty="0">
                <a:cs typeface="Times New Roman" charset="0"/>
              </a:rPr>
              <a:t>) que permiten abreviar la sintaxis de sumar o restar 1, respectivamente, al valor de una variable.</a:t>
            </a:r>
            <a:endParaRPr lang="es-MX" sz="2000" dirty="0"/>
          </a:p>
        </p:txBody>
      </p:sp>
      <p:sp>
        <p:nvSpPr>
          <p:cNvPr id="11" name="Rectangle 7">
            <a:extLst>
              <a:ext uri="{FF2B5EF4-FFF2-40B4-BE49-F238E27FC236}">
                <a16:creationId xmlns:a16="http://schemas.microsoft.com/office/drawing/2014/main" id="{EFE45F61-388A-4071-A559-335AA9414129}"/>
              </a:ext>
            </a:extLst>
          </p:cNvPr>
          <p:cNvSpPr>
            <a:spLocks noChangeArrowheads="1"/>
          </p:cNvSpPr>
          <p:nvPr/>
        </p:nvSpPr>
        <p:spPr bwMode="auto">
          <a:xfrm>
            <a:off x="794751" y="3068379"/>
            <a:ext cx="7225048" cy="1015663"/>
          </a:xfrm>
          <a:prstGeom prst="rect">
            <a:avLst/>
          </a:prstGeom>
          <a:noFill/>
          <a:ln w="9525">
            <a:noFill/>
            <a:miter lim="800000"/>
            <a:headEnd/>
            <a:tailEnd/>
          </a:ln>
          <a:effectLst/>
        </p:spPr>
        <p:txBody>
          <a:bodyPr wrap="square">
            <a:spAutoFit/>
          </a:bodyPr>
          <a:lstStyle/>
          <a:p>
            <a:pPr algn="just"/>
            <a:r>
              <a:rPr lang="es-MX" sz="2000" dirty="0">
                <a:cs typeface="Times New Roman" charset="0"/>
              </a:rPr>
              <a:t>La sintaxis general del operador </a:t>
            </a:r>
            <a:r>
              <a:rPr lang="es-MX" sz="2000" dirty="0">
                <a:latin typeface="Arial Black" pitchFamily="34" charset="0"/>
                <a:cs typeface="Times New Roman" charset="0"/>
              </a:rPr>
              <a:t>++</a:t>
            </a:r>
            <a:r>
              <a:rPr lang="es-MX" sz="2000" dirty="0">
                <a:cs typeface="Times New Roman" charset="0"/>
              </a:rPr>
              <a:t> es: </a:t>
            </a:r>
            <a:endParaRPr lang="es-MX" sz="2000" dirty="0">
              <a:ea typeface="Arial Unicode MS" pitchFamily="34" charset="-128"/>
              <a:cs typeface="Arial Unicode MS" pitchFamily="34" charset="-128"/>
            </a:endParaRPr>
          </a:p>
          <a:p>
            <a:pPr eaLnBrk="0" hangingPunct="0"/>
            <a:r>
              <a:rPr lang="es-MX" sz="2000" i="1" dirty="0">
                <a:cs typeface="Times New Roman" charset="0"/>
              </a:rPr>
              <a:t>formato1: </a:t>
            </a:r>
            <a:r>
              <a:rPr lang="es-MX" sz="2000" i="1" dirty="0" err="1">
                <a:cs typeface="Times New Roman" charset="0"/>
              </a:rPr>
              <a:t>preincremento</a:t>
            </a:r>
            <a:r>
              <a:rPr lang="es-MX" sz="2000" dirty="0">
                <a:cs typeface="Times New Roman" charset="0"/>
              </a:rPr>
              <a:t>	</a:t>
            </a:r>
            <a:r>
              <a:rPr lang="es-MX" sz="2000" b="1" dirty="0">
                <a:solidFill>
                  <a:schemeClr val="folHlink"/>
                </a:solidFill>
                <a:cs typeface="Times New Roman" charset="0"/>
              </a:rPr>
              <a:t>++</a:t>
            </a:r>
            <a:r>
              <a:rPr lang="es-MX" sz="2000" b="1" dirty="0">
                <a:cs typeface="Times New Roman" charset="0"/>
              </a:rPr>
              <a:t>variable</a:t>
            </a:r>
          </a:p>
          <a:p>
            <a:pPr eaLnBrk="0" hangingPunct="0"/>
            <a:r>
              <a:rPr lang="es-MX" sz="2000" i="1" dirty="0">
                <a:cs typeface="Times New Roman" charset="0"/>
              </a:rPr>
              <a:t>formato2: </a:t>
            </a:r>
            <a:r>
              <a:rPr lang="es-MX" sz="2000" i="1" dirty="0" err="1">
                <a:cs typeface="Times New Roman" charset="0"/>
              </a:rPr>
              <a:t>postincremento</a:t>
            </a:r>
            <a:r>
              <a:rPr lang="es-MX" sz="2000" dirty="0">
                <a:cs typeface="Times New Roman" charset="0"/>
              </a:rPr>
              <a:t>	</a:t>
            </a:r>
            <a:r>
              <a:rPr lang="es-MX" sz="2000" b="1" dirty="0">
                <a:cs typeface="Times New Roman" charset="0"/>
              </a:rPr>
              <a:t>variable</a:t>
            </a:r>
            <a:r>
              <a:rPr lang="es-MX" sz="2000" b="1" dirty="0">
                <a:solidFill>
                  <a:schemeClr val="folHlink"/>
                </a:solidFill>
                <a:cs typeface="Times New Roman" charset="0"/>
              </a:rPr>
              <a:t>++</a:t>
            </a:r>
            <a:endParaRPr lang="es-MX" sz="2000" b="1" dirty="0">
              <a:solidFill>
                <a:schemeClr val="folHlink"/>
              </a:solidFill>
            </a:endParaRPr>
          </a:p>
        </p:txBody>
      </p:sp>
      <p:sp>
        <p:nvSpPr>
          <p:cNvPr id="12" name="Rectangle 8">
            <a:extLst>
              <a:ext uri="{FF2B5EF4-FFF2-40B4-BE49-F238E27FC236}">
                <a16:creationId xmlns:a16="http://schemas.microsoft.com/office/drawing/2014/main" id="{472D5ED1-DB77-4129-9E6B-670732202573}"/>
              </a:ext>
            </a:extLst>
          </p:cNvPr>
          <p:cNvSpPr>
            <a:spLocks noChangeArrowheads="1"/>
          </p:cNvSpPr>
          <p:nvPr/>
        </p:nvSpPr>
        <p:spPr bwMode="auto">
          <a:xfrm>
            <a:off x="794751" y="4217282"/>
            <a:ext cx="6670183" cy="1006475"/>
          </a:xfrm>
          <a:prstGeom prst="rect">
            <a:avLst/>
          </a:prstGeom>
          <a:noFill/>
          <a:ln w="9525">
            <a:noFill/>
            <a:miter lim="800000"/>
            <a:headEnd/>
            <a:tailEnd/>
          </a:ln>
          <a:effectLst/>
        </p:spPr>
        <p:txBody>
          <a:bodyPr wrap="square">
            <a:spAutoFit/>
          </a:bodyPr>
          <a:lstStyle/>
          <a:p>
            <a:pPr algn="just"/>
            <a:r>
              <a:rPr lang="es-MX" sz="2000" dirty="0">
                <a:cs typeface="Times New Roman" charset="0"/>
              </a:rPr>
              <a:t>La sintaxis general del operador</a:t>
            </a:r>
            <a:r>
              <a:rPr lang="es-MX" sz="2000" dirty="0">
                <a:latin typeface="Arial Black" pitchFamily="34" charset="0"/>
                <a:cs typeface="Times New Roman" charset="0"/>
              </a:rPr>
              <a:t> - -</a:t>
            </a:r>
            <a:r>
              <a:rPr lang="es-MX" sz="2000" dirty="0">
                <a:cs typeface="Times New Roman" charset="0"/>
              </a:rPr>
              <a:t> es: </a:t>
            </a:r>
            <a:endParaRPr lang="es-MX" sz="2000" dirty="0">
              <a:ea typeface="Arial Unicode MS" pitchFamily="34" charset="-128"/>
              <a:cs typeface="Arial Unicode MS" pitchFamily="34" charset="-128"/>
            </a:endParaRPr>
          </a:p>
          <a:p>
            <a:pPr eaLnBrk="0" hangingPunct="0"/>
            <a:r>
              <a:rPr lang="es-MX" sz="2000" i="1" dirty="0">
                <a:cs typeface="Times New Roman" charset="0"/>
              </a:rPr>
              <a:t>formato1: </a:t>
            </a:r>
            <a:r>
              <a:rPr lang="es-MX" sz="2000" i="1" dirty="0" err="1">
                <a:cs typeface="Times New Roman" charset="0"/>
              </a:rPr>
              <a:t>preincremento</a:t>
            </a:r>
            <a:r>
              <a:rPr lang="es-MX" sz="2000" dirty="0">
                <a:cs typeface="Times New Roman" charset="0"/>
              </a:rPr>
              <a:t>	</a:t>
            </a:r>
            <a:r>
              <a:rPr lang="es-MX" sz="2000" b="1" dirty="0">
                <a:solidFill>
                  <a:schemeClr val="folHlink"/>
                </a:solidFill>
                <a:cs typeface="Times New Roman" charset="0"/>
              </a:rPr>
              <a:t>--</a:t>
            </a:r>
            <a:r>
              <a:rPr lang="es-MX" sz="2000" b="1" dirty="0">
                <a:cs typeface="Times New Roman" charset="0"/>
              </a:rPr>
              <a:t>variable</a:t>
            </a:r>
          </a:p>
          <a:p>
            <a:pPr eaLnBrk="0" hangingPunct="0"/>
            <a:r>
              <a:rPr lang="es-MX" sz="2000" i="1" dirty="0">
                <a:cs typeface="Times New Roman" charset="0"/>
              </a:rPr>
              <a:t>formato2: </a:t>
            </a:r>
            <a:r>
              <a:rPr lang="es-MX" sz="2000" i="1" dirty="0" err="1">
                <a:cs typeface="Times New Roman" charset="0"/>
              </a:rPr>
              <a:t>postincremento</a:t>
            </a:r>
            <a:r>
              <a:rPr lang="es-MX" sz="2000" dirty="0">
                <a:cs typeface="Times New Roman" charset="0"/>
              </a:rPr>
              <a:t>	</a:t>
            </a:r>
            <a:r>
              <a:rPr lang="es-MX" sz="2000" b="1" dirty="0">
                <a:cs typeface="Times New Roman" charset="0"/>
              </a:rPr>
              <a:t>variable</a:t>
            </a:r>
            <a:r>
              <a:rPr lang="es-MX" sz="2000" b="1" dirty="0">
                <a:solidFill>
                  <a:schemeClr val="folHlink"/>
                </a:solidFill>
                <a:cs typeface="Times New Roman" charset="0"/>
              </a:rPr>
              <a:t>--</a:t>
            </a:r>
            <a:endParaRPr lang="es-MX" sz="2000" b="1" dirty="0">
              <a:solidFill>
                <a:schemeClr val="folHlink"/>
              </a:solidFill>
            </a:endParaRPr>
          </a:p>
        </p:txBody>
      </p:sp>
    </p:spTree>
    <p:extLst>
      <p:ext uri="{BB962C8B-B14F-4D97-AF65-F5344CB8AC3E}">
        <p14:creationId xmlns:p14="http://schemas.microsoft.com/office/powerpoint/2010/main" val="18115196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8D35973E-5206-4FD0-AD63-1AE2BE847ED3}"/>
              </a:ext>
            </a:extLst>
          </p:cNvPr>
          <p:cNvSpPr>
            <a:spLocks noChangeArrowheads="1"/>
          </p:cNvSpPr>
          <p:nvPr/>
        </p:nvSpPr>
        <p:spPr bwMode="auto">
          <a:xfrm>
            <a:off x="381000" y="424838"/>
            <a:ext cx="6777445" cy="492443"/>
          </a:xfrm>
          <a:prstGeom prst="rect">
            <a:avLst/>
          </a:prstGeom>
          <a:noFill/>
          <a:ln w="9525">
            <a:noFill/>
            <a:miter lim="800000"/>
            <a:headEnd/>
            <a:tailEnd/>
          </a:ln>
          <a:effectLst/>
        </p:spPr>
        <p:txBody>
          <a:bodyPr wrap="squar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ES" sz="2600" b="1" i="0" u="none" strike="noStrike" kern="1200" cap="none" spc="0" normalizeH="0" baseline="0" noProof="0" dirty="0">
                <a:ln>
                  <a:noFill/>
                </a:ln>
                <a:solidFill>
                  <a:srgbClr val="0099A8"/>
                </a:solidFill>
                <a:effectLst/>
                <a:uLnTx/>
                <a:uFillTx/>
                <a:latin typeface="Arial" charset="0"/>
                <a:ea typeface="+mn-ea"/>
                <a:cs typeface="+mn-cs"/>
              </a:rPr>
              <a:t>Elementos de un programa en C/C++</a:t>
            </a:r>
          </a:p>
        </p:txBody>
      </p:sp>
      <p:sp>
        <p:nvSpPr>
          <p:cNvPr id="8" name="Line 10">
            <a:extLst>
              <a:ext uri="{FF2B5EF4-FFF2-40B4-BE49-F238E27FC236}">
                <a16:creationId xmlns:a16="http://schemas.microsoft.com/office/drawing/2014/main" id="{70D05293-6B65-4C47-858A-7702709DDC33}"/>
              </a:ext>
            </a:extLst>
          </p:cNvPr>
          <p:cNvSpPr>
            <a:spLocks noChangeShapeType="1"/>
          </p:cNvSpPr>
          <p:nvPr/>
        </p:nvSpPr>
        <p:spPr bwMode="auto">
          <a:xfrm>
            <a:off x="650845" y="1645246"/>
            <a:ext cx="8382000" cy="0"/>
          </a:xfrm>
          <a:prstGeom prst="line">
            <a:avLst/>
          </a:prstGeom>
          <a:noFill/>
          <a:ln w="38100">
            <a:solidFill>
              <a:schemeClr val="tx1"/>
            </a:solidFill>
            <a:round/>
            <a:headEnd/>
            <a:tailEnd/>
          </a:ln>
          <a:effectLst/>
        </p:spPr>
        <p:txBody>
          <a:bodyPr/>
          <a:lstStyle/>
          <a:p>
            <a:endParaRPr lang="es-ES"/>
          </a:p>
        </p:txBody>
      </p:sp>
      <p:sp>
        <p:nvSpPr>
          <p:cNvPr id="13" name="Rectangle 3">
            <a:extLst>
              <a:ext uri="{FF2B5EF4-FFF2-40B4-BE49-F238E27FC236}">
                <a16:creationId xmlns:a16="http://schemas.microsoft.com/office/drawing/2014/main" id="{DDB2DA5F-F6A2-4E14-8CB7-71D26785DC27}"/>
              </a:ext>
            </a:extLst>
          </p:cNvPr>
          <p:cNvSpPr>
            <a:spLocks noChangeArrowheads="1"/>
          </p:cNvSpPr>
          <p:nvPr/>
        </p:nvSpPr>
        <p:spPr bwMode="auto">
          <a:xfrm>
            <a:off x="-304800" y="1041764"/>
            <a:ext cx="4214611" cy="446276"/>
          </a:xfrm>
          <a:prstGeom prst="rect">
            <a:avLst/>
          </a:prstGeom>
          <a:noFill/>
          <a:ln w="9525">
            <a:noFill/>
            <a:miter lim="800000"/>
            <a:headEnd/>
            <a:tailEnd/>
          </a:ln>
          <a:effectLst/>
        </p:spPr>
        <p:txBody>
          <a:bodyPr wrap="square" lIns="228528" bIns="0" anchor="ctr">
            <a:spAutoFit/>
          </a:bodyPr>
          <a:lstStyle/>
          <a:p>
            <a:pPr marL="342900" indent="-342900" algn="ctr">
              <a:lnSpc>
                <a:spcPct val="130000"/>
              </a:lnSpc>
              <a:buFontTx/>
              <a:buAutoNum type="arabicPeriod" startAt="12"/>
              <a:tabLst>
                <a:tab pos="431800" algn="l"/>
              </a:tabLst>
            </a:pPr>
            <a:r>
              <a:rPr lang="es-MX" sz="2000" b="1" dirty="0"/>
              <a:t> Operador Coma</a:t>
            </a:r>
          </a:p>
        </p:txBody>
      </p:sp>
      <p:sp>
        <p:nvSpPr>
          <p:cNvPr id="14" name="Rectangle 9">
            <a:extLst>
              <a:ext uri="{FF2B5EF4-FFF2-40B4-BE49-F238E27FC236}">
                <a16:creationId xmlns:a16="http://schemas.microsoft.com/office/drawing/2014/main" id="{4674842D-687C-4BD1-8CCA-C8B04F4A7FAE}"/>
              </a:ext>
            </a:extLst>
          </p:cNvPr>
          <p:cNvSpPr>
            <a:spLocks noChangeArrowheads="1"/>
          </p:cNvSpPr>
          <p:nvPr/>
        </p:nvSpPr>
        <p:spPr bwMode="auto">
          <a:xfrm>
            <a:off x="506569" y="1919545"/>
            <a:ext cx="11178862" cy="3293209"/>
          </a:xfrm>
          <a:prstGeom prst="rect">
            <a:avLst/>
          </a:prstGeom>
          <a:noFill/>
          <a:ln w="9525">
            <a:noFill/>
            <a:miter lim="800000"/>
            <a:headEnd/>
            <a:tailEnd/>
          </a:ln>
          <a:effectLst/>
        </p:spPr>
        <p:txBody>
          <a:bodyPr wrap="square">
            <a:spAutoFit/>
          </a:bodyPr>
          <a:lstStyle/>
          <a:p>
            <a:pPr algn="just">
              <a:lnSpc>
                <a:spcPct val="130000"/>
              </a:lnSpc>
            </a:pPr>
            <a:r>
              <a:rPr lang="es-MX" sz="2000" dirty="0">
                <a:cs typeface="Times New Roman" charset="0"/>
              </a:rPr>
              <a:t>El operador coma (</a:t>
            </a:r>
            <a:r>
              <a:rPr lang="es-MX" sz="2000" dirty="0">
                <a:latin typeface="Arial Black" pitchFamily="34" charset="0"/>
                <a:cs typeface="Times New Roman" charset="0"/>
              </a:rPr>
              <a:t>,</a:t>
            </a:r>
            <a:r>
              <a:rPr lang="es-MX" sz="2000" dirty="0">
                <a:cs typeface="Times New Roman" charset="0"/>
              </a:rPr>
              <a:t>) es específico de C y C++. Este operador permite la evaluación de expresiones múltiples es una instrucción o sentencia. El operador agrupa parejas de sub expresiones:</a:t>
            </a:r>
            <a:endParaRPr lang="es-MX" sz="2000" dirty="0">
              <a:ea typeface="Arial Unicode MS" pitchFamily="34" charset="-128"/>
              <a:cs typeface="Arial Unicode MS" pitchFamily="34" charset="-128"/>
            </a:endParaRPr>
          </a:p>
          <a:p>
            <a:pPr algn="just" eaLnBrk="0" hangingPunct="0">
              <a:lnSpc>
                <a:spcPct val="130000"/>
              </a:lnSpc>
            </a:pPr>
            <a:r>
              <a:rPr lang="es-MX" sz="2000" i="1" dirty="0">
                <a:cs typeface="Times New Roman" charset="0"/>
              </a:rPr>
              <a:t>		</a:t>
            </a:r>
          </a:p>
          <a:p>
            <a:pPr algn="just" eaLnBrk="0" hangingPunct="0">
              <a:lnSpc>
                <a:spcPct val="130000"/>
              </a:lnSpc>
            </a:pPr>
            <a:r>
              <a:rPr lang="es-MX" sz="2000" i="1" dirty="0">
                <a:cs typeface="Times New Roman" charset="0"/>
              </a:rPr>
              <a:t>                                 expresión1, expresión2, expresión3, . . ., </a:t>
            </a:r>
            <a:r>
              <a:rPr lang="es-MX" sz="2000" i="1" dirty="0" err="1">
                <a:cs typeface="Times New Roman" charset="0"/>
              </a:rPr>
              <a:t>expresiónN</a:t>
            </a:r>
            <a:endParaRPr lang="es-MX" sz="2000" dirty="0">
              <a:ea typeface="Arial Unicode MS" pitchFamily="34" charset="-128"/>
              <a:cs typeface="Arial Unicode MS" pitchFamily="34" charset="-128"/>
            </a:endParaRPr>
          </a:p>
          <a:p>
            <a:pPr algn="just" eaLnBrk="0" hangingPunct="0">
              <a:lnSpc>
                <a:spcPct val="130000"/>
              </a:lnSpc>
            </a:pPr>
            <a:r>
              <a:rPr lang="es-MX" sz="2000" i="1" dirty="0">
                <a:cs typeface="Times New Roman" charset="0"/>
              </a:rPr>
              <a:t> </a:t>
            </a:r>
            <a:endParaRPr lang="es-MX" sz="2000" dirty="0">
              <a:ea typeface="Arial Unicode MS" pitchFamily="34" charset="-128"/>
              <a:cs typeface="Arial Unicode MS" pitchFamily="34" charset="-128"/>
            </a:endParaRPr>
          </a:p>
          <a:p>
            <a:pPr algn="just" eaLnBrk="0" hangingPunct="0">
              <a:lnSpc>
                <a:spcPct val="130000"/>
              </a:lnSpc>
            </a:pPr>
            <a:r>
              <a:rPr lang="es-MX" sz="2000" dirty="0">
                <a:cs typeface="Times New Roman" charset="0"/>
              </a:rPr>
              <a:t>Ejemplo: </a:t>
            </a:r>
            <a:r>
              <a:rPr lang="es-MX" sz="2000" b="1" dirty="0" err="1">
                <a:latin typeface="Courier New" pitchFamily="49" charset="0"/>
                <a:cs typeface="Times New Roman" charset="0"/>
              </a:rPr>
              <a:t>int</a:t>
            </a:r>
            <a:r>
              <a:rPr lang="es-MX" sz="2000" dirty="0">
                <a:latin typeface="Courier New" pitchFamily="49" charset="0"/>
                <a:cs typeface="Times New Roman" charset="0"/>
              </a:rPr>
              <a:t> suma=0, j=1;</a:t>
            </a:r>
          </a:p>
          <a:p>
            <a:pPr algn="just" eaLnBrk="0" hangingPunct="0">
              <a:lnSpc>
                <a:spcPct val="130000"/>
              </a:lnSpc>
            </a:pPr>
            <a:endParaRPr lang="es-MX" sz="2000" dirty="0">
              <a:latin typeface="Courier New" pitchFamily="49" charset="0"/>
              <a:ea typeface="Arial Unicode MS" pitchFamily="34" charset="-128"/>
              <a:cs typeface="Arial Unicode MS" pitchFamily="34" charset="-128"/>
            </a:endParaRPr>
          </a:p>
          <a:p>
            <a:pPr algn="ctr" eaLnBrk="0" hangingPunct="0">
              <a:lnSpc>
                <a:spcPct val="130000"/>
              </a:lnSpc>
            </a:pPr>
            <a:r>
              <a:rPr lang="es-MX" sz="2000" dirty="0">
                <a:solidFill>
                  <a:srgbClr val="002060"/>
                </a:solidFill>
                <a:cs typeface="Times New Roman" charset="0"/>
              </a:rPr>
              <a:t>En el ejemplo anterior j es declarada como </a:t>
            </a:r>
            <a:r>
              <a:rPr lang="es-MX" sz="2000" dirty="0" err="1">
                <a:solidFill>
                  <a:srgbClr val="002060"/>
                </a:solidFill>
                <a:cs typeface="Times New Roman" charset="0"/>
              </a:rPr>
              <a:t>int</a:t>
            </a:r>
            <a:r>
              <a:rPr lang="es-MX" sz="2000" dirty="0">
                <a:solidFill>
                  <a:srgbClr val="002060"/>
                </a:solidFill>
                <a:cs typeface="Times New Roman" charset="0"/>
              </a:rPr>
              <a:t> y toma el valor 1.</a:t>
            </a:r>
            <a:endParaRPr lang="es-MX" sz="2000" dirty="0">
              <a:solidFill>
                <a:srgbClr val="002060"/>
              </a:solidFill>
            </a:endParaRPr>
          </a:p>
        </p:txBody>
      </p:sp>
    </p:spTree>
    <p:extLst>
      <p:ext uri="{BB962C8B-B14F-4D97-AF65-F5344CB8AC3E}">
        <p14:creationId xmlns:p14="http://schemas.microsoft.com/office/powerpoint/2010/main" val="198101132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8D35973E-5206-4FD0-AD63-1AE2BE847ED3}"/>
              </a:ext>
            </a:extLst>
          </p:cNvPr>
          <p:cNvSpPr>
            <a:spLocks noChangeArrowheads="1"/>
          </p:cNvSpPr>
          <p:nvPr/>
        </p:nvSpPr>
        <p:spPr bwMode="auto">
          <a:xfrm>
            <a:off x="381000" y="424838"/>
            <a:ext cx="6777445" cy="492443"/>
          </a:xfrm>
          <a:prstGeom prst="rect">
            <a:avLst/>
          </a:prstGeom>
          <a:noFill/>
          <a:ln w="9525">
            <a:noFill/>
            <a:miter lim="800000"/>
            <a:headEnd/>
            <a:tailEnd/>
          </a:ln>
          <a:effectLst/>
        </p:spPr>
        <p:txBody>
          <a:bodyPr wrap="squar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ES" sz="2600" b="1" i="0" u="none" strike="noStrike" kern="1200" cap="none" spc="0" normalizeH="0" baseline="0" noProof="0" dirty="0">
                <a:ln>
                  <a:noFill/>
                </a:ln>
                <a:solidFill>
                  <a:srgbClr val="0099A8"/>
                </a:solidFill>
                <a:effectLst/>
                <a:uLnTx/>
                <a:uFillTx/>
                <a:latin typeface="Arial" charset="0"/>
                <a:ea typeface="+mn-ea"/>
                <a:cs typeface="+mn-cs"/>
              </a:rPr>
              <a:t>Elementos de un programa en C/C++</a:t>
            </a:r>
          </a:p>
        </p:txBody>
      </p:sp>
      <p:sp>
        <p:nvSpPr>
          <p:cNvPr id="8" name="Line 10">
            <a:extLst>
              <a:ext uri="{FF2B5EF4-FFF2-40B4-BE49-F238E27FC236}">
                <a16:creationId xmlns:a16="http://schemas.microsoft.com/office/drawing/2014/main" id="{70D05293-6B65-4C47-858A-7702709DDC33}"/>
              </a:ext>
            </a:extLst>
          </p:cNvPr>
          <p:cNvSpPr>
            <a:spLocks noChangeShapeType="1"/>
          </p:cNvSpPr>
          <p:nvPr/>
        </p:nvSpPr>
        <p:spPr bwMode="auto">
          <a:xfrm>
            <a:off x="650845" y="1645246"/>
            <a:ext cx="8382000" cy="0"/>
          </a:xfrm>
          <a:prstGeom prst="line">
            <a:avLst/>
          </a:prstGeom>
          <a:noFill/>
          <a:ln w="38100">
            <a:solidFill>
              <a:schemeClr val="tx1"/>
            </a:solidFill>
            <a:round/>
            <a:headEnd/>
            <a:tailEnd/>
          </a:ln>
          <a:effectLst/>
        </p:spPr>
        <p:txBody>
          <a:bodyPr/>
          <a:lstStyle/>
          <a:p>
            <a:endParaRPr lang="es-ES"/>
          </a:p>
        </p:txBody>
      </p:sp>
      <p:sp>
        <p:nvSpPr>
          <p:cNvPr id="6" name="Rectangle 3">
            <a:extLst>
              <a:ext uri="{FF2B5EF4-FFF2-40B4-BE49-F238E27FC236}">
                <a16:creationId xmlns:a16="http://schemas.microsoft.com/office/drawing/2014/main" id="{426F5A46-6B3A-4EE7-8E2F-415A3F6D6C2D}"/>
              </a:ext>
            </a:extLst>
          </p:cNvPr>
          <p:cNvSpPr>
            <a:spLocks noChangeArrowheads="1"/>
          </p:cNvSpPr>
          <p:nvPr/>
        </p:nvSpPr>
        <p:spPr bwMode="auto">
          <a:xfrm>
            <a:off x="-211790" y="1102158"/>
            <a:ext cx="4621491" cy="446276"/>
          </a:xfrm>
          <a:prstGeom prst="rect">
            <a:avLst/>
          </a:prstGeom>
          <a:noFill/>
          <a:ln w="9525">
            <a:noFill/>
            <a:miter lim="800000"/>
            <a:headEnd/>
            <a:tailEnd/>
          </a:ln>
          <a:effectLst/>
        </p:spPr>
        <p:txBody>
          <a:bodyPr wrap="square" lIns="228528" bIns="0" anchor="ctr">
            <a:spAutoFit/>
          </a:bodyPr>
          <a:lstStyle/>
          <a:p>
            <a:pPr marL="342900" indent="-342900" algn="ctr">
              <a:lnSpc>
                <a:spcPct val="130000"/>
              </a:lnSpc>
              <a:buFontTx/>
              <a:buAutoNum type="arabicPeriod" startAt="13"/>
              <a:tabLst>
                <a:tab pos="431800" algn="l"/>
              </a:tabLst>
            </a:pPr>
            <a:r>
              <a:rPr lang="es-MX" sz="2000" b="1" dirty="0"/>
              <a:t> Operador Condicional</a:t>
            </a:r>
          </a:p>
        </p:txBody>
      </p:sp>
      <p:sp>
        <p:nvSpPr>
          <p:cNvPr id="7" name="Rectangle 6">
            <a:extLst>
              <a:ext uri="{FF2B5EF4-FFF2-40B4-BE49-F238E27FC236}">
                <a16:creationId xmlns:a16="http://schemas.microsoft.com/office/drawing/2014/main" id="{474636F9-08C2-4031-85C0-A55781FD7989}"/>
              </a:ext>
            </a:extLst>
          </p:cNvPr>
          <p:cNvSpPr>
            <a:spLocks noChangeArrowheads="1"/>
          </p:cNvSpPr>
          <p:nvPr/>
        </p:nvSpPr>
        <p:spPr bwMode="auto">
          <a:xfrm>
            <a:off x="650845" y="2035935"/>
            <a:ext cx="10318922" cy="4093428"/>
          </a:xfrm>
          <a:prstGeom prst="rect">
            <a:avLst/>
          </a:prstGeom>
          <a:noFill/>
          <a:ln w="9525">
            <a:noFill/>
            <a:miter lim="800000"/>
            <a:headEnd/>
            <a:tailEnd/>
          </a:ln>
          <a:effectLst/>
        </p:spPr>
        <p:txBody>
          <a:bodyPr wrap="square">
            <a:spAutoFit/>
          </a:bodyPr>
          <a:lstStyle/>
          <a:p>
            <a:pPr algn="just">
              <a:lnSpc>
                <a:spcPct val="130000"/>
              </a:lnSpc>
            </a:pPr>
            <a:r>
              <a:rPr lang="es-MX" sz="2000" dirty="0">
                <a:cs typeface="Times New Roman" charset="0"/>
              </a:rPr>
              <a:t>El operador </a:t>
            </a:r>
            <a:r>
              <a:rPr lang="es-MX" sz="2000" dirty="0">
                <a:latin typeface="Arial Black" pitchFamily="34" charset="0"/>
                <a:cs typeface="Times New Roman" charset="0"/>
              </a:rPr>
              <a:t>?:</a:t>
            </a:r>
            <a:r>
              <a:rPr lang="es-MX" sz="2000" dirty="0">
                <a:cs typeface="Times New Roman" charset="0"/>
              </a:rPr>
              <a:t> es un operador ternario. </a:t>
            </a:r>
          </a:p>
          <a:p>
            <a:pPr algn="just">
              <a:lnSpc>
                <a:spcPct val="130000"/>
              </a:lnSpc>
            </a:pPr>
            <a:r>
              <a:rPr lang="es-MX" sz="2000" dirty="0">
                <a:cs typeface="Times New Roman" charset="0"/>
              </a:rPr>
              <a:t>Su formato es: </a:t>
            </a:r>
            <a:r>
              <a:rPr lang="es-MX" sz="2000" i="1" dirty="0">
                <a:cs typeface="Times New Roman" charset="0"/>
              </a:rPr>
              <a:t>expresión1 </a:t>
            </a:r>
            <a:r>
              <a:rPr lang="es-MX" sz="2000" b="1" dirty="0">
                <a:cs typeface="Times New Roman" charset="0"/>
              </a:rPr>
              <a:t>?</a:t>
            </a:r>
            <a:r>
              <a:rPr lang="es-MX" sz="2000" dirty="0">
                <a:cs typeface="Times New Roman" charset="0"/>
              </a:rPr>
              <a:t> </a:t>
            </a:r>
            <a:r>
              <a:rPr lang="es-MX" sz="2000" i="1" dirty="0">
                <a:cs typeface="Times New Roman" charset="0"/>
              </a:rPr>
              <a:t>expresión2</a:t>
            </a:r>
            <a:r>
              <a:rPr lang="es-MX" sz="2000" b="1" i="1" dirty="0">
                <a:cs typeface="Times New Roman" charset="0"/>
              </a:rPr>
              <a:t> </a:t>
            </a:r>
            <a:r>
              <a:rPr lang="es-MX" sz="2000" b="1" dirty="0">
                <a:cs typeface="Times New Roman" charset="0"/>
              </a:rPr>
              <a:t>: </a:t>
            </a:r>
            <a:r>
              <a:rPr lang="es-MX" sz="2000" i="1" dirty="0">
                <a:cs typeface="Times New Roman" charset="0"/>
              </a:rPr>
              <a:t>expresión3</a:t>
            </a:r>
            <a:endParaRPr lang="es-MX" sz="2000" dirty="0">
              <a:cs typeface="Times New Roman" charset="0"/>
            </a:endParaRPr>
          </a:p>
          <a:p>
            <a:pPr algn="just" eaLnBrk="0" hangingPunct="0">
              <a:lnSpc>
                <a:spcPct val="130000"/>
              </a:lnSpc>
            </a:pPr>
            <a:r>
              <a:rPr lang="es-MX" sz="2000" dirty="0">
                <a:cs typeface="Times New Roman" charset="0"/>
              </a:rPr>
              <a:t> </a:t>
            </a:r>
          </a:p>
          <a:p>
            <a:pPr algn="just" eaLnBrk="0" hangingPunct="0">
              <a:lnSpc>
                <a:spcPct val="130000"/>
              </a:lnSpc>
            </a:pPr>
            <a:r>
              <a:rPr lang="es-MX" sz="2000" dirty="0">
                <a:cs typeface="Times New Roman" charset="0"/>
              </a:rPr>
              <a:t>Si </a:t>
            </a:r>
            <a:r>
              <a:rPr lang="es-MX" sz="2000" i="1" dirty="0">
                <a:cs typeface="Times New Roman" charset="0"/>
              </a:rPr>
              <a:t>expresión1</a:t>
            </a:r>
            <a:r>
              <a:rPr lang="es-MX" sz="2000" dirty="0">
                <a:cs typeface="Times New Roman" charset="0"/>
              </a:rPr>
              <a:t> se evalúa verdadero, </a:t>
            </a:r>
            <a:r>
              <a:rPr lang="es-MX" sz="2000" i="1" dirty="0">
                <a:cs typeface="Times New Roman" charset="0"/>
              </a:rPr>
              <a:t>expresión2</a:t>
            </a:r>
            <a:r>
              <a:rPr lang="es-MX" sz="2000" dirty="0">
                <a:cs typeface="Times New Roman" charset="0"/>
              </a:rPr>
              <a:t> se evalúa; en caso contrario, se evalúa </a:t>
            </a:r>
            <a:r>
              <a:rPr lang="es-MX" sz="2000" i="1" dirty="0">
                <a:cs typeface="Times New Roman" charset="0"/>
              </a:rPr>
              <a:t>expresión3</a:t>
            </a:r>
            <a:r>
              <a:rPr lang="es-MX" sz="2000" dirty="0">
                <a:cs typeface="Times New Roman" charset="0"/>
              </a:rPr>
              <a:t>.</a:t>
            </a:r>
          </a:p>
          <a:p>
            <a:pPr algn="just" eaLnBrk="0" hangingPunct="0">
              <a:lnSpc>
                <a:spcPct val="130000"/>
              </a:lnSpc>
            </a:pPr>
            <a:endParaRPr lang="es-MX" sz="2000" dirty="0">
              <a:cs typeface="Times New Roman" charset="0"/>
            </a:endParaRPr>
          </a:p>
          <a:p>
            <a:pPr algn="just" eaLnBrk="0" hangingPunct="0">
              <a:lnSpc>
                <a:spcPct val="130000"/>
              </a:lnSpc>
            </a:pPr>
            <a:r>
              <a:rPr lang="es-MX" sz="2000" dirty="0">
                <a:cs typeface="Times New Roman" charset="0"/>
              </a:rPr>
              <a:t>Ejemplo:	</a:t>
            </a:r>
            <a:r>
              <a:rPr lang="es-MX" sz="2000" b="1" dirty="0" err="1">
                <a:latin typeface="Courier New" pitchFamily="49" charset="0"/>
                <a:cs typeface="Times New Roman" charset="0"/>
              </a:rPr>
              <a:t>int</a:t>
            </a:r>
            <a:r>
              <a:rPr lang="es-MX" sz="2000" dirty="0">
                <a:latin typeface="Courier New" pitchFamily="49" charset="0"/>
                <a:cs typeface="Times New Roman" charset="0"/>
              </a:rPr>
              <a:t> a=3, b=5, c;</a:t>
            </a:r>
          </a:p>
          <a:p>
            <a:pPr algn="just" eaLnBrk="0" hangingPunct="0">
              <a:lnSpc>
                <a:spcPct val="130000"/>
              </a:lnSpc>
            </a:pPr>
            <a:r>
              <a:rPr lang="es-MX" sz="2000" dirty="0">
                <a:latin typeface="Courier New" pitchFamily="49" charset="0"/>
                <a:cs typeface="Times New Roman" charset="0"/>
              </a:rPr>
              <a:t>		c=(a&gt;b)?</a:t>
            </a:r>
            <a:r>
              <a:rPr lang="es-MX" sz="2000" dirty="0" err="1">
                <a:latin typeface="Courier New" pitchFamily="49" charset="0"/>
                <a:cs typeface="Times New Roman" charset="0"/>
              </a:rPr>
              <a:t>a:b</a:t>
            </a:r>
            <a:r>
              <a:rPr lang="es-MX" sz="2000" dirty="0">
                <a:latin typeface="Courier New" pitchFamily="49" charset="0"/>
                <a:cs typeface="Times New Roman" charset="0"/>
              </a:rPr>
              <a:t>;</a:t>
            </a:r>
          </a:p>
          <a:p>
            <a:pPr algn="just" eaLnBrk="0" hangingPunct="0">
              <a:lnSpc>
                <a:spcPct val="130000"/>
              </a:lnSpc>
            </a:pPr>
            <a:endParaRPr lang="es-MX" sz="2000" dirty="0">
              <a:cs typeface="Times New Roman" charset="0"/>
            </a:endParaRPr>
          </a:p>
          <a:p>
            <a:pPr algn="ctr" eaLnBrk="0" hangingPunct="0">
              <a:lnSpc>
                <a:spcPct val="130000"/>
              </a:lnSpc>
            </a:pPr>
            <a:r>
              <a:rPr lang="es-MX" sz="2000" dirty="0">
                <a:solidFill>
                  <a:srgbClr val="002060"/>
                </a:solidFill>
                <a:cs typeface="Times New Roman" charset="0"/>
              </a:rPr>
              <a:t> c toma el valor de b porque la expresión (a&gt;b) resultó ser falsa.</a:t>
            </a:r>
            <a:endParaRPr lang="es-MX" sz="2000" dirty="0">
              <a:solidFill>
                <a:srgbClr val="002060"/>
              </a:solidFill>
            </a:endParaRPr>
          </a:p>
        </p:txBody>
      </p:sp>
    </p:spTree>
    <p:extLst>
      <p:ext uri="{BB962C8B-B14F-4D97-AF65-F5344CB8AC3E}">
        <p14:creationId xmlns:p14="http://schemas.microsoft.com/office/powerpoint/2010/main" val="235142847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8D35973E-5206-4FD0-AD63-1AE2BE847ED3}"/>
              </a:ext>
            </a:extLst>
          </p:cNvPr>
          <p:cNvSpPr>
            <a:spLocks noChangeArrowheads="1"/>
          </p:cNvSpPr>
          <p:nvPr/>
        </p:nvSpPr>
        <p:spPr bwMode="auto">
          <a:xfrm>
            <a:off x="381000" y="424838"/>
            <a:ext cx="6777445" cy="492443"/>
          </a:xfrm>
          <a:prstGeom prst="rect">
            <a:avLst/>
          </a:prstGeom>
          <a:noFill/>
          <a:ln w="9525">
            <a:noFill/>
            <a:miter lim="800000"/>
            <a:headEnd/>
            <a:tailEnd/>
          </a:ln>
          <a:effectLst/>
        </p:spPr>
        <p:txBody>
          <a:bodyPr wrap="squar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ES" sz="2600" b="1" i="0" u="none" strike="noStrike" kern="1200" cap="none" spc="0" normalizeH="0" baseline="0" noProof="0" dirty="0">
                <a:ln>
                  <a:noFill/>
                </a:ln>
                <a:solidFill>
                  <a:srgbClr val="0099A8"/>
                </a:solidFill>
                <a:effectLst/>
                <a:uLnTx/>
                <a:uFillTx/>
                <a:latin typeface="Arial" charset="0"/>
                <a:ea typeface="+mn-ea"/>
                <a:cs typeface="+mn-cs"/>
              </a:rPr>
              <a:t>Elementos de un programa en C/C++</a:t>
            </a:r>
          </a:p>
        </p:txBody>
      </p:sp>
      <p:sp>
        <p:nvSpPr>
          <p:cNvPr id="8" name="Line 10">
            <a:extLst>
              <a:ext uri="{FF2B5EF4-FFF2-40B4-BE49-F238E27FC236}">
                <a16:creationId xmlns:a16="http://schemas.microsoft.com/office/drawing/2014/main" id="{70D05293-6B65-4C47-858A-7702709DDC33}"/>
              </a:ext>
            </a:extLst>
          </p:cNvPr>
          <p:cNvSpPr>
            <a:spLocks noChangeShapeType="1"/>
          </p:cNvSpPr>
          <p:nvPr/>
        </p:nvSpPr>
        <p:spPr bwMode="auto">
          <a:xfrm>
            <a:off x="650845" y="1645246"/>
            <a:ext cx="8382000" cy="0"/>
          </a:xfrm>
          <a:prstGeom prst="line">
            <a:avLst/>
          </a:prstGeom>
          <a:noFill/>
          <a:ln w="38100">
            <a:solidFill>
              <a:schemeClr val="tx1"/>
            </a:solidFill>
            <a:round/>
            <a:headEnd/>
            <a:tailEnd/>
          </a:ln>
          <a:effectLst/>
        </p:spPr>
        <p:txBody>
          <a:bodyPr/>
          <a:lstStyle/>
          <a:p>
            <a:endParaRPr lang="es-ES"/>
          </a:p>
        </p:txBody>
      </p:sp>
      <p:sp>
        <p:nvSpPr>
          <p:cNvPr id="9" name="Rectangle 3">
            <a:extLst>
              <a:ext uri="{FF2B5EF4-FFF2-40B4-BE49-F238E27FC236}">
                <a16:creationId xmlns:a16="http://schemas.microsoft.com/office/drawing/2014/main" id="{5ABB44D1-1F28-48B8-BCFD-043EFB48D643}"/>
              </a:ext>
            </a:extLst>
          </p:cNvPr>
          <p:cNvSpPr>
            <a:spLocks noChangeArrowheads="1"/>
          </p:cNvSpPr>
          <p:nvPr/>
        </p:nvSpPr>
        <p:spPr bwMode="auto">
          <a:xfrm>
            <a:off x="-911503" y="1058125"/>
            <a:ext cx="5450983" cy="446276"/>
          </a:xfrm>
          <a:prstGeom prst="rect">
            <a:avLst/>
          </a:prstGeom>
          <a:noFill/>
          <a:ln w="9525">
            <a:noFill/>
            <a:miter lim="800000"/>
            <a:headEnd/>
            <a:tailEnd/>
          </a:ln>
          <a:effectLst/>
        </p:spPr>
        <p:txBody>
          <a:bodyPr wrap="square" lIns="228528" bIns="0" anchor="ctr">
            <a:spAutoFit/>
          </a:bodyPr>
          <a:lstStyle/>
          <a:p>
            <a:pPr marL="342900" indent="-342900" algn="ctr">
              <a:lnSpc>
                <a:spcPct val="130000"/>
              </a:lnSpc>
              <a:buFontTx/>
              <a:buAutoNum type="arabicPeriod" startAt="14"/>
              <a:tabLst>
                <a:tab pos="431800" algn="l"/>
              </a:tabLst>
            </a:pPr>
            <a:r>
              <a:rPr lang="es-MX" sz="2000" b="1" dirty="0"/>
              <a:t> Operador </a:t>
            </a:r>
            <a:r>
              <a:rPr lang="es-MX" sz="2000" b="1" dirty="0" err="1"/>
              <a:t>Sizeof</a:t>
            </a:r>
            <a:endParaRPr lang="es-MX" sz="2000" b="1" dirty="0"/>
          </a:p>
        </p:txBody>
      </p:sp>
      <p:sp>
        <p:nvSpPr>
          <p:cNvPr id="10" name="Rectangle 6">
            <a:extLst>
              <a:ext uri="{FF2B5EF4-FFF2-40B4-BE49-F238E27FC236}">
                <a16:creationId xmlns:a16="http://schemas.microsoft.com/office/drawing/2014/main" id="{AF98435B-03AB-4ABD-B51E-A61D9E83F551}"/>
              </a:ext>
            </a:extLst>
          </p:cNvPr>
          <p:cNvSpPr>
            <a:spLocks noChangeArrowheads="1"/>
          </p:cNvSpPr>
          <p:nvPr/>
        </p:nvSpPr>
        <p:spPr bwMode="auto">
          <a:xfrm>
            <a:off x="650845" y="1980211"/>
            <a:ext cx="10908405" cy="3293209"/>
          </a:xfrm>
          <a:prstGeom prst="rect">
            <a:avLst/>
          </a:prstGeom>
          <a:noFill/>
          <a:ln w="9525">
            <a:noFill/>
            <a:miter lim="800000"/>
            <a:headEnd/>
            <a:tailEnd/>
          </a:ln>
          <a:effectLst/>
        </p:spPr>
        <p:txBody>
          <a:bodyPr wrap="square">
            <a:spAutoFit/>
          </a:bodyPr>
          <a:lstStyle/>
          <a:p>
            <a:pPr algn="just">
              <a:lnSpc>
                <a:spcPct val="130000"/>
              </a:lnSpc>
            </a:pPr>
            <a:r>
              <a:rPr lang="es-MX" sz="2000" dirty="0">
                <a:cs typeface="Times New Roman" charset="0"/>
              </a:rPr>
              <a:t>El operador </a:t>
            </a:r>
            <a:r>
              <a:rPr lang="es-MX" sz="2000" dirty="0" err="1">
                <a:latin typeface="Arial Black" pitchFamily="34" charset="0"/>
                <a:cs typeface="Times New Roman" charset="0"/>
              </a:rPr>
              <a:t>sizeof</a:t>
            </a:r>
            <a:r>
              <a:rPr lang="es-MX" sz="2000" dirty="0">
                <a:cs typeface="Times New Roman" charset="0"/>
              </a:rPr>
              <a:t> devuelve el número de bytes de su operando. Los formatos son:</a:t>
            </a:r>
          </a:p>
          <a:p>
            <a:pPr lvl="4" algn="just">
              <a:lnSpc>
                <a:spcPct val="130000"/>
              </a:lnSpc>
              <a:buFontTx/>
              <a:buBlip>
                <a:blip r:embed="rId2"/>
              </a:buBlip>
            </a:pPr>
            <a:r>
              <a:rPr lang="es-MX" sz="2000" dirty="0">
                <a:cs typeface="Times New Roman" charset="0"/>
              </a:rPr>
              <a:t>  </a:t>
            </a:r>
            <a:r>
              <a:rPr lang="es-MX" sz="2000" b="1" dirty="0" err="1">
                <a:cs typeface="Times New Roman" charset="0"/>
              </a:rPr>
              <a:t>sizeof</a:t>
            </a:r>
            <a:r>
              <a:rPr lang="es-MX" sz="2000" b="1" dirty="0">
                <a:cs typeface="Times New Roman" charset="0"/>
              </a:rPr>
              <a:t> </a:t>
            </a:r>
            <a:r>
              <a:rPr lang="es-MX" sz="2000" dirty="0">
                <a:cs typeface="Times New Roman" charset="0"/>
              </a:rPr>
              <a:t>(tipo)</a:t>
            </a:r>
          </a:p>
          <a:p>
            <a:pPr lvl="4" algn="just" eaLnBrk="0" hangingPunct="0">
              <a:lnSpc>
                <a:spcPct val="130000"/>
              </a:lnSpc>
              <a:buFontTx/>
              <a:buBlip>
                <a:blip r:embed="rId2"/>
              </a:buBlip>
            </a:pPr>
            <a:r>
              <a:rPr lang="es-MX" sz="2000" dirty="0">
                <a:cs typeface="Times New Roman" charset="0"/>
              </a:rPr>
              <a:t>  </a:t>
            </a:r>
            <a:r>
              <a:rPr lang="es-MX" sz="2000" b="1" dirty="0" err="1">
                <a:cs typeface="Times New Roman" charset="0"/>
              </a:rPr>
              <a:t>sizeof</a:t>
            </a:r>
            <a:r>
              <a:rPr lang="es-MX" sz="2000" dirty="0">
                <a:cs typeface="Times New Roman" charset="0"/>
              </a:rPr>
              <a:t> (expresión)</a:t>
            </a:r>
          </a:p>
          <a:p>
            <a:pPr algn="just" eaLnBrk="0" hangingPunct="0">
              <a:lnSpc>
                <a:spcPct val="130000"/>
              </a:lnSpc>
            </a:pPr>
            <a:r>
              <a:rPr lang="es-MX" sz="2000" dirty="0">
                <a:cs typeface="Times New Roman" charset="0"/>
              </a:rPr>
              <a:t> </a:t>
            </a:r>
          </a:p>
          <a:p>
            <a:pPr algn="just" eaLnBrk="0" hangingPunct="0">
              <a:lnSpc>
                <a:spcPct val="130000"/>
              </a:lnSpc>
            </a:pPr>
            <a:r>
              <a:rPr lang="es-MX" sz="2000" dirty="0">
                <a:cs typeface="Times New Roman" charset="0"/>
              </a:rPr>
              <a:t>Tipo es un tipo definido por el usuario o predefinido por el lenguaje, y ambos formatos se evalúan en tiempo de compilación. En el segundo formato, el compilador no evalúa la expresión; en su lugar, se determina el número de bytes del tipo de resultado de la expresión.</a:t>
            </a:r>
            <a:endParaRPr lang="es-MX" sz="2000" dirty="0"/>
          </a:p>
        </p:txBody>
      </p:sp>
    </p:spTree>
    <p:extLst>
      <p:ext uri="{BB962C8B-B14F-4D97-AF65-F5344CB8AC3E}">
        <p14:creationId xmlns:p14="http://schemas.microsoft.com/office/powerpoint/2010/main" val="143100618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8D35973E-5206-4FD0-AD63-1AE2BE847ED3}"/>
              </a:ext>
            </a:extLst>
          </p:cNvPr>
          <p:cNvSpPr>
            <a:spLocks noChangeArrowheads="1"/>
          </p:cNvSpPr>
          <p:nvPr/>
        </p:nvSpPr>
        <p:spPr bwMode="auto">
          <a:xfrm>
            <a:off x="381000" y="424838"/>
            <a:ext cx="6777445" cy="492443"/>
          </a:xfrm>
          <a:prstGeom prst="rect">
            <a:avLst/>
          </a:prstGeom>
          <a:noFill/>
          <a:ln w="9525">
            <a:noFill/>
            <a:miter lim="800000"/>
            <a:headEnd/>
            <a:tailEnd/>
          </a:ln>
          <a:effectLst/>
        </p:spPr>
        <p:txBody>
          <a:bodyPr wrap="squar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ES" sz="2600" b="1" i="0" u="none" strike="noStrike" kern="1200" cap="none" spc="0" normalizeH="0" baseline="0" noProof="0" dirty="0">
                <a:ln>
                  <a:noFill/>
                </a:ln>
                <a:solidFill>
                  <a:srgbClr val="0099A8"/>
                </a:solidFill>
                <a:effectLst/>
                <a:uLnTx/>
                <a:uFillTx/>
                <a:latin typeface="Arial" charset="0"/>
                <a:ea typeface="+mn-ea"/>
                <a:cs typeface="+mn-cs"/>
              </a:rPr>
              <a:t>Elementos de un programa en C/C++</a:t>
            </a:r>
          </a:p>
        </p:txBody>
      </p:sp>
      <p:sp>
        <p:nvSpPr>
          <p:cNvPr id="8" name="Line 10">
            <a:extLst>
              <a:ext uri="{FF2B5EF4-FFF2-40B4-BE49-F238E27FC236}">
                <a16:creationId xmlns:a16="http://schemas.microsoft.com/office/drawing/2014/main" id="{70D05293-6B65-4C47-858A-7702709DDC33}"/>
              </a:ext>
            </a:extLst>
          </p:cNvPr>
          <p:cNvSpPr>
            <a:spLocks noChangeShapeType="1"/>
          </p:cNvSpPr>
          <p:nvPr/>
        </p:nvSpPr>
        <p:spPr bwMode="auto">
          <a:xfrm>
            <a:off x="650845" y="1645246"/>
            <a:ext cx="8382000" cy="0"/>
          </a:xfrm>
          <a:prstGeom prst="line">
            <a:avLst/>
          </a:prstGeom>
          <a:noFill/>
          <a:ln w="38100">
            <a:solidFill>
              <a:schemeClr val="tx1"/>
            </a:solidFill>
            <a:round/>
            <a:headEnd/>
            <a:tailEnd/>
          </a:ln>
          <a:effectLst/>
        </p:spPr>
        <p:txBody>
          <a:bodyPr/>
          <a:lstStyle/>
          <a:p>
            <a:endParaRPr lang="es-ES"/>
          </a:p>
        </p:txBody>
      </p:sp>
      <p:sp>
        <p:nvSpPr>
          <p:cNvPr id="9" name="Rectangle 3">
            <a:extLst>
              <a:ext uri="{FF2B5EF4-FFF2-40B4-BE49-F238E27FC236}">
                <a16:creationId xmlns:a16="http://schemas.microsoft.com/office/drawing/2014/main" id="{5ABB44D1-1F28-48B8-BCFD-043EFB48D643}"/>
              </a:ext>
            </a:extLst>
          </p:cNvPr>
          <p:cNvSpPr>
            <a:spLocks noChangeArrowheads="1"/>
          </p:cNvSpPr>
          <p:nvPr/>
        </p:nvSpPr>
        <p:spPr bwMode="auto">
          <a:xfrm>
            <a:off x="-911503" y="1058125"/>
            <a:ext cx="5450983" cy="446276"/>
          </a:xfrm>
          <a:prstGeom prst="rect">
            <a:avLst/>
          </a:prstGeom>
          <a:noFill/>
          <a:ln w="9525">
            <a:noFill/>
            <a:miter lim="800000"/>
            <a:headEnd/>
            <a:tailEnd/>
          </a:ln>
          <a:effectLst/>
        </p:spPr>
        <p:txBody>
          <a:bodyPr wrap="square" lIns="228528" bIns="0" anchor="ctr">
            <a:spAutoFit/>
          </a:bodyPr>
          <a:lstStyle/>
          <a:p>
            <a:pPr marL="342900" indent="-342900" algn="ctr">
              <a:lnSpc>
                <a:spcPct val="130000"/>
              </a:lnSpc>
              <a:buFontTx/>
              <a:buAutoNum type="arabicPeriod" startAt="14"/>
              <a:tabLst>
                <a:tab pos="431800" algn="l"/>
              </a:tabLst>
            </a:pPr>
            <a:r>
              <a:rPr lang="es-MX" sz="2000" b="1" dirty="0"/>
              <a:t> Operador </a:t>
            </a:r>
            <a:r>
              <a:rPr lang="es-MX" sz="2000" b="1" dirty="0" err="1"/>
              <a:t>Sizeof</a:t>
            </a:r>
            <a:endParaRPr lang="es-MX" sz="2000" b="1" dirty="0"/>
          </a:p>
        </p:txBody>
      </p:sp>
      <p:sp>
        <p:nvSpPr>
          <p:cNvPr id="6" name="Rectangle 6">
            <a:extLst>
              <a:ext uri="{FF2B5EF4-FFF2-40B4-BE49-F238E27FC236}">
                <a16:creationId xmlns:a16="http://schemas.microsoft.com/office/drawing/2014/main" id="{6A9247BB-B702-4D80-95E2-E4EF9AC633AB}"/>
              </a:ext>
            </a:extLst>
          </p:cNvPr>
          <p:cNvSpPr>
            <a:spLocks noChangeArrowheads="1"/>
          </p:cNvSpPr>
          <p:nvPr/>
        </p:nvSpPr>
        <p:spPr bwMode="auto">
          <a:xfrm>
            <a:off x="650845" y="2050869"/>
            <a:ext cx="10411834" cy="4093428"/>
          </a:xfrm>
          <a:prstGeom prst="rect">
            <a:avLst/>
          </a:prstGeom>
          <a:noFill/>
          <a:ln w="9525">
            <a:noFill/>
            <a:miter lim="800000"/>
            <a:headEnd/>
            <a:tailEnd/>
          </a:ln>
          <a:effectLst/>
        </p:spPr>
        <p:txBody>
          <a:bodyPr wrap="square">
            <a:spAutoFit/>
          </a:bodyPr>
          <a:lstStyle/>
          <a:p>
            <a:pPr algn="just"/>
            <a:r>
              <a:rPr lang="es-MX" sz="2000" dirty="0">
                <a:cs typeface="Times New Roman" charset="0"/>
              </a:rPr>
              <a:t>Ejemplos:	</a:t>
            </a:r>
            <a:r>
              <a:rPr lang="es-MX" sz="2000" b="1" dirty="0" err="1">
                <a:latin typeface="Courier New" pitchFamily="49" charset="0"/>
                <a:cs typeface="Times New Roman" charset="0"/>
              </a:rPr>
              <a:t>char</a:t>
            </a:r>
            <a:r>
              <a:rPr lang="es-MX" sz="2000" dirty="0">
                <a:latin typeface="Courier New" pitchFamily="49" charset="0"/>
                <a:cs typeface="Times New Roman" charset="0"/>
              </a:rPr>
              <a:t> </a:t>
            </a:r>
            <a:r>
              <a:rPr lang="es-MX" sz="2000" dirty="0" err="1">
                <a:latin typeface="Courier New" pitchFamily="49" charset="0"/>
                <a:cs typeface="Times New Roman" charset="0"/>
              </a:rPr>
              <a:t>nombre_unidad</a:t>
            </a:r>
            <a:r>
              <a:rPr lang="es-MX" sz="2000" dirty="0">
                <a:latin typeface="Courier New" pitchFamily="49" charset="0"/>
                <a:cs typeface="Times New Roman" charset="0"/>
              </a:rPr>
              <a:t>;</a:t>
            </a:r>
            <a:endParaRPr lang="es-MX" sz="2000" dirty="0">
              <a:latin typeface="Courier New" pitchFamily="49" charset="0"/>
              <a:ea typeface="Arial Unicode MS" pitchFamily="34" charset="-128"/>
              <a:cs typeface="Arial Unicode MS" pitchFamily="34" charset="-128"/>
            </a:endParaRPr>
          </a:p>
          <a:p>
            <a:pPr algn="just" eaLnBrk="0" hangingPunct="0"/>
            <a:r>
              <a:rPr lang="en-US" sz="2000" dirty="0">
                <a:latin typeface="Courier New" pitchFamily="49" charset="0"/>
                <a:cs typeface="Times New Roman" charset="0"/>
              </a:rPr>
              <a:t>		</a:t>
            </a:r>
            <a:r>
              <a:rPr lang="en-US" sz="2000" b="1" dirty="0" err="1">
                <a:latin typeface="Courier New" pitchFamily="49" charset="0"/>
                <a:cs typeface="Times New Roman" charset="0"/>
              </a:rPr>
              <a:t>int</a:t>
            </a:r>
            <a:r>
              <a:rPr lang="en-US" sz="2000" dirty="0">
                <a:latin typeface="Courier New" pitchFamily="49" charset="0"/>
                <a:cs typeface="Times New Roman" charset="0"/>
              </a:rPr>
              <a:t> tam=</a:t>
            </a:r>
            <a:r>
              <a:rPr lang="en-US" sz="2000" b="1" dirty="0" err="1">
                <a:latin typeface="Courier New" pitchFamily="49" charset="0"/>
                <a:cs typeface="Times New Roman" charset="0"/>
              </a:rPr>
              <a:t>sizeof</a:t>
            </a:r>
            <a:r>
              <a:rPr lang="en-US" sz="2000" dirty="0">
                <a:latin typeface="Courier New" pitchFamily="49" charset="0"/>
                <a:cs typeface="Times New Roman" charset="0"/>
              </a:rPr>
              <a:t>(char)</a:t>
            </a:r>
            <a:endParaRPr lang="es-MX" sz="2000" dirty="0">
              <a:latin typeface="Courier New" pitchFamily="49" charset="0"/>
              <a:ea typeface="Arial Unicode MS" pitchFamily="34" charset="-128"/>
              <a:cs typeface="Arial Unicode MS" pitchFamily="34" charset="-128"/>
            </a:endParaRPr>
          </a:p>
          <a:p>
            <a:pPr algn="just" eaLnBrk="0" hangingPunct="0"/>
            <a:r>
              <a:rPr lang="es-MX" sz="2000" dirty="0">
                <a:latin typeface="Courier New" pitchFamily="49" charset="0"/>
                <a:cs typeface="Times New Roman" charset="0"/>
              </a:rPr>
              <a:t>		</a:t>
            </a:r>
            <a:r>
              <a:rPr lang="es-MX" sz="2000" b="1" dirty="0" err="1">
                <a:latin typeface="Courier New" pitchFamily="49" charset="0"/>
                <a:cs typeface="Times New Roman" charset="0"/>
              </a:rPr>
              <a:t>int</a:t>
            </a:r>
            <a:r>
              <a:rPr lang="es-MX" sz="2000" dirty="0">
                <a:latin typeface="Courier New" pitchFamily="49" charset="0"/>
                <a:cs typeface="Times New Roman" charset="0"/>
              </a:rPr>
              <a:t> tam2=</a:t>
            </a:r>
            <a:r>
              <a:rPr lang="es-MX" sz="2000" b="1" dirty="0" err="1">
                <a:latin typeface="Courier New" pitchFamily="49" charset="0"/>
                <a:cs typeface="Times New Roman" charset="0"/>
              </a:rPr>
              <a:t>sizeof</a:t>
            </a:r>
            <a:r>
              <a:rPr lang="es-MX" sz="2000" dirty="0">
                <a:latin typeface="Courier New" pitchFamily="49" charset="0"/>
                <a:cs typeface="Times New Roman" charset="0"/>
              </a:rPr>
              <a:t>(</a:t>
            </a:r>
            <a:r>
              <a:rPr lang="es-MX" sz="2000" dirty="0" err="1">
                <a:latin typeface="Courier New" pitchFamily="49" charset="0"/>
                <a:cs typeface="Times New Roman" charset="0"/>
              </a:rPr>
              <a:t>nombre_unidad</a:t>
            </a:r>
            <a:r>
              <a:rPr lang="es-MX" sz="2000" dirty="0">
                <a:latin typeface="Courier New" pitchFamily="49" charset="0"/>
                <a:cs typeface="Times New Roman" charset="0"/>
              </a:rPr>
              <a:t>)</a:t>
            </a:r>
            <a:endParaRPr lang="es-MX" sz="2000" dirty="0">
              <a:latin typeface="Courier New" pitchFamily="49" charset="0"/>
              <a:ea typeface="Arial Unicode MS" pitchFamily="34" charset="-128"/>
              <a:cs typeface="Arial Unicode MS" pitchFamily="34" charset="-128"/>
            </a:endParaRPr>
          </a:p>
          <a:p>
            <a:pPr algn="just" eaLnBrk="0" hangingPunct="0"/>
            <a:endParaRPr lang="es-MX" sz="2000" dirty="0">
              <a:cs typeface="Times New Roman" charset="0"/>
            </a:endParaRPr>
          </a:p>
          <a:p>
            <a:pPr algn="just" eaLnBrk="0" hangingPunct="0"/>
            <a:r>
              <a:rPr lang="es-MX" sz="2000" dirty="0">
                <a:cs typeface="Times New Roman" charset="0"/>
              </a:rPr>
              <a:t>El valor de retorno de </a:t>
            </a:r>
            <a:r>
              <a:rPr lang="es-MX" sz="2000" dirty="0" err="1">
                <a:cs typeface="Times New Roman" charset="0"/>
              </a:rPr>
              <a:t>sizeof</a:t>
            </a:r>
            <a:r>
              <a:rPr lang="es-MX" sz="2000" dirty="0">
                <a:cs typeface="Times New Roman" charset="0"/>
              </a:rPr>
              <a:t> es dependiente de la máquina y del compilador. Veamos los siguientes ejemplos:</a:t>
            </a:r>
            <a:endParaRPr lang="es-MX" sz="2000" dirty="0">
              <a:ea typeface="Arial Unicode MS" pitchFamily="34" charset="-128"/>
              <a:cs typeface="Arial Unicode MS" pitchFamily="34" charset="-128"/>
            </a:endParaRPr>
          </a:p>
          <a:p>
            <a:pPr algn="just" eaLnBrk="0" hangingPunct="0"/>
            <a:r>
              <a:rPr lang="es-MX" sz="2000" dirty="0">
                <a:cs typeface="Times New Roman" charset="0"/>
              </a:rPr>
              <a:t> </a:t>
            </a:r>
          </a:p>
          <a:p>
            <a:pPr eaLnBrk="0" hangingPunct="0"/>
            <a:r>
              <a:rPr lang="es-MX" sz="2000" dirty="0">
                <a:latin typeface="Courier New" pitchFamily="49" charset="0"/>
                <a:cs typeface="Times New Roman" charset="0"/>
              </a:rPr>
              <a:t>	</a:t>
            </a:r>
            <a:r>
              <a:rPr lang="es-MX" sz="2000" b="1" dirty="0" err="1">
                <a:latin typeface="Courier New" pitchFamily="49" charset="0"/>
                <a:cs typeface="Times New Roman" charset="0"/>
              </a:rPr>
              <a:t>char</a:t>
            </a:r>
            <a:r>
              <a:rPr lang="es-MX" sz="2000" dirty="0">
                <a:latin typeface="Courier New" pitchFamily="49" charset="0"/>
                <a:cs typeface="Times New Roman" charset="0"/>
              </a:rPr>
              <a:t> </a:t>
            </a:r>
            <a:r>
              <a:rPr lang="es-MX" sz="2000" dirty="0" err="1">
                <a:latin typeface="Courier New" pitchFamily="49" charset="0"/>
                <a:cs typeface="Times New Roman" charset="0"/>
              </a:rPr>
              <a:t>buf</a:t>
            </a:r>
            <a:r>
              <a:rPr lang="es-MX" sz="2000" dirty="0">
                <a:latin typeface="Courier New" pitchFamily="49" charset="0"/>
                <a:cs typeface="Times New Roman" charset="0"/>
              </a:rPr>
              <a:t>[80];	// </a:t>
            </a:r>
            <a:r>
              <a:rPr lang="es-MX" sz="2000" dirty="0" err="1">
                <a:latin typeface="Courier New" pitchFamily="49" charset="0"/>
                <a:cs typeface="Times New Roman" charset="0"/>
              </a:rPr>
              <a:t>array</a:t>
            </a:r>
            <a:r>
              <a:rPr lang="es-MX" sz="2000" dirty="0">
                <a:latin typeface="Courier New" pitchFamily="49" charset="0"/>
                <a:cs typeface="Times New Roman" charset="0"/>
              </a:rPr>
              <a:t> de 80 caracteres</a:t>
            </a:r>
            <a:endParaRPr lang="es-MX" sz="2000" dirty="0">
              <a:latin typeface="Courier New" pitchFamily="49" charset="0"/>
              <a:ea typeface="Arial Unicode MS" pitchFamily="34" charset="-128"/>
              <a:cs typeface="Arial Unicode MS" pitchFamily="34" charset="-128"/>
            </a:endParaRPr>
          </a:p>
          <a:p>
            <a:pPr eaLnBrk="0" hangingPunct="0"/>
            <a:r>
              <a:rPr lang="en-US" sz="2000" dirty="0">
                <a:latin typeface="Courier New" pitchFamily="49" charset="0"/>
                <a:cs typeface="Times New Roman" charset="0"/>
              </a:rPr>
              <a:t>	</a:t>
            </a:r>
            <a:r>
              <a:rPr lang="en-US" sz="2000" b="1" dirty="0" err="1">
                <a:latin typeface="Courier New" pitchFamily="49" charset="0"/>
                <a:cs typeface="Times New Roman" charset="0"/>
              </a:rPr>
              <a:t>int</a:t>
            </a:r>
            <a:r>
              <a:rPr lang="en-US" sz="2000" dirty="0">
                <a:latin typeface="Courier New" pitchFamily="49" charset="0"/>
                <a:cs typeface="Times New Roman" charset="0"/>
              </a:rPr>
              <a:t> </a:t>
            </a:r>
            <a:r>
              <a:rPr lang="en-US" sz="2000" dirty="0" err="1">
                <a:latin typeface="Courier New" pitchFamily="49" charset="0"/>
                <a:cs typeface="Times New Roman" charset="0"/>
              </a:rPr>
              <a:t>i</a:t>
            </a:r>
            <a:r>
              <a:rPr lang="en-US" sz="2000" dirty="0">
                <a:latin typeface="Courier New" pitchFamily="49" charset="0"/>
                <a:cs typeface="Times New Roman" charset="0"/>
              </a:rPr>
              <a:t>=15;		// </a:t>
            </a:r>
            <a:r>
              <a:rPr lang="en-US" sz="2000" dirty="0" err="1">
                <a:latin typeface="Courier New" pitchFamily="49" charset="0"/>
                <a:cs typeface="Times New Roman" charset="0"/>
              </a:rPr>
              <a:t>int</a:t>
            </a:r>
            <a:endParaRPr lang="es-MX" sz="2000" dirty="0">
              <a:latin typeface="Courier New" pitchFamily="49" charset="0"/>
              <a:ea typeface="Arial Unicode MS" pitchFamily="34" charset="-128"/>
              <a:cs typeface="Arial Unicode MS" pitchFamily="34" charset="-128"/>
            </a:endParaRPr>
          </a:p>
          <a:p>
            <a:pPr eaLnBrk="0" hangingPunct="0"/>
            <a:r>
              <a:rPr lang="en-US" sz="2000" dirty="0">
                <a:latin typeface="Courier New" pitchFamily="49" charset="0"/>
                <a:cs typeface="Times New Roman" charset="0"/>
              </a:rPr>
              <a:t>	</a:t>
            </a:r>
            <a:r>
              <a:rPr lang="en-US" sz="2000" b="1" dirty="0">
                <a:latin typeface="Courier New" pitchFamily="49" charset="0"/>
                <a:cs typeface="Times New Roman" charset="0"/>
              </a:rPr>
              <a:t>double</a:t>
            </a:r>
            <a:r>
              <a:rPr lang="en-US" sz="2000" dirty="0">
                <a:latin typeface="Courier New" pitchFamily="49" charset="0"/>
                <a:cs typeface="Times New Roman" charset="0"/>
              </a:rPr>
              <a:t> j=15;	// double</a:t>
            </a:r>
            <a:endParaRPr lang="es-MX" sz="2000" dirty="0">
              <a:latin typeface="Courier New" pitchFamily="49" charset="0"/>
              <a:ea typeface="Arial Unicode MS" pitchFamily="34" charset="-128"/>
              <a:cs typeface="Arial Unicode MS" pitchFamily="34" charset="-128"/>
            </a:endParaRPr>
          </a:p>
          <a:p>
            <a:pPr eaLnBrk="0" hangingPunct="0"/>
            <a:r>
              <a:rPr lang="en-US" sz="2000" dirty="0">
                <a:latin typeface="Courier New" pitchFamily="49" charset="0"/>
                <a:cs typeface="Times New Roman" charset="0"/>
              </a:rPr>
              <a:t>	</a:t>
            </a:r>
            <a:r>
              <a:rPr lang="en-US" sz="2000" dirty="0" err="1">
                <a:latin typeface="Courier New" pitchFamily="49" charset="0"/>
                <a:cs typeface="Times New Roman" charset="0"/>
              </a:rPr>
              <a:t>cout</a:t>
            </a:r>
            <a:r>
              <a:rPr lang="en-US" sz="2000" dirty="0">
                <a:latin typeface="Courier New" pitchFamily="49" charset="0"/>
                <a:cs typeface="Times New Roman" charset="0"/>
              </a:rPr>
              <a:t>&lt;&lt;</a:t>
            </a:r>
            <a:r>
              <a:rPr lang="en-US" sz="2000" b="1" dirty="0" err="1">
                <a:latin typeface="Courier New" pitchFamily="49" charset="0"/>
                <a:cs typeface="Times New Roman" charset="0"/>
              </a:rPr>
              <a:t>sizeof</a:t>
            </a:r>
            <a:r>
              <a:rPr lang="en-US" sz="2000" dirty="0">
                <a:latin typeface="Courier New" pitchFamily="49" charset="0"/>
                <a:cs typeface="Times New Roman" charset="0"/>
              </a:rPr>
              <a:t>(</a:t>
            </a:r>
            <a:r>
              <a:rPr lang="en-US" sz="2000" dirty="0" err="1">
                <a:latin typeface="Courier New" pitchFamily="49" charset="0"/>
                <a:cs typeface="Times New Roman" charset="0"/>
              </a:rPr>
              <a:t>buf</a:t>
            </a:r>
            <a:r>
              <a:rPr lang="en-US" sz="2000" dirty="0">
                <a:latin typeface="Courier New" pitchFamily="49" charset="0"/>
                <a:cs typeface="Times New Roman" charset="0"/>
              </a:rPr>
              <a:t>);// 80 bytes</a:t>
            </a:r>
            <a:endParaRPr lang="es-MX" sz="2000" dirty="0">
              <a:latin typeface="Courier New" pitchFamily="49" charset="0"/>
              <a:ea typeface="Arial Unicode MS" pitchFamily="34" charset="-128"/>
              <a:cs typeface="Arial Unicode MS" pitchFamily="34" charset="-128"/>
            </a:endParaRPr>
          </a:p>
          <a:p>
            <a:pPr eaLnBrk="0" hangingPunct="0"/>
            <a:r>
              <a:rPr lang="en-US" sz="2000" dirty="0">
                <a:latin typeface="Courier New" pitchFamily="49" charset="0"/>
                <a:cs typeface="Times New Roman" charset="0"/>
              </a:rPr>
              <a:t>	</a:t>
            </a:r>
            <a:r>
              <a:rPr lang="en-US" sz="2000" dirty="0" err="1">
                <a:latin typeface="Courier New" pitchFamily="49" charset="0"/>
                <a:cs typeface="Times New Roman" charset="0"/>
              </a:rPr>
              <a:t>cout</a:t>
            </a:r>
            <a:r>
              <a:rPr lang="en-US" sz="2000" dirty="0">
                <a:latin typeface="Courier New" pitchFamily="49" charset="0"/>
                <a:cs typeface="Times New Roman" charset="0"/>
              </a:rPr>
              <a:t>&lt;&lt;</a:t>
            </a:r>
            <a:r>
              <a:rPr lang="en-US" sz="2000" b="1" dirty="0" err="1">
                <a:latin typeface="Courier New" pitchFamily="49" charset="0"/>
                <a:cs typeface="Times New Roman" charset="0"/>
              </a:rPr>
              <a:t>sizeof</a:t>
            </a:r>
            <a:r>
              <a:rPr lang="en-US" sz="2000" dirty="0">
                <a:latin typeface="Courier New" pitchFamily="49" charset="0"/>
                <a:cs typeface="Times New Roman" charset="0"/>
              </a:rPr>
              <a:t>(</a:t>
            </a:r>
            <a:r>
              <a:rPr lang="en-US" sz="2000" dirty="0" err="1">
                <a:latin typeface="Courier New" pitchFamily="49" charset="0"/>
                <a:cs typeface="Times New Roman" charset="0"/>
              </a:rPr>
              <a:t>i</a:t>
            </a:r>
            <a:r>
              <a:rPr lang="en-US" sz="2000" dirty="0">
                <a:latin typeface="Courier New" pitchFamily="49" charset="0"/>
                <a:cs typeface="Times New Roman" charset="0"/>
              </a:rPr>
              <a:t>);	// 4 bytes</a:t>
            </a:r>
            <a:endParaRPr lang="es-MX" sz="2000" dirty="0">
              <a:latin typeface="Courier New" pitchFamily="49" charset="0"/>
              <a:ea typeface="Arial Unicode MS" pitchFamily="34" charset="-128"/>
              <a:cs typeface="Arial Unicode MS" pitchFamily="34" charset="-128"/>
            </a:endParaRPr>
          </a:p>
          <a:p>
            <a:pPr eaLnBrk="0" hangingPunct="0"/>
            <a:r>
              <a:rPr lang="en-US" sz="2000" dirty="0">
                <a:latin typeface="Courier New" pitchFamily="49" charset="0"/>
                <a:cs typeface="Times New Roman" charset="0"/>
              </a:rPr>
              <a:t>	</a:t>
            </a:r>
            <a:r>
              <a:rPr lang="en-US" sz="2000" dirty="0" err="1">
                <a:latin typeface="Courier New" pitchFamily="49" charset="0"/>
                <a:cs typeface="Times New Roman" charset="0"/>
              </a:rPr>
              <a:t>cout</a:t>
            </a:r>
            <a:r>
              <a:rPr lang="en-US" sz="2000" dirty="0">
                <a:latin typeface="Courier New" pitchFamily="49" charset="0"/>
                <a:cs typeface="Times New Roman" charset="0"/>
              </a:rPr>
              <a:t>&lt;&lt;</a:t>
            </a:r>
            <a:r>
              <a:rPr lang="en-US" sz="2000" b="1" dirty="0" err="1">
                <a:latin typeface="Courier New" pitchFamily="49" charset="0"/>
                <a:cs typeface="Times New Roman" charset="0"/>
              </a:rPr>
              <a:t>sizeof</a:t>
            </a:r>
            <a:r>
              <a:rPr lang="en-US" sz="2000" dirty="0">
                <a:latin typeface="Courier New" pitchFamily="49" charset="0"/>
                <a:cs typeface="Times New Roman" charset="0"/>
              </a:rPr>
              <a:t>(j);	// 8 bytes</a:t>
            </a:r>
            <a:endParaRPr lang="es-MX" sz="2000" dirty="0">
              <a:latin typeface="Courier New" pitchFamily="49" charset="0"/>
            </a:endParaRPr>
          </a:p>
        </p:txBody>
      </p:sp>
    </p:spTree>
    <p:extLst>
      <p:ext uri="{BB962C8B-B14F-4D97-AF65-F5344CB8AC3E}">
        <p14:creationId xmlns:p14="http://schemas.microsoft.com/office/powerpoint/2010/main" val="400929882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820464185"/>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Franklin Gothic">
      <a:majorFont>
        <a:latin typeface="Franklin Gothic Medium" panose="020B0603020102020204"/>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panose="020B0503020102020204"/>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961</TotalTime>
  <Words>1536</Words>
  <Application>Microsoft Office PowerPoint</Application>
  <PresentationFormat>Panorámica</PresentationFormat>
  <Paragraphs>315</Paragraphs>
  <Slides>36</Slides>
  <Notes>0</Notes>
  <HiddenSlides>0</HiddenSlides>
  <MMClips>0</MMClips>
  <ScaleCrop>false</ScaleCrop>
  <HeadingPairs>
    <vt:vector size="8" baseType="variant">
      <vt:variant>
        <vt:lpstr>Fuentes usadas</vt:lpstr>
      </vt:variant>
      <vt:variant>
        <vt:i4>11</vt:i4>
      </vt:variant>
      <vt:variant>
        <vt:lpstr>Tema</vt:lpstr>
      </vt:variant>
      <vt:variant>
        <vt:i4>1</vt:i4>
      </vt:variant>
      <vt:variant>
        <vt:lpstr>Servidores OLE incrustados</vt:lpstr>
      </vt:variant>
      <vt:variant>
        <vt:i4>2</vt:i4>
      </vt:variant>
      <vt:variant>
        <vt:lpstr>Títulos de diapositiva</vt:lpstr>
      </vt:variant>
      <vt:variant>
        <vt:i4>36</vt:i4>
      </vt:variant>
    </vt:vector>
  </HeadingPairs>
  <TitlesOfParts>
    <vt:vector size="50" baseType="lpstr">
      <vt:lpstr>Arial</vt:lpstr>
      <vt:lpstr>Arial Black</vt:lpstr>
      <vt:lpstr>Arial Unicode MS</vt:lpstr>
      <vt:lpstr>Calibri</vt:lpstr>
      <vt:lpstr>Courier New</vt:lpstr>
      <vt:lpstr>Franklin Gothic Book</vt:lpstr>
      <vt:lpstr>Franklin Gothic Medium</vt:lpstr>
      <vt:lpstr>Lucida Console</vt:lpstr>
      <vt:lpstr>Times New Roman</vt:lpstr>
      <vt:lpstr>Verdana</vt:lpstr>
      <vt:lpstr>Wingdings</vt:lpstr>
      <vt:lpstr>Tema de Office</vt:lpstr>
      <vt:lpstr>Document</vt:lpstr>
      <vt:lpstr>Documento</vt:lpstr>
      <vt:lpstr>Lógica y Algoritmos Unidad II: Algoritmos y programas</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Gloria Cordero</dc:creator>
  <cp:lastModifiedBy>Armando J. López L.</cp:lastModifiedBy>
  <cp:revision>19</cp:revision>
  <dcterms:created xsi:type="dcterms:W3CDTF">2019-03-11T22:56:21Z</dcterms:created>
  <dcterms:modified xsi:type="dcterms:W3CDTF">2024-04-01T03:46:26Z</dcterms:modified>
</cp:coreProperties>
</file>