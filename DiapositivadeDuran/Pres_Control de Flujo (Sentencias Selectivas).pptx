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258" r:id="rId2"/>
    <p:sldId id="298" r:id="rId3"/>
    <p:sldId id="299" r:id="rId4"/>
    <p:sldId id="302" r:id="rId5"/>
    <p:sldId id="301" r:id="rId6"/>
    <p:sldId id="312" r:id="rId7"/>
    <p:sldId id="313" r:id="rId8"/>
    <p:sldId id="314" r:id="rId9"/>
    <p:sldId id="315" r:id="rId10"/>
    <p:sldId id="316" r:id="rId11"/>
    <p:sldId id="317" r:id="rId12"/>
    <p:sldId id="309" r:id="rId13"/>
    <p:sldId id="318" r:id="rId14"/>
    <p:sldId id="319" r:id="rId15"/>
    <p:sldId id="311" r:id="rId16"/>
    <p:sldId id="260" r:id="rId1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1920"/>
    <a:srgbClr val="0099A8"/>
    <a:srgbClr val="F47C20"/>
    <a:srgbClr val="C8B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6" autoAdjust="0"/>
    <p:restoredTop sz="94660"/>
  </p:normalViewPr>
  <p:slideViewPr>
    <p:cSldViewPr snapToGrid="0">
      <p:cViewPr varScale="1">
        <p:scale>
          <a:sx n="91" d="100"/>
          <a:sy n="91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19/4/2024</a:t>
            </a:fld>
            <a:endParaRPr lang="es-NI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38373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 dirty="0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4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 dirty="0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7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4091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 dirty="0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8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 dirty="0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8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04444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7292D9-DB16-4FBE-9F8D-0E319560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98" y="2458819"/>
            <a:ext cx="10515600" cy="114040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800" dirty="0"/>
              <a:t>Lógica y Algoritmos</a:t>
            </a:r>
            <a:br>
              <a:rPr lang="es-ES" sz="4800" dirty="0"/>
            </a:br>
            <a:r>
              <a:rPr lang="es-ES" sz="4800" dirty="0"/>
              <a:t>U</a:t>
            </a:r>
            <a:r>
              <a:rPr lang="es-ES" sz="3600" dirty="0"/>
              <a:t>nidad </a:t>
            </a:r>
            <a:r>
              <a:rPr lang="es-ES" sz="3600" dirty="0" smtClean="0"/>
              <a:t>IV: Control de Flujo</a:t>
            </a:r>
            <a:endParaRPr lang="es-NI" sz="3600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C7F02BF1-D6AC-490C-8E66-0C066C1D0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42" y="5329953"/>
            <a:ext cx="11057992" cy="549997"/>
          </a:xfrm>
        </p:spPr>
        <p:txBody>
          <a:bodyPr>
            <a:normAutofit/>
          </a:bodyPr>
          <a:lstStyle/>
          <a:p>
            <a:pPr algn="r"/>
            <a:r>
              <a:rPr lang="pt-BR" sz="1400" b="1" dirty="0"/>
              <a:t>Colectivo de asignatura 1S2024 | Abril, 2024</a:t>
            </a:r>
            <a:endParaRPr lang="es-NI" sz="18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DCF7591-3C53-434C-A934-82F3D00436B6}"/>
              </a:ext>
            </a:extLst>
          </p:cNvPr>
          <p:cNvSpPr txBox="1">
            <a:spLocks/>
          </p:cNvSpPr>
          <p:nvPr/>
        </p:nvSpPr>
        <p:spPr>
          <a:xfrm>
            <a:off x="1057656" y="4713403"/>
            <a:ext cx="10515600" cy="6165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600" dirty="0" smtClean="0"/>
              <a:t>Tema: Sentencias Selectivas</a:t>
            </a:r>
            <a:endParaRPr lang="es-NI" sz="3600" dirty="0"/>
          </a:p>
        </p:txBody>
      </p:sp>
    </p:spTree>
    <p:extLst>
      <p:ext uri="{BB962C8B-B14F-4D97-AF65-F5344CB8AC3E}">
        <p14:creationId xmlns:p14="http://schemas.microsoft.com/office/powerpoint/2010/main" val="77156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4242447" y="212555"/>
            <a:ext cx="1958656" cy="569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ts val="3960"/>
              </a:lnSpc>
              <a:defRPr/>
            </a:pPr>
            <a:r>
              <a:rPr lang="es-MX" sz="2800" b="1" dirty="0">
                <a:solidFill>
                  <a:srgbClr val="0099A8"/>
                </a:solidFill>
                <a:latin typeface="Arial" charset="0"/>
                <a:ea typeface="+mn-ea"/>
                <a:cs typeface="+mn-cs"/>
              </a:rPr>
              <a:t>Contenido</a:t>
            </a:r>
            <a:endParaRPr lang="x-none" sz="2800" b="1" dirty="0">
              <a:solidFill>
                <a:srgbClr val="0099A8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67558" y="1303282"/>
            <a:ext cx="110463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dirty="0" smtClean="0">
                <a:solidFill>
                  <a:srgbClr val="002060"/>
                </a:solidFill>
              </a:rPr>
              <a:t>Estructuras </a:t>
            </a:r>
            <a:r>
              <a:rPr lang="es-NI" sz="2400" dirty="0">
                <a:solidFill>
                  <a:srgbClr val="002060"/>
                </a:solidFill>
              </a:rPr>
              <a:t>de bifurcación (selectivas</a:t>
            </a:r>
            <a:r>
              <a:rPr lang="es-NI" sz="2400" dirty="0" smtClean="0">
                <a:solidFill>
                  <a:srgbClr val="002060"/>
                </a:solidFill>
              </a:rPr>
              <a:t>):</a:t>
            </a:r>
            <a:endParaRPr lang="es-NI" sz="2400" dirty="0">
              <a:solidFill>
                <a:srgbClr val="002060"/>
              </a:solidFill>
            </a:endParaRPr>
          </a:p>
          <a:p>
            <a:endParaRPr lang="es-ES" sz="2400" dirty="0" smtClean="0">
              <a:solidFill>
                <a:srgbClr val="002060"/>
              </a:solidFill>
            </a:endParaRPr>
          </a:p>
          <a:p>
            <a:r>
              <a:rPr lang="es-ES" sz="2400" dirty="0" smtClean="0">
                <a:solidFill>
                  <a:srgbClr val="002060"/>
                </a:solidFill>
              </a:rPr>
              <a:t>► </a:t>
            </a:r>
            <a:r>
              <a:rPr lang="es-NI" sz="2400" dirty="0" smtClean="0">
                <a:solidFill>
                  <a:srgbClr val="002060"/>
                </a:solidFill>
              </a:rPr>
              <a:t>Alternativa simple				: </a:t>
            </a:r>
            <a:r>
              <a:rPr lang="es-NI" sz="2400" dirty="0">
                <a:solidFill>
                  <a:srgbClr val="002060"/>
                </a:solidFill>
              </a:rPr>
              <a:t>si-entonces (if-then)</a:t>
            </a:r>
          </a:p>
          <a:p>
            <a:r>
              <a:rPr lang="es-ES" sz="2400" dirty="0">
                <a:solidFill>
                  <a:srgbClr val="002060"/>
                </a:solidFill>
              </a:rPr>
              <a:t>► </a:t>
            </a:r>
            <a:r>
              <a:rPr lang="es-NI" sz="2400" dirty="0" smtClean="0">
                <a:solidFill>
                  <a:srgbClr val="002060"/>
                </a:solidFill>
              </a:rPr>
              <a:t>Alternativa doble				: </a:t>
            </a:r>
            <a:r>
              <a:rPr lang="es-NI" sz="2400" dirty="0">
                <a:solidFill>
                  <a:srgbClr val="002060"/>
                </a:solidFill>
              </a:rPr>
              <a:t>si-entonces-sino (</a:t>
            </a:r>
            <a:r>
              <a:rPr lang="es-NI" sz="2400" dirty="0" smtClean="0">
                <a:solidFill>
                  <a:srgbClr val="002060"/>
                </a:solidFill>
              </a:rPr>
              <a:t>if-then-else)</a:t>
            </a:r>
            <a:endParaRPr lang="es-NI" sz="2400" dirty="0">
              <a:solidFill>
                <a:srgbClr val="002060"/>
              </a:solidFill>
            </a:endParaRPr>
          </a:p>
          <a:p>
            <a:r>
              <a:rPr lang="es-ES" sz="2400" dirty="0">
                <a:solidFill>
                  <a:srgbClr val="002060"/>
                </a:solidFill>
              </a:rPr>
              <a:t>► </a:t>
            </a:r>
            <a:r>
              <a:rPr lang="es-NI" sz="2400" dirty="0">
                <a:solidFill>
                  <a:srgbClr val="002060"/>
                </a:solidFill>
              </a:rPr>
              <a:t>Estructuras de decisión </a:t>
            </a:r>
            <a:r>
              <a:rPr lang="es-NI" sz="2400" dirty="0" smtClean="0">
                <a:solidFill>
                  <a:srgbClr val="002060"/>
                </a:solidFill>
              </a:rPr>
              <a:t>anidadas	: </a:t>
            </a:r>
            <a:r>
              <a:rPr lang="es-NI" sz="2400" dirty="0">
                <a:solidFill>
                  <a:srgbClr val="002060"/>
                </a:solidFill>
              </a:rPr>
              <a:t>(</a:t>
            </a:r>
            <a:r>
              <a:rPr lang="es-NI" sz="2400" dirty="0" smtClean="0">
                <a:solidFill>
                  <a:srgbClr val="002060"/>
                </a:solidFill>
              </a:rPr>
              <a:t>if-then-else, if-then-else, </a:t>
            </a:r>
            <a:r>
              <a:rPr lang="es-NI" sz="2400" dirty="0" err="1" smtClean="0">
                <a:solidFill>
                  <a:srgbClr val="002060"/>
                </a:solidFill>
              </a:rPr>
              <a:t>if</a:t>
            </a:r>
            <a:r>
              <a:rPr lang="es-NI" sz="2400" dirty="0" smtClean="0">
                <a:solidFill>
                  <a:srgbClr val="002060"/>
                </a:solidFill>
              </a:rPr>
              <a:t>…)</a:t>
            </a:r>
            <a:endParaRPr lang="es-NI" sz="2400" dirty="0">
              <a:solidFill>
                <a:srgbClr val="002060"/>
              </a:solidFill>
            </a:endParaRPr>
          </a:p>
          <a:p>
            <a:r>
              <a:rPr lang="es-ES" sz="2400" dirty="0" smtClean="0">
                <a:solidFill>
                  <a:srgbClr val="002060"/>
                </a:solidFill>
              </a:rPr>
              <a:t>► </a:t>
            </a:r>
            <a:r>
              <a:rPr lang="es-NI" sz="2400" dirty="0" smtClean="0">
                <a:solidFill>
                  <a:srgbClr val="002060"/>
                </a:solidFill>
              </a:rPr>
              <a:t>Alternativa múltiple			: </a:t>
            </a:r>
            <a:r>
              <a:rPr lang="es-NI" sz="2400" dirty="0">
                <a:solidFill>
                  <a:srgbClr val="002060"/>
                </a:solidFill>
              </a:rPr>
              <a:t>según-sea (switch-case</a:t>
            </a:r>
            <a:r>
              <a:rPr lang="es-NI" sz="2400" dirty="0" smtClean="0">
                <a:solidFill>
                  <a:srgbClr val="002060"/>
                </a:solidFill>
              </a:rPr>
              <a:t>)</a:t>
            </a:r>
            <a:endParaRPr lang="es-NI" sz="2400" dirty="0">
              <a:solidFill>
                <a:srgbClr val="002060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53" y="3611606"/>
            <a:ext cx="3817029" cy="308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67558" y="1303282"/>
            <a:ext cx="1104637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100" dirty="0"/>
              <a:t>En un programa </a:t>
            </a:r>
            <a:r>
              <a:rPr lang="es-NI" sz="2100" dirty="0" smtClean="0"/>
              <a:t>estructurado, </a:t>
            </a:r>
            <a:r>
              <a:rPr lang="es-NI" sz="2100" dirty="0"/>
              <a:t>el flujo lógico se gobierna por las estructuras de control básicas</a:t>
            </a:r>
            <a:r>
              <a:rPr lang="es-NI" sz="2100" dirty="0" smtClean="0"/>
              <a:t>:</a:t>
            </a:r>
          </a:p>
          <a:p>
            <a:pPr algn="just"/>
            <a:endParaRPr lang="es-NI" sz="800" dirty="0"/>
          </a:p>
          <a:p>
            <a:pPr marL="457200" indent="-457200" algn="just">
              <a:buFont typeface="+mj-lt"/>
              <a:buAutoNum type="arabicPeriod"/>
            </a:pPr>
            <a:r>
              <a:rPr lang="es-NI" sz="2100" dirty="0" smtClean="0"/>
              <a:t>Secuenciales</a:t>
            </a:r>
            <a:endParaRPr lang="es-NI" sz="2100" dirty="0"/>
          </a:p>
          <a:p>
            <a:pPr marL="457200" indent="-457200" algn="just">
              <a:buFont typeface="+mj-lt"/>
              <a:buAutoNum type="arabicPeriod"/>
            </a:pPr>
            <a:r>
              <a:rPr lang="es-NI" sz="2100" dirty="0" smtClean="0"/>
              <a:t>Selectivas</a:t>
            </a:r>
            <a:endParaRPr lang="es-NI" sz="2100" dirty="0"/>
          </a:p>
          <a:p>
            <a:pPr marL="457200" indent="-457200" algn="just">
              <a:buFont typeface="+mj-lt"/>
              <a:buAutoNum type="arabicPeriod"/>
            </a:pPr>
            <a:r>
              <a:rPr lang="es-NI" sz="2100" dirty="0" smtClean="0"/>
              <a:t>Repetitivas</a:t>
            </a:r>
            <a:endParaRPr lang="es-NI" sz="2100" dirty="0"/>
          </a:p>
          <a:p>
            <a:pPr marL="457200" indent="-457200" algn="just">
              <a:buFont typeface="+mj-lt"/>
              <a:buAutoNum type="arabicPeriod"/>
            </a:pPr>
            <a:endParaRPr lang="es-ES" sz="800" dirty="0">
              <a:solidFill>
                <a:srgbClr val="002060"/>
              </a:solidFill>
            </a:endParaRPr>
          </a:p>
          <a:p>
            <a:pPr algn="just"/>
            <a:r>
              <a:rPr lang="es-NI" sz="2100" dirty="0"/>
              <a:t>Las sentencias </a:t>
            </a:r>
            <a:r>
              <a:rPr lang="es-NI" sz="2100" b="1" dirty="0"/>
              <a:t>si </a:t>
            </a:r>
            <a:r>
              <a:rPr lang="es-NI" sz="2100" dirty="0" smtClean="0"/>
              <a:t>(</a:t>
            </a:r>
            <a:r>
              <a:rPr lang="es-NI" sz="2100" b="1" dirty="0" smtClean="0"/>
              <a:t>if</a:t>
            </a:r>
            <a:r>
              <a:rPr lang="es-NI" sz="2100" dirty="0" smtClean="0"/>
              <a:t>) </a:t>
            </a:r>
            <a:r>
              <a:rPr lang="es-NI" sz="2100" dirty="0"/>
              <a:t>y sus </a:t>
            </a:r>
            <a:r>
              <a:rPr lang="es-NI" sz="2100" dirty="0" smtClean="0"/>
              <a:t>variantes: </a:t>
            </a:r>
            <a:r>
              <a:rPr lang="es-NI" sz="2100" b="1" dirty="0"/>
              <a:t>si-entonces</a:t>
            </a:r>
            <a:r>
              <a:rPr lang="es-NI" sz="2100" dirty="0"/>
              <a:t>, </a:t>
            </a:r>
            <a:r>
              <a:rPr lang="es-NI" sz="2100" b="1" dirty="0"/>
              <a:t>si-entonces-sino </a:t>
            </a:r>
            <a:r>
              <a:rPr lang="es-NI" sz="2100" dirty="0"/>
              <a:t>y la sentencia </a:t>
            </a:r>
            <a:r>
              <a:rPr lang="es-NI" sz="2100" b="1" dirty="0"/>
              <a:t>según-sea </a:t>
            </a:r>
            <a:r>
              <a:rPr lang="es-NI" sz="2100" dirty="0" smtClean="0"/>
              <a:t>(</a:t>
            </a:r>
            <a:r>
              <a:rPr lang="es-NI" sz="2100" b="1" dirty="0" smtClean="0"/>
              <a:t>switch</a:t>
            </a:r>
            <a:r>
              <a:rPr lang="es-NI" sz="2100" dirty="0" smtClean="0"/>
              <a:t>), </a:t>
            </a:r>
            <a:r>
              <a:rPr lang="es-NI" sz="2100" dirty="0"/>
              <a:t>se describen como parte fundamental de un programa. Las sentencias </a:t>
            </a:r>
            <a:r>
              <a:rPr lang="es-NI" sz="2100" b="1" dirty="0"/>
              <a:t>si </a:t>
            </a:r>
            <a:r>
              <a:rPr lang="es-NI" sz="2100" dirty="0"/>
              <a:t>anidadas y las sentencias de </a:t>
            </a:r>
            <a:r>
              <a:rPr lang="es-NI" sz="2100" dirty="0" smtClean="0"/>
              <a:t>multibifurcación, </a:t>
            </a:r>
            <a:r>
              <a:rPr lang="es-NI" sz="2100" dirty="0"/>
              <a:t>pueden ayudar a resolver importantes problemas de cálculo.</a:t>
            </a:r>
          </a:p>
          <a:p>
            <a:pPr algn="just"/>
            <a:endParaRPr lang="es-ES" sz="800" dirty="0">
              <a:solidFill>
                <a:srgbClr val="002060"/>
              </a:solidFill>
            </a:endParaRPr>
          </a:p>
          <a:p>
            <a:pPr algn="just"/>
            <a:r>
              <a:rPr lang="es-NI" sz="2100" dirty="0"/>
              <a:t>El término </a:t>
            </a:r>
            <a:r>
              <a:rPr lang="es-NI" sz="2100" b="1" dirty="0"/>
              <a:t>flujo de </a:t>
            </a:r>
            <a:r>
              <a:rPr lang="es-NI" sz="2100" b="1" dirty="0" smtClean="0"/>
              <a:t>control, </a:t>
            </a:r>
            <a:r>
              <a:rPr lang="es-NI" sz="2100" dirty="0"/>
              <a:t>se refiere al orden en que se ejecutan las sentencias del programa. Otros términos utilizados son secuenciación y control del flujo.</a:t>
            </a:r>
          </a:p>
          <a:p>
            <a:pPr algn="just"/>
            <a:endParaRPr lang="es-ES" sz="800" dirty="0">
              <a:solidFill>
                <a:srgbClr val="002060"/>
              </a:solidFill>
            </a:endParaRPr>
          </a:p>
          <a:p>
            <a:pPr algn="just"/>
            <a:r>
              <a:rPr lang="es-NI" sz="2100" dirty="0"/>
              <a:t>Las </a:t>
            </a:r>
            <a:r>
              <a:rPr lang="es-NI" sz="2100" b="1" dirty="0"/>
              <a:t>estructuras de </a:t>
            </a:r>
            <a:r>
              <a:rPr lang="es-NI" sz="2100" b="1" dirty="0" smtClean="0"/>
              <a:t>control, </a:t>
            </a:r>
            <a:r>
              <a:rPr lang="es-NI" sz="2100" dirty="0"/>
              <a:t>controlan el flujo de ejecución de un programa o función. Las estructuras </a:t>
            </a:r>
            <a:r>
              <a:rPr lang="es-NI" sz="2100" dirty="0" smtClean="0"/>
              <a:t>de control, </a:t>
            </a:r>
            <a:r>
              <a:rPr lang="es-NI" sz="2100" dirty="0"/>
              <a:t>permiten combinar instrucciones o sentencias </a:t>
            </a:r>
            <a:r>
              <a:rPr lang="es-NI" sz="2100" dirty="0" smtClean="0"/>
              <a:t>individuales, </a:t>
            </a:r>
            <a:r>
              <a:rPr lang="es-NI" sz="2100" dirty="0"/>
              <a:t>en una simple unidad lógica con un punto de entrada y un punto de salida.</a:t>
            </a:r>
            <a:endParaRPr lang="es-NI" sz="2100" dirty="0">
              <a:solidFill>
                <a:srgbClr val="002060"/>
              </a:solidFill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4067502" y="212555"/>
            <a:ext cx="2385850" cy="569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ts val="3960"/>
              </a:lnSpc>
              <a:defRPr/>
            </a:pPr>
            <a:r>
              <a:rPr lang="es-MX" sz="2800" b="1" dirty="0" smtClean="0">
                <a:solidFill>
                  <a:srgbClr val="0099A8"/>
                </a:solidFill>
                <a:latin typeface="Arial" charset="0"/>
                <a:ea typeface="+mn-ea"/>
                <a:cs typeface="+mn-cs"/>
              </a:rPr>
              <a:t>Introducción</a:t>
            </a:r>
            <a:endParaRPr lang="x-none" sz="2800" b="1" dirty="0">
              <a:solidFill>
                <a:srgbClr val="0099A8"/>
              </a:solidFill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28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6285188" y="3823268"/>
            <a:ext cx="3100546" cy="2005335"/>
            <a:chOff x="6747647" y="3192653"/>
            <a:chExt cx="3100546" cy="2005335"/>
          </a:xfrm>
        </p:grpSpPr>
        <p:pic>
          <p:nvPicPr>
            <p:cNvPr id="6" name="Imagen 5" descr="C:\SoftwareGrabación\Grabar\Datos\2024-04-16 at 19-21-59.png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8205" y="3192653"/>
              <a:ext cx="2296511" cy="17598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CuadroTexto 2"/>
            <p:cNvSpPr txBox="1"/>
            <p:nvPr/>
          </p:nvSpPr>
          <p:spPr>
            <a:xfrm>
              <a:off x="6747647" y="4920989"/>
              <a:ext cx="31005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Diagrama de flujo de una sentencia básica if.</a:t>
              </a:r>
            </a:p>
          </p:txBody>
        </p:sp>
      </p:grp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07" y="3823268"/>
            <a:ext cx="3737039" cy="1053527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Alternativa Simple (Si-Entonces/If-Then)</a:t>
            </a:r>
            <a:endParaRPr lang="x-none" dirty="0"/>
          </a:p>
        </p:txBody>
      </p:sp>
      <p:sp>
        <p:nvSpPr>
          <p:cNvPr id="9" name="CuadroTexto 8"/>
          <p:cNvSpPr txBox="1"/>
          <p:nvPr/>
        </p:nvSpPr>
        <p:spPr>
          <a:xfrm>
            <a:off x="567558" y="1303282"/>
            <a:ext cx="1104637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400" dirty="0"/>
              <a:t>La estructura alternativa simple </a:t>
            </a:r>
            <a:r>
              <a:rPr lang="es-NI" sz="2400" b="1" dirty="0"/>
              <a:t>si-entonces </a:t>
            </a:r>
            <a:r>
              <a:rPr lang="es-NI" sz="2400" dirty="0" smtClean="0"/>
              <a:t>(</a:t>
            </a:r>
            <a:r>
              <a:rPr lang="es-NI" sz="2400" b="1" dirty="0" smtClean="0"/>
              <a:t>if-then</a:t>
            </a:r>
            <a:r>
              <a:rPr lang="es-NI" sz="2400" dirty="0" smtClean="0"/>
              <a:t>), </a:t>
            </a:r>
            <a:r>
              <a:rPr lang="es-NI" sz="2400" dirty="0"/>
              <a:t>ejecuta una determinada </a:t>
            </a:r>
            <a:r>
              <a:rPr lang="es-NI" sz="2400" dirty="0" smtClean="0"/>
              <a:t>acción cuando </a:t>
            </a:r>
            <a:r>
              <a:rPr lang="es-NI" sz="2400" dirty="0"/>
              <a:t>se cumple una determinada condición. La selección </a:t>
            </a:r>
            <a:r>
              <a:rPr lang="es-NI" sz="2400" b="1" dirty="0" smtClean="0"/>
              <a:t>si-entonces, </a:t>
            </a:r>
            <a:r>
              <a:rPr lang="es-NI" sz="2400" dirty="0"/>
              <a:t>evalúa la </a:t>
            </a:r>
            <a:r>
              <a:rPr lang="es-NI" sz="2400" dirty="0" smtClean="0"/>
              <a:t>condición, y: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NI" sz="2400" dirty="0" smtClean="0"/>
              <a:t>si la condición es </a:t>
            </a:r>
            <a:r>
              <a:rPr lang="es-NI" sz="2400" i="1" dirty="0" smtClean="0"/>
              <a:t>verdadera</a:t>
            </a:r>
            <a:r>
              <a:rPr lang="es-NI" sz="2400" dirty="0" smtClean="0"/>
              <a:t>, entonces ejecuta la acción </a:t>
            </a:r>
            <a:r>
              <a:rPr lang="es-NI" sz="2400" i="1" dirty="0" smtClean="0"/>
              <a:t>S1</a:t>
            </a:r>
            <a:r>
              <a:rPr lang="es-NI" sz="2400" dirty="0" smtClean="0"/>
              <a:t> (o acciones, en caso de ser </a:t>
            </a:r>
            <a:r>
              <a:rPr lang="es-NI" sz="2400" i="1" dirty="0" smtClean="0"/>
              <a:t>S1</a:t>
            </a:r>
            <a:r>
              <a:rPr lang="es-NI" sz="2400" dirty="0" smtClean="0"/>
              <a:t> una acción compuesta y constar de varias acciones),</a:t>
            </a:r>
          </a:p>
          <a:p>
            <a:pPr algn="just">
              <a:spcBef>
                <a:spcPts val="600"/>
              </a:spcBef>
            </a:pPr>
            <a:r>
              <a:rPr lang="es-NI" sz="2400" dirty="0" smtClean="0"/>
              <a:t>• si </a:t>
            </a:r>
            <a:r>
              <a:rPr lang="es-NI" sz="2400" dirty="0"/>
              <a:t>la condición es </a:t>
            </a:r>
            <a:r>
              <a:rPr lang="es-NI" sz="2400" i="1" dirty="0"/>
              <a:t>falsa</a:t>
            </a:r>
            <a:r>
              <a:rPr lang="es-NI" sz="2400" dirty="0"/>
              <a:t>, entonces no hacer nada.</a:t>
            </a:r>
            <a:endParaRPr lang="es-NI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37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Alternativa Simple (Si-Entonces/If-Then)</a:t>
            </a:r>
            <a:endParaRPr lang="x-none" dirty="0"/>
          </a:p>
        </p:txBody>
      </p:sp>
      <p:sp>
        <p:nvSpPr>
          <p:cNvPr id="3" name="CuadroTexto 2"/>
          <p:cNvSpPr txBox="1"/>
          <p:nvPr/>
        </p:nvSpPr>
        <p:spPr>
          <a:xfrm>
            <a:off x="483476" y="1267264"/>
            <a:ext cx="902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latin typeface="+mj-lt"/>
              </a:rPr>
              <a:t>Programa en C/C++: </a:t>
            </a:r>
            <a:r>
              <a:rPr lang="es-ES" dirty="0" smtClean="0">
                <a:latin typeface="+mj-lt"/>
              </a:rPr>
              <a:t>Evaluar </a:t>
            </a:r>
            <a:r>
              <a:rPr lang="es-NI" dirty="0" smtClean="0">
                <a:latin typeface="+mj-lt"/>
              </a:rPr>
              <a:t>la aprobación </a:t>
            </a:r>
            <a:r>
              <a:rPr lang="es-NI" dirty="0">
                <a:latin typeface="+mj-lt"/>
              </a:rPr>
              <a:t>de un examen (nota &gt;= 70, Aprobado</a:t>
            </a:r>
            <a:r>
              <a:rPr lang="es-NI" dirty="0" smtClean="0">
                <a:latin typeface="+mj-lt"/>
              </a:rPr>
              <a:t>).</a:t>
            </a:r>
            <a:endParaRPr lang="es-NI" dirty="0">
              <a:latin typeface="+mj-lt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6995221" y="2206716"/>
            <a:ext cx="4926952" cy="1399503"/>
            <a:chOff x="6781736" y="3519338"/>
            <a:chExt cx="4926952" cy="1399503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1819" y="3888670"/>
              <a:ext cx="4906869" cy="1030171"/>
            </a:xfrm>
            <a:prstGeom prst="rect">
              <a:avLst/>
            </a:prstGeom>
          </p:spPr>
        </p:pic>
        <p:sp>
          <p:nvSpPr>
            <p:cNvPr id="9" name="CuadroTexto 8"/>
            <p:cNvSpPr txBox="1"/>
            <p:nvPr/>
          </p:nvSpPr>
          <p:spPr>
            <a:xfrm>
              <a:off x="6781736" y="3519338"/>
              <a:ext cx="4926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smtClean="0">
                  <a:latin typeface="+mj-lt"/>
                </a:rPr>
                <a:t>Salida del Programa</a:t>
              </a:r>
              <a:endParaRPr lang="es-NI" dirty="0">
                <a:latin typeface="+mj-lt"/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575934" y="1787422"/>
            <a:ext cx="6205803" cy="3246876"/>
            <a:chOff x="575934" y="1787422"/>
            <a:chExt cx="6205803" cy="3246876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5934" y="1787422"/>
              <a:ext cx="6205803" cy="3246876"/>
            </a:xfrm>
            <a:prstGeom prst="rect">
              <a:avLst/>
            </a:prstGeom>
          </p:spPr>
        </p:pic>
        <p:sp>
          <p:nvSpPr>
            <p:cNvPr id="10" name="Rectángulo 9"/>
            <p:cNvSpPr/>
            <p:nvPr/>
          </p:nvSpPr>
          <p:spPr>
            <a:xfrm>
              <a:off x="1219200" y="4067503"/>
              <a:ext cx="1744717" cy="231228"/>
            </a:xfrm>
            <a:prstGeom prst="rect">
              <a:avLst/>
            </a:prstGeom>
            <a:noFill/>
            <a:ln w="19050">
              <a:solidFill>
                <a:srgbClr val="D719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</p:grpSp>
    </p:spTree>
    <p:extLst>
      <p:ext uri="{BB962C8B-B14F-4D97-AF65-F5344CB8AC3E}">
        <p14:creationId xmlns:p14="http://schemas.microsoft.com/office/powerpoint/2010/main" val="352341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/>
              <a:t>Alternativa Doble (Si-Entonces-Sino/If-Then-Else)</a:t>
            </a:r>
            <a:endParaRPr lang="x-none" dirty="0"/>
          </a:p>
        </p:txBody>
      </p:sp>
      <p:sp>
        <p:nvSpPr>
          <p:cNvPr id="9" name="CuadroTexto 8"/>
          <p:cNvSpPr txBox="1"/>
          <p:nvPr/>
        </p:nvSpPr>
        <p:spPr>
          <a:xfrm>
            <a:off x="567558" y="1303282"/>
            <a:ext cx="11046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400" dirty="0"/>
              <a:t>La estructura </a:t>
            </a:r>
            <a:r>
              <a:rPr lang="es-NI" sz="2400" dirty="0" smtClean="0"/>
              <a:t>anterior (simple), </a:t>
            </a:r>
            <a:r>
              <a:rPr lang="es-NI" sz="2400" dirty="0"/>
              <a:t>es muy </a:t>
            </a:r>
            <a:r>
              <a:rPr lang="es-NI" sz="2400" dirty="0" smtClean="0"/>
              <a:t>limitada, </a:t>
            </a:r>
            <a:r>
              <a:rPr lang="es-NI" sz="2400" dirty="0"/>
              <a:t>y normalmente se necesitará una estructura que permita elegir entre dos opciones o alternativas posibles, en función del cumplimiento o no de una determinada condición. Si la </a:t>
            </a:r>
            <a:r>
              <a:rPr lang="es-NI" sz="2400" dirty="0" smtClean="0"/>
              <a:t>condición </a:t>
            </a:r>
            <a:r>
              <a:rPr lang="es-NI" sz="2400" dirty="0"/>
              <a:t>es </a:t>
            </a:r>
            <a:r>
              <a:rPr lang="es-NI" sz="2400" i="1" dirty="0"/>
              <a:t>verdadera</a:t>
            </a:r>
            <a:r>
              <a:rPr lang="es-NI" sz="2400" dirty="0"/>
              <a:t>, se ejecuta la acción </a:t>
            </a:r>
            <a:r>
              <a:rPr lang="es-NI" sz="2400" i="1" dirty="0" smtClean="0"/>
              <a:t>S1</a:t>
            </a:r>
            <a:r>
              <a:rPr lang="es-NI" sz="2400" dirty="0" smtClean="0"/>
              <a:t>, y </a:t>
            </a:r>
            <a:r>
              <a:rPr lang="es-NI" sz="2400" dirty="0"/>
              <a:t>si es </a:t>
            </a:r>
            <a:r>
              <a:rPr lang="es-NI" sz="2400" i="1" dirty="0"/>
              <a:t>falsa</a:t>
            </a:r>
            <a:r>
              <a:rPr lang="es-NI" sz="2400" dirty="0"/>
              <a:t>, se ejecuta la acción </a:t>
            </a:r>
            <a:r>
              <a:rPr lang="es-NI" sz="2400" i="1" dirty="0" smtClean="0"/>
              <a:t>S2</a:t>
            </a:r>
            <a:r>
              <a:rPr lang="es-NI" sz="2400" dirty="0" smtClean="0"/>
              <a:t>.</a:t>
            </a:r>
            <a:endParaRPr lang="es-NI" sz="3200" dirty="0">
              <a:solidFill>
                <a:srgbClr val="002060"/>
              </a:solidFill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397" y="3258519"/>
            <a:ext cx="3399362" cy="1495007"/>
          </a:xfrm>
          <a:prstGeom prst="rect">
            <a:avLst/>
          </a:prstGeom>
        </p:spPr>
      </p:pic>
      <p:grpSp>
        <p:nvGrpSpPr>
          <p:cNvPr id="4" name="Grupo 3"/>
          <p:cNvGrpSpPr/>
          <p:nvPr/>
        </p:nvGrpSpPr>
        <p:grpSpPr>
          <a:xfrm>
            <a:off x="5368588" y="3172219"/>
            <a:ext cx="4858447" cy="2177547"/>
            <a:chOff x="5358078" y="3172219"/>
            <a:chExt cx="4858447" cy="2177547"/>
          </a:xfrm>
        </p:grpSpPr>
        <p:pic>
          <p:nvPicPr>
            <p:cNvPr id="12" name="Imagen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8078" y="3172219"/>
              <a:ext cx="4858447" cy="2177547"/>
            </a:xfrm>
            <a:prstGeom prst="rect">
              <a:avLst/>
            </a:prstGeom>
          </p:spPr>
        </p:pic>
        <p:sp>
          <p:nvSpPr>
            <p:cNvPr id="2" name="Rectángulo 1"/>
            <p:cNvSpPr/>
            <p:nvPr/>
          </p:nvSpPr>
          <p:spPr>
            <a:xfrm>
              <a:off x="6180084" y="4975328"/>
              <a:ext cx="3563006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NI" sz="1300" dirty="0" smtClean="0"/>
                <a:t>Diagrama de </a:t>
              </a:r>
              <a:r>
                <a:rPr lang="es-NI" sz="1300" dirty="0"/>
                <a:t>flujo de una sentencia </a:t>
              </a:r>
              <a:r>
                <a:rPr lang="es-NI" sz="1300" dirty="0" smtClean="0"/>
                <a:t>if-else.</a:t>
              </a:r>
              <a:endParaRPr lang="es-NI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108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483475" y="1267264"/>
            <a:ext cx="9984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latin typeface="+mj-lt"/>
              </a:rPr>
              <a:t>Programa en C/C++: </a:t>
            </a:r>
            <a:r>
              <a:rPr lang="es-NI" i="1" dirty="0">
                <a:latin typeface="+mj-lt"/>
              </a:rPr>
              <a:t>Calcular el mayor de dos números leídos del teclado y visualizarlo en pantalla.</a:t>
            </a:r>
            <a:endParaRPr lang="es-NI" dirty="0">
              <a:latin typeface="+mj-lt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/>
              <a:t>Alternativa Doble (Si-Entonces-Sino/If-Then-Else)</a:t>
            </a:r>
            <a:endParaRPr lang="x-none" dirty="0"/>
          </a:p>
        </p:txBody>
      </p:sp>
      <p:grpSp>
        <p:nvGrpSpPr>
          <p:cNvPr id="14" name="Grupo 13"/>
          <p:cNvGrpSpPr/>
          <p:nvPr/>
        </p:nvGrpSpPr>
        <p:grpSpPr>
          <a:xfrm>
            <a:off x="7767964" y="2373709"/>
            <a:ext cx="4027324" cy="1042152"/>
            <a:chOff x="7767964" y="2373709"/>
            <a:chExt cx="4027324" cy="1042152"/>
          </a:xfrm>
        </p:grpSpPr>
        <p:sp>
          <p:nvSpPr>
            <p:cNvPr id="9" name="CuadroTexto 8"/>
            <p:cNvSpPr txBox="1"/>
            <p:nvPr/>
          </p:nvSpPr>
          <p:spPr>
            <a:xfrm>
              <a:off x="7767964" y="2373709"/>
              <a:ext cx="4027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smtClean="0">
                  <a:latin typeface="+mj-lt"/>
                </a:rPr>
                <a:t>Salida del Programa</a:t>
              </a:r>
              <a:endParaRPr lang="es-NI" dirty="0">
                <a:latin typeface="+mj-lt"/>
              </a:endParaRPr>
            </a:p>
          </p:txBody>
        </p:sp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7965" y="2772945"/>
              <a:ext cx="4027323" cy="642916"/>
            </a:xfrm>
            <a:prstGeom prst="rect">
              <a:avLst/>
            </a:prstGeom>
          </p:spPr>
        </p:pic>
      </p:grpSp>
      <p:grpSp>
        <p:nvGrpSpPr>
          <p:cNvPr id="2" name="Grupo 1"/>
          <p:cNvGrpSpPr/>
          <p:nvPr/>
        </p:nvGrpSpPr>
        <p:grpSpPr>
          <a:xfrm>
            <a:off x="577247" y="1752450"/>
            <a:ext cx="6791325" cy="3533775"/>
            <a:chOff x="577247" y="1752450"/>
            <a:chExt cx="6791325" cy="3533775"/>
          </a:xfrm>
        </p:grpSpPr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247" y="1752450"/>
              <a:ext cx="6791325" cy="3533775"/>
            </a:xfrm>
            <a:prstGeom prst="rect">
              <a:avLst/>
            </a:prstGeom>
          </p:spPr>
        </p:pic>
        <p:sp>
          <p:nvSpPr>
            <p:cNvPr id="12" name="Rectángulo 11"/>
            <p:cNvSpPr/>
            <p:nvPr/>
          </p:nvSpPr>
          <p:spPr>
            <a:xfrm>
              <a:off x="1439919" y="3699640"/>
              <a:ext cx="1114096" cy="262759"/>
            </a:xfrm>
            <a:prstGeom prst="rect">
              <a:avLst/>
            </a:prstGeom>
            <a:noFill/>
            <a:ln w="19050">
              <a:solidFill>
                <a:srgbClr val="D719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1439920" y="4151586"/>
              <a:ext cx="559001" cy="260926"/>
            </a:xfrm>
            <a:prstGeom prst="rect">
              <a:avLst/>
            </a:prstGeom>
            <a:noFill/>
            <a:ln w="19050">
              <a:solidFill>
                <a:srgbClr val="D719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</p:grpSp>
    </p:spTree>
    <p:extLst>
      <p:ext uri="{BB962C8B-B14F-4D97-AF65-F5344CB8AC3E}">
        <p14:creationId xmlns:p14="http://schemas.microsoft.com/office/powerpoint/2010/main" val="412882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Estructuras de Decisión Anidadas (En Escalera)</a:t>
            </a:r>
            <a:endParaRPr lang="x-none" dirty="0"/>
          </a:p>
        </p:txBody>
      </p:sp>
      <p:sp>
        <p:nvSpPr>
          <p:cNvPr id="9" name="CuadroTexto 8"/>
          <p:cNvSpPr txBox="1"/>
          <p:nvPr/>
        </p:nvSpPr>
        <p:spPr>
          <a:xfrm>
            <a:off x="567558" y="1313915"/>
            <a:ext cx="11046373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+mj-lt"/>
              </a:rPr>
              <a:t>Las estructuras de selección </a:t>
            </a:r>
            <a:r>
              <a:rPr lang="es-NI" sz="2000" b="1" dirty="0">
                <a:latin typeface="+mj-lt"/>
              </a:rPr>
              <a:t>si-entonces</a:t>
            </a:r>
            <a:r>
              <a:rPr lang="es-NI" sz="2000" dirty="0">
                <a:latin typeface="+mj-lt"/>
              </a:rPr>
              <a:t> y </a:t>
            </a:r>
            <a:r>
              <a:rPr lang="es-NI" sz="2000" b="1" dirty="0" smtClean="0">
                <a:latin typeface="+mj-lt"/>
              </a:rPr>
              <a:t>si-entonces-sino,</a:t>
            </a:r>
            <a:r>
              <a:rPr lang="es-NI" sz="2000" dirty="0" smtClean="0">
                <a:latin typeface="+mj-lt"/>
              </a:rPr>
              <a:t> </a:t>
            </a:r>
            <a:r>
              <a:rPr lang="es-NI" sz="2000" dirty="0">
                <a:latin typeface="+mj-lt"/>
              </a:rPr>
              <a:t>implican la selección de una de dos alternativas</a:t>
            </a:r>
            <a:r>
              <a:rPr lang="es-NI" sz="2000" dirty="0" smtClean="0">
                <a:latin typeface="+mj-lt"/>
              </a:rPr>
              <a:t>. Es </a:t>
            </a:r>
            <a:r>
              <a:rPr lang="es-NI" sz="2000" dirty="0">
                <a:latin typeface="+mj-lt"/>
              </a:rPr>
              <a:t>posible también utilizar la instrucción </a:t>
            </a:r>
            <a:r>
              <a:rPr lang="es-NI" sz="2000" b="1" dirty="0">
                <a:latin typeface="+mj-lt"/>
              </a:rPr>
              <a:t>si</a:t>
            </a:r>
            <a:r>
              <a:rPr lang="es-NI" sz="2000" dirty="0">
                <a:latin typeface="+mj-lt"/>
              </a:rPr>
              <a:t> para diseñar estructuras de selección que contengan más de dos alternativas.</a:t>
            </a:r>
          </a:p>
          <a:p>
            <a:pPr algn="just">
              <a:spcBef>
                <a:spcPts val="600"/>
              </a:spcBef>
            </a:pPr>
            <a:r>
              <a:rPr lang="es-NI" sz="2000" dirty="0">
                <a:latin typeface="+mj-lt"/>
              </a:rPr>
              <a:t>Por ejemplo, una estructura </a:t>
            </a:r>
            <a:r>
              <a:rPr lang="es-NI" sz="2000" b="1" dirty="0" smtClean="0">
                <a:latin typeface="+mj-lt"/>
              </a:rPr>
              <a:t>si-entonces,</a:t>
            </a:r>
            <a:r>
              <a:rPr lang="es-NI" sz="2000" dirty="0" smtClean="0">
                <a:latin typeface="+mj-lt"/>
              </a:rPr>
              <a:t> </a:t>
            </a:r>
            <a:r>
              <a:rPr lang="es-NI" sz="2000" dirty="0">
                <a:latin typeface="+mj-lt"/>
              </a:rPr>
              <a:t>puede contener otra estructura </a:t>
            </a:r>
            <a:r>
              <a:rPr lang="es-NI" sz="2000" b="1" dirty="0">
                <a:latin typeface="+mj-lt"/>
              </a:rPr>
              <a:t>si-entonces</a:t>
            </a:r>
            <a:r>
              <a:rPr lang="es-NI" sz="2000" dirty="0">
                <a:latin typeface="+mj-lt"/>
              </a:rPr>
              <a:t>, y </a:t>
            </a:r>
            <a:r>
              <a:rPr lang="es-NI" sz="2000" dirty="0" smtClean="0">
                <a:latin typeface="+mj-lt"/>
              </a:rPr>
              <a:t>ésta </a:t>
            </a:r>
            <a:r>
              <a:rPr lang="es-NI" sz="2000" dirty="0">
                <a:latin typeface="+mj-lt"/>
              </a:rPr>
              <a:t>estructura </a:t>
            </a:r>
            <a:r>
              <a:rPr lang="es-NI" sz="2000" b="1" dirty="0" smtClean="0">
                <a:latin typeface="+mj-lt"/>
              </a:rPr>
              <a:t>si-entonces,</a:t>
            </a:r>
            <a:r>
              <a:rPr lang="es-NI" sz="2000" dirty="0" smtClean="0">
                <a:latin typeface="+mj-lt"/>
              </a:rPr>
              <a:t> </a:t>
            </a:r>
            <a:r>
              <a:rPr lang="es-NI" sz="2000" dirty="0">
                <a:latin typeface="+mj-lt"/>
              </a:rPr>
              <a:t>puede contener otra, y así sucesivamente cualquier número de veces; a su vez, dentro de cada </a:t>
            </a:r>
            <a:r>
              <a:rPr lang="es-NI" sz="2000" dirty="0" smtClean="0">
                <a:latin typeface="+mj-lt"/>
              </a:rPr>
              <a:t>estructura, </a:t>
            </a:r>
            <a:r>
              <a:rPr lang="es-NI" sz="2000" dirty="0">
                <a:latin typeface="+mj-lt"/>
              </a:rPr>
              <a:t>pueden existir diferentes acciones</a:t>
            </a:r>
            <a:r>
              <a:rPr lang="es-NI" sz="2000" dirty="0" smtClean="0">
                <a:latin typeface="+mj-lt"/>
              </a:rPr>
              <a:t>. Una </a:t>
            </a:r>
            <a:r>
              <a:rPr lang="es-NI" sz="2000" dirty="0">
                <a:latin typeface="+mj-lt"/>
              </a:rPr>
              <a:t>sentencia </a:t>
            </a:r>
            <a:r>
              <a:rPr lang="es-NI" sz="2000" b="1" dirty="0" smtClean="0">
                <a:latin typeface="+mj-lt"/>
              </a:rPr>
              <a:t>if,</a:t>
            </a:r>
            <a:r>
              <a:rPr lang="es-NI" sz="2000" dirty="0" smtClean="0">
                <a:latin typeface="+mj-lt"/>
              </a:rPr>
              <a:t> </a:t>
            </a:r>
            <a:r>
              <a:rPr lang="es-NI" sz="2000" dirty="0">
                <a:latin typeface="+mj-lt"/>
              </a:rPr>
              <a:t>es anidada cuando la sentencia de la rama verdadera o la rama falsa, es a su vez </a:t>
            </a:r>
            <a:r>
              <a:rPr lang="es-NI" sz="2000" dirty="0" smtClean="0">
                <a:latin typeface="+mj-lt"/>
              </a:rPr>
              <a:t>una sentencia </a:t>
            </a:r>
            <a:r>
              <a:rPr lang="es-NI" sz="2000" b="1" dirty="0">
                <a:latin typeface="+mj-lt"/>
              </a:rPr>
              <a:t>if</a:t>
            </a:r>
            <a:r>
              <a:rPr lang="es-NI" sz="2000" dirty="0">
                <a:latin typeface="+mj-lt"/>
              </a:rPr>
              <a:t>. Una sentencia </a:t>
            </a:r>
            <a:r>
              <a:rPr lang="es-NI" sz="2000" b="1" dirty="0">
                <a:latin typeface="+mj-lt"/>
              </a:rPr>
              <a:t>if </a:t>
            </a:r>
            <a:r>
              <a:rPr lang="es-NI" sz="2000" dirty="0" smtClean="0">
                <a:latin typeface="+mj-lt"/>
              </a:rPr>
              <a:t>anidada, </a:t>
            </a:r>
            <a:r>
              <a:rPr lang="es-NI" sz="2000" dirty="0">
                <a:latin typeface="+mj-lt"/>
              </a:rPr>
              <a:t>se puede utilizar para implementar decisiones con varias </a:t>
            </a:r>
            <a:r>
              <a:rPr lang="es-NI" sz="2000" dirty="0" smtClean="0">
                <a:latin typeface="+mj-lt"/>
              </a:rPr>
              <a:t>alternativas o </a:t>
            </a:r>
            <a:r>
              <a:rPr lang="es-NI" sz="2000" dirty="0">
                <a:latin typeface="+mj-lt"/>
              </a:rPr>
              <a:t>multi-alternativas</a:t>
            </a:r>
            <a:r>
              <a:rPr lang="es-NI" sz="2000" dirty="0" smtClean="0">
                <a:latin typeface="+mj-lt"/>
              </a:rPr>
              <a:t>.</a:t>
            </a:r>
            <a:endParaRPr lang="es-NI" sz="2000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851005" y="4218280"/>
            <a:ext cx="4761845" cy="2235196"/>
            <a:chOff x="575277" y="3100894"/>
            <a:chExt cx="4372963" cy="1932523"/>
          </a:xfrm>
        </p:grpSpPr>
        <p:grpSp>
          <p:nvGrpSpPr>
            <p:cNvPr id="10" name="Grupo 9"/>
            <p:cNvGrpSpPr/>
            <p:nvPr/>
          </p:nvGrpSpPr>
          <p:grpSpPr>
            <a:xfrm>
              <a:off x="575277" y="3100894"/>
              <a:ext cx="4372963" cy="1932523"/>
              <a:chOff x="575277" y="3100894"/>
              <a:chExt cx="4372963" cy="1932523"/>
            </a:xfrm>
          </p:grpSpPr>
          <p:grpSp>
            <p:nvGrpSpPr>
              <p:cNvPr id="14" name="Grupo 13"/>
              <p:cNvGrpSpPr/>
              <p:nvPr/>
            </p:nvGrpSpPr>
            <p:grpSpPr>
              <a:xfrm>
                <a:off x="575277" y="3100894"/>
                <a:ext cx="4372963" cy="1932523"/>
                <a:chOff x="575277" y="3100894"/>
                <a:chExt cx="4372963" cy="1932523"/>
              </a:xfrm>
            </p:grpSpPr>
            <p:grpSp>
              <p:nvGrpSpPr>
                <p:cNvPr id="16" name="Grupo 15"/>
                <p:cNvGrpSpPr/>
                <p:nvPr/>
              </p:nvGrpSpPr>
              <p:grpSpPr>
                <a:xfrm>
                  <a:off x="575277" y="3100894"/>
                  <a:ext cx="4372963" cy="1932523"/>
                  <a:chOff x="575277" y="3100894"/>
                  <a:chExt cx="4372963" cy="1932523"/>
                </a:xfrm>
              </p:grpSpPr>
              <p:grpSp>
                <p:nvGrpSpPr>
                  <p:cNvPr id="18" name="Grupo 17"/>
                  <p:cNvGrpSpPr/>
                  <p:nvPr/>
                </p:nvGrpSpPr>
                <p:grpSpPr>
                  <a:xfrm>
                    <a:off x="575277" y="3100894"/>
                    <a:ext cx="4372963" cy="1719957"/>
                    <a:chOff x="575277" y="3100894"/>
                    <a:chExt cx="4372963" cy="1719957"/>
                  </a:xfrm>
                </p:grpSpPr>
                <p:pic>
                  <p:nvPicPr>
                    <p:cNvPr id="20" name="Imagen 19"/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575277" y="3100894"/>
                      <a:ext cx="4372963" cy="171995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1" name="Rectángulo 20"/>
                    <p:cNvSpPr/>
                    <p:nvPr/>
                  </p:nvSpPr>
                  <p:spPr>
                    <a:xfrm>
                      <a:off x="1459384" y="4250255"/>
                      <a:ext cx="2743200" cy="50006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NI" dirty="0"/>
                    </a:p>
                  </p:txBody>
                </p:sp>
              </p:grpSp>
              <p:pic>
                <p:nvPicPr>
                  <p:cNvPr id="19" name="Imagen 18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623319" y="4033292"/>
                    <a:ext cx="3162300" cy="100012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7" name="Rectángulo 16"/>
                <p:cNvSpPr/>
                <p:nvPr/>
              </p:nvSpPr>
              <p:spPr>
                <a:xfrm>
                  <a:off x="1713186" y="4033292"/>
                  <a:ext cx="2112580" cy="1393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NI" dirty="0"/>
                </a:p>
              </p:txBody>
            </p:sp>
          </p:grpSp>
          <p:sp>
            <p:nvSpPr>
              <p:cNvPr id="15" name="Rectángulo 14"/>
              <p:cNvSpPr/>
              <p:nvPr/>
            </p:nvSpPr>
            <p:spPr>
              <a:xfrm>
                <a:off x="1912883" y="4403835"/>
                <a:ext cx="2872736" cy="5370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NI" dirty="0"/>
              </a:p>
            </p:txBody>
          </p:sp>
        </p:grpSp>
        <p:sp>
          <p:nvSpPr>
            <p:cNvPr id="11" name="CuadroTexto 10"/>
            <p:cNvSpPr txBox="1"/>
            <p:nvPr/>
          </p:nvSpPr>
          <p:spPr>
            <a:xfrm>
              <a:off x="1839310" y="4373136"/>
              <a:ext cx="210206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</a:t>
              </a:r>
              <a:r>
                <a:rPr lang="es-ES" sz="1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condición</a:t>
              </a:r>
              <a:r>
                <a:rPr lang="es-ES" sz="15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s-ES" sz="1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15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entonces</a:t>
              </a:r>
            </a:p>
            <a:p>
              <a:r>
                <a:rPr lang="es-ES" sz="15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s-NI" sz="1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5712843" y="4218280"/>
            <a:ext cx="5689384" cy="2082433"/>
            <a:chOff x="5597233" y="4249687"/>
            <a:chExt cx="5689384" cy="2082433"/>
          </a:xfrm>
        </p:grpSpPr>
        <p:sp>
          <p:nvSpPr>
            <p:cNvPr id="2" name="Rectángulo 1"/>
            <p:cNvSpPr/>
            <p:nvPr/>
          </p:nvSpPr>
          <p:spPr>
            <a:xfrm>
              <a:off x="5675753" y="6039732"/>
              <a:ext cx="5528278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NI" sz="1300" dirty="0" smtClean="0"/>
                <a:t>Sentencias if-else anidadas.</a:t>
              </a:r>
              <a:endParaRPr lang="es-NI" sz="1300" dirty="0"/>
            </a:p>
          </p:txBody>
        </p:sp>
        <p:pic>
          <p:nvPicPr>
            <p:cNvPr id="22" name="Imagen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7233" y="4249687"/>
              <a:ext cx="5689384" cy="18042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081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88885" y="1267264"/>
            <a:ext cx="1157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latin typeface="+mj-lt"/>
              </a:rPr>
              <a:t>Programa en C/C++: </a:t>
            </a:r>
            <a:r>
              <a:rPr lang="es-NI" dirty="0" smtClean="0">
                <a:latin typeface="+mj-lt"/>
              </a:rPr>
              <a:t>Determinar si un número es negativo, positivo o cero; mediante la sentencia compuesta if-else.</a:t>
            </a:r>
            <a:endParaRPr lang="es-NI" dirty="0">
              <a:latin typeface="+mj-lt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022046" y="2069918"/>
            <a:ext cx="4603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latin typeface="+mj-lt"/>
              </a:rPr>
              <a:t>Salida del Programa</a:t>
            </a:r>
            <a:endParaRPr lang="es-NI" dirty="0">
              <a:latin typeface="+mj-lt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Estructuras de Decisión Anidadas (En Escalera)</a:t>
            </a:r>
            <a:endParaRPr lang="x-none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46" y="2492304"/>
            <a:ext cx="4603605" cy="57673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045" y="3152836"/>
            <a:ext cx="4603605" cy="56517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045" y="3813560"/>
            <a:ext cx="4603605" cy="614587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487607" y="1636596"/>
            <a:ext cx="5776559" cy="4905366"/>
            <a:chOff x="487607" y="1636596"/>
            <a:chExt cx="5776559" cy="4905366"/>
          </a:xfrm>
        </p:grpSpPr>
        <p:pic>
          <p:nvPicPr>
            <p:cNvPr id="12" name="Imagen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607" y="1636596"/>
              <a:ext cx="5776559" cy="4905366"/>
            </a:xfrm>
            <a:prstGeom prst="rect">
              <a:avLst/>
            </a:prstGeom>
          </p:spPr>
        </p:pic>
        <p:sp>
          <p:nvSpPr>
            <p:cNvPr id="16" name="Rectángulo 15"/>
            <p:cNvSpPr/>
            <p:nvPr/>
          </p:nvSpPr>
          <p:spPr>
            <a:xfrm>
              <a:off x="987974" y="3427118"/>
              <a:ext cx="1408386" cy="198951"/>
            </a:xfrm>
            <a:prstGeom prst="rect">
              <a:avLst/>
            </a:prstGeom>
            <a:noFill/>
            <a:ln w="19050">
              <a:solidFill>
                <a:srgbClr val="D719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987974" y="4312247"/>
              <a:ext cx="1818288" cy="217712"/>
            </a:xfrm>
            <a:prstGeom prst="rect">
              <a:avLst/>
            </a:prstGeom>
            <a:noFill/>
            <a:ln w="19050">
              <a:solidFill>
                <a:srgbClr val="D719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18" name="Rectángulo 17"/>
            <p:cNvSpPr/>
            <p:nvPr/>
          </p:nvSpPr>
          <p:spPr>
            <a:xfrm>
              <a:off x="987974" y="5216137"/>
              <a:ext cx="441433" cy="200454"/>
            </a:xfrm>
            <a:prstGeom prst="rect">
              <a:avLst/>
            </a:prstGeom>
            <a:noFill/>
            <a:ln w="19050">
              <a:solidFill>
                <a:srgbClr val="D719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</p:grpSp>
    </p:spTree>
    <p:extLst>
      <p:ext uri="{BB962C8B-B14F-4D97-AF65-F5344CB8AC3E}">
        <p14:creationId xmlns:p14="http://schemas.microsoft.com/office/powerpoint/2010/main" val="120222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Alternativa Múltiple (Según_sea</a:t>
            </a:r>
            <a:r>
              <a:rPr lang="es-NI" dirty="0"/>
              <a:t>, </a:t>
            </a:r>
            <a:r>
              <a:rPr lang="es-NI" dirty="0" err="1" smtClean="0"/>
              <a:t>Caso_de</a:t>
            </a:r>
            <a:r>
              <a:rPr lang="es-NI" dirty="0" smtClean="0"/>
              <a:t>/Case</a:t>
            </a:r>
            <a:r>
              <a:rPr lang="es-NI" dirty="0"/>
              <a:t>)</a:t>
            </a:r>
            <a:endParaRPr lang="x-none" dirty="0"/>
          </a:p>
        </p:txBody>
      </p:sp>
      <p:sp>
        <p:nvSpPr>
          <p:cNvPr id="9" name="CuadroTexto 8"/>
          <p:cNvSpPr txBox="1"/>
          <p:nvPr/>
        </p:nvSpPr>
        <p:spPr>
          <a:xfrm>
            <a:off x="567558" y="1303282"/>
            <a:ext cx="1104637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dirty="0">
                <a:latin typeface="+mj-lt"/>
              </a:rPr>
              <a:t>Con </a:t>
            </a:r>
            <a:r>
              <a:rPr lang="es-NI" dirty="0" smtClean="0">
                <a:latin typeface="+mj-lt"/>
              </a:rPr>
              <a:t>frecuencia </a:t>
            </a:r>
            <a:r>
              <a:rPr lang="es-NI" dirty="0" smtClean="0"/>
              <a:t>—</a:t>
            </a:r>
            <a:r>
              <a:rPr lang="es-NI" dirty="0" smtClean="0">
                <a:latin typeface="+mj-lt"/>
              </a:rPr>
              <a:t>en </a:t>
            </a:r>
            <a:r>
              <a:rPr lang="es-NI" dirty="0">
                <a:latin typeface="+mj-lt"/>
              </a:rPr>
              <a:t>la </a:t>
            </a:r>
            <a:r>
              <a:rPr lang="es-NI" dirty="0" smtClean="0">
                <a:latin typeface="+mj-lt"/>
              </a:rPr>
              <a:t>práctica—, es </a:t>
            </a:r>
            <a:r>
              <a:rPr lang="es-NI" dirty="0">
                <a:latin typeface="+mj-lt"/>
              </a:rPr>
              <a:t>necesario que existan más de dos elecciones posibles (por ejemplo, en la resolución de la ecuación de segundo </a:t>
            </a:r>
            <a:r>
              <a:rPr lang="es-NI" dirty="0" smtClean="0">
                <a:latin typeface="+mj-lt"/>
              </a:rPr>
              <a:t>grado, </a:t>
            </a:r>
            <a:r>
              <a:rPr lang="es-NI" dirty="0">
                <a:latin typeface="+mj-lt"/>
              </a:rPr>
              <a:t>existen tres posibles alternativas o caminos a seguir, según que el discriminante sea negativo, nulo o positivo). Este problema</a:t>
            </a:r>
            <a:r>
              <a:rPr lang="es-NI" dirty="0" smtClean="0">
                <a:latin typeface="+mj-lt"/>
              </a:rPr>
              <a:t>, </a:t>
            </a:r>
            <a:r>
              <a:rPr lang="es-NI" dirty="0">
                <a:latin typeface="+mj-lt"/>
              </a:rPr>
              <a:t>se podría resolver </a:t>
            </a:r>
            <a:r>
              <a:rPr lang="es-NI" dirty="0" smtClean="0">
                <a:latin typeface="+mj-lt"/>
              </a:rPr>
              <a:t>con </a:t>
            </a:r>
            <a:r>
              <a:rPr lang="es-NI" dirty="0">
                <a:latin typeface="+mj-lt"/>
              </a:rPr>
              <a:t>estructuras alternativas simples o dobles, anidadas o en cascada; sin embargo, este </a:t>
            </a:r>
            <a:r>
              <a:rPr lang="es-NI" dirty="0" smtClean="0">
                <a:latin typeface="+mj-lt"/>
              </a:rPr>
              <a:t>método, </a:t>
            </a:r>
            <a:r>
              <a:rPr lang="es-NI" dirty="0">
                <a:latin typeface="+mj-lt"/>
              </a:rPr>
              <a:t>si el número de alternativas es </a:t>
            </a:r>
            <a:r>
              <a:rPr lang="es-NI" dirty="0" smtClean="0">
                <a:latin typeface="+mj-lt"/>
              </a:rPr>
              <a:t>grande, </a:t>
            </a:r>
            <a:r>
              <a:rPr lang="es-NI" dirty="0">
                <a:latin typeface="+mj-lt"/>
              </a:rPr>
              <a:t>puede plantear serios problemas de escritura del algoritmo y naturalmente de legibilidad.</a:t>
            </a:r>
          </a:p>
          <a:p>
            <a:pPr algn="just">
              <a:spcBef>
                <a:spcPts val="600"/>
              </a:spcBef>
            </a:pPr>
            <a:r>
              <a:rPr lang="es-NI" dirty="0">
                <a:latin typeface="+mj-lt"/>
              </a:rPr>
              <a:t>La estructura de decisión </a:t>
            </a:r>
            <a:r>
              <a:rPr lang="es-NI" dirty="0" smtClean="0">
                <a:latin typeface="+mj-lt"/>
              </a:rPr>
              <a:t>múltiple, </a:t>
            </a:r>
            <a:r>
              <a:rPr lang="es-NI" dirty="0">
                <a:latin typeface="+mj-lt"/>
              </a:rPr>
              <a:t>evaluará una expresión que podrá tomar </a:t>
            </a:r>
            <a:r>
              <a:rPr lang="es-NI" b="1" i="1" dirty="0">
                <a:latin typeface="+mj-lt"/>
              </a:rPr>
              <a:t>n</a:t>
            </a:r>
            <a:r>
              <a:rPr lang="es-NI" i="1" dirty="0">
                <a:latin typeface="+mj-lt"/>
              </a:rPr>
              <a:t> </a:t>
            </a:r>
            <a:r>
              <a:rPr lang="es-NI" dirty="0">
                <a:latin typeface="+mj-lt"/>
              </a:rPr>
              <a:t>valores </a:t>
            </a:r>
            <a:r>
              <a:rPr lang="es-NI" dirty="0" smtClean="0">
                <a:latin typeface="+mj-lt"/>
              </a:rPr>
              <a:t>distintos: 1</a:t>
            </a:r>
            <a:r>
              <a:rPr lang="es-NI" dirty="0">
                <a:latin typeface="+mj-lt"/>
              </a:rPr>
              <a:t>, 2, 3, 4, ..., </a:t>
            </a:r>
            <a:r>
              <a:rPr lang="es-NI" b="1" i="1" dirty="0">
                <a:latin typeface="+mj-lt"/>
              </a:rPr>
              <a:t>n</a:t>
            </a:r>
            <a:r>
              <a:rPr lang="es-NI" dirty="0">
                <a:latin typeface="+mj-lt"/>
              </a:rPr>
              <a:t>. Según que elija uno de estos valores en la condición, se realizará una de las </a:t>
            </a:r>
            <a:r>
              <a:rPr lang="es-NI" b="1" i="1" dirty="0">
                <a:latin typeface="+mj-lt"/>
              </a:rPr>
              <a:t>n</a:t>
            </a:r>
            <a:r>
              <a:rPr lang="es-NI" i="1" dirty="0">
                <a:latin typeface="+mj-lt"/>
              </a:rPr>
              <a:t> </a:t>
            </a:r>
            <a:r>
              <a:rPr lang="es-NI" dirty="0">
                <a:latin typeface="+mj-lt"/>
              </a:rPr>
              <a:t>acciones, o lo que es igual, el flujo del algoritmo seguirá un determinado camino entre los </a:t>
            </a:r>
            <a:r>
              <a:rPr lang="es-NI" b="1" i="1" dirty="0">
                <a:latin typeface="+mj-lt"/>
              </a:rPr>
              <a:t>n</a:t>
            </a:r>
            <a:r>
              <a:rPr lang="es-NI" i="1" dirty="0">
                <a:latin typeface="+mj-lt"/>
              </a:rPr>
              <a:t> </a:t>
            </a:r>
            <a:r>
              <a:rPr lang="es-NI" dirty="0">
                <a:latin typeface="+mj-lt"/>
              </a:rPr>
              <a:t>posibles</a:t>
            </a:r>
            <a:r>
              <a:rPr lang="es-NI" dirty="0" smtClean="0">
                <a:latin typeface="+mj-lt"/>
              </a:rPr>
              <a:t>.</a:t>
            </a:r>
            <a:endParaRPr lang="es-NI" dirty="0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15" y="3675158"/>
            <a:ext cx="2450951" cy="3072973"/>
          </a:xfrm>
          <a:prstGeom prst="rect">
            <a:avLst/>
          </a:prstGeom>
        </p:spPr>
      </p:pic>
      <p:grpSp>
        <p:nvGrpSpPr>
          <p:cNvPr id="12" name="Grupo 11"/>
          <p:cNvGrpSpPr/>
          <p:nvPr/>
        </p:nvGrpSpPr>
        <p:grpSpPr>
          <a:xfrm>
            <a:off x="3184610" y="3433756"/>
            <a:ext cx="8279650" cy="2315915"/>
            <a:chOff x="3394813" y="3433756"/>
            <a:chExt cx="8279650" cy="2315915"/>
          </a:xfrm>
        </p:grpSpPr>
        <p:grpSp>
          <p:nvGrpSpPr>
            <p:cNvPr id="4" name="Grupo 3"/>
            <p:cNvGrpSpPr/>
            <p:nvPr/>
          </p:nvGrpSpPr>
          <p:grpSpPr>
            <a:xfrm>
              <a:off x="3394813" y="3675158"/>
              <a:ext cx="6316780" cy="2074513"/>
              <a:chOff x="4014922" y="3611606"/>
              <a:chExt cx="6316780" cy="2074513"/>
            </a:xfrm>
          </p:grpSpPr>
          <p:sp>
            <p:nvSpPr>
              <p:cNvPr id="2" name="Rectángulo 1"/>
              <p:cNvSpPr/>
              <p:nvPr/>
            </p:nvSpPr>
            <p:spPr>
              <a:xfrm>
                <a:off x="4837288" y="5409120"/>
                <a:ext cx="467204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NI" sz="1200" dirty="0"/>
                  <a:t>Diagrama de flujo de la representación de una sentencia </a:t>
                </a:r>
                <a:r>
                  <a:rPr lang="es-NI" sz="1200" dirty="0" smtClean="0"/>
                  <a:t>switch-case.</a:t>
                </a:r>
                <a:endParaRPr lang="es-NI" sz="1200" dirty="0"/>
              </a:p>
            </p:txBody>
          </p:sp>
          <p:pic>
            <p:nvPicPr>
              <p:cNvPr id="24" name="Imagen 2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14922" y="3611606"/>
                <a:ext cx="6316780" cy="1776248"/>
              </a:xfrm>
              <a:prstGeom prst="rect">
                <a:avLst/>
              </a:prstGeom>
            </p:spPr>
          </p:pic>
        </p:grpSp>
        <p:grpSp>
          <p:nvGrpSpPr>
            <p:cNvPr id="11" name="Grupo 10"/>
            <p:cNvGrpSpPr/>
            <p:nvPr/>
          </p:nvGrpSpPr>
          <p:grpSpPr>
            <a:xfrm>
              <a:off x="9644607" y="3433756"/>
              <a:ext cx="2029856" cy="962571"/>
              <a:chOff x="9644607" y="3433756"/>
              <a:chExt cx="2029856" cy="962571"/>
            </a:xfrm>
          </p:grpSpPr>
          <p:pic>
            <p:nvPicPr>
              <p:cNvPr id="6" name="Imagen 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01515" y="3783264"/>
                <a:ext cx="1972948" cy="613063"/>
              </a:xfrm>
              <a:prstGeom prst="rect">
                <a:avLst/>
              </a:prstGeom>
            </p:spPr>
          </p:pic>
          <p:sp>
            <p:nvSpPr>
              <p:cNvPr id="8" name="Llamada ovalada 7"/>
              <p:cNvSpPr/>
              <p:nvPr/>
            </p:nvSpPr>
            <p:spPr>
              <a:xfrm>
                <a:off x="9644607" y="3433756"/>
                <a:ext cx="1771464" cy="241402"/>
              </a:xfrm>
              <a:prstGeom prst="wedgeEllipseCallout">
                <a:avLst>
                  <a:gd name="adj1" fmla="val 28524"/>
                  <a:gd name="adj2" fmla="val 9344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 smtClean="0">
                    <a:solidFill>
                      <a:schemeClr val="tx1"/>
                    </a:solidFill>
                  </a:rPr>
                  <a:t>Discriminante</a:t>
                </a:r>
                <a:endParaRPr lang="es-NI" sz="12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776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67862" y="1267264"/>
            <a:ext cx="11719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latin typeface="+mj-lt"/>
              </a:rPr>
              <a:t>Programa en C/C++: </a:t>
            </a:r>
            <a:r>
              <a:rPr lang="es-ES" dirty="0" smtClean="0">
                <a:latin typeface="+mj-lt"/>
              </a:rPr>
              <a:t>D</a:t>
            </a:r>
            <a:r>
              <a:rPr lang="es-NI" i="1" dirty="0" smtClean="0">
                <a:latin typeface="+mj-lt"/>
              </a:rPr>
              <a:t>ada </a:t>
            </a:r>
            <a:r>
              <a:rPr lang="es-NI" i="1" dirty="0">
                <a:latin typeface="+mj-lt"/>
              </a:rPr>
              <a:t>una nota de un </a:t>
            </a:r>
            <a:r>
              <a:rPr lang="es-NI" i="1" dirty="0" smtClean="0">
                <a:latin typeface="+mj-lt"/>
              </a:rPr>
              <a:t>examen, escribir </a:t>
            </a:r>
            <a:r>
              <a:rPr lang="es-NI" i="1" dirty="0">
                <a:latin typeface="+mj-lt"/>
              </a:rPr>
              <a:t>el literal </a:t>
            </a:r>
            <a:r>
              <a:rPr lang="es-NI" i="1" dirty="0" smtClean="0">
                <a:latin typeface="+mj-lt"/>
              </a:rPr>
              <a:t>evaluativo que </a:t>
            </a:r>
            <a:r>
              <a:rPr lang="es-NI" i="1" dirty="0">
                <a:latin typeface="+mj-lt"/>
              </a:rPr>
              <a:t>le corresponde a la nota</a:t>
            </a:r>
            <a:r>
              <a:rPr lang="es-NI" dirty="0" smtClean="0">
                <a:latin typeface="+mj-lt"/>
              </a:rPr>
              <a:t>.</a:t>
            </a:r>
            <a:endParaRPr lang="es-NI" dirty="0">
              <a:latin typeface="+mj-lt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Alternativa Múltiple (Según_sea</a:t>
            </a:r>
            <a:r>
              <a:rPr lang="es-NI" dirty="0"/>
              <a:t>, </a:t>
            </a:r>
            <a:r>
              <a:rPr lang="es-NI" dirty="0" smtClean="0"/>
              <a:t>Caso de/Case</a:t>
            </a:r>
            <a:r>
              <a:rPr lang="es-NI" dirty="0"/>
              <a:t>)</a:t>
            </a:r>
            <a:endParaRPr lang="x-none" dirty="0"/>
          </a:p>
        </p:txBody>
      </p:sp>
      <p:grpSp>
        <p:nvGrpSpPr>
          <p:cNvPr id="4" name="Grupo 3"/>
          <p:cNvGrpSpPr/>
          <p:nvPr/>
        </p:nvGrpSpPr>
        <p:grpSpPr>
          <a:xfrm>
            <a:off x="7096600" y="2111957"/>
            <a:ext cx="4656155" cy="1150530"/>
            <a:chOff x="7139132" y="2282085"/>
            <a:chExt cx="4656155" cy="1150530"/>
          </a:xfrm>
        </p:grpSpPr>
        <p:sp>
          <p:nvSpPr>
            <p:cNvPr id="9" name="CuadroTexto 8"/>
            <p:cNvSpPr txBox="1"/>
            <p:nvPr/>
          </p:nvSpPr>
          <p:spPr>
            <a:xfrm>
              <a:off x="7139132" y="2282085"/>
              <a:ext cx="4621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smtClean="0">
                  <a:latin typeface="+mj-lt"/>
                </a:rPr>
                <a:t>Salida del Programa</a:t>
              </a:r>
              <a:endParaRPr lang="es-NI" dirty="0">
                <a:latin typeface="+mj-lt"/>
              </a:endParaRPr>
            </a:p>
          </p:txBody>
        </p:sp>
        <p:pic>
          <p:nvPicPr>
            <p:cNvPr id="16" name="Imagen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1553" y="2677676"/>
              <a:ext cx="4653734" cy="754939"/>
            </a:xfrm>
            <a:prstGeom prst="rect">
              <a:avLst/>
            </a:prstGeom>
          </p:spPr>
        </p:pic>
      </p:grpSp>
      <p:grpSp>
        <p:nvGrpSpPr>
          <p:cNvPr id="2" name="Grupo 1"/>
          <p:cNvGrpSpPr/>
          <p:nvPr/>
        </p:nvGrpSpPr>
        <p:grpSpPr>
          <a:xfrm>
            <a:off x="446908" y="1662601"/>
            <a:ext cx="6545259" cy="4517481"/>
            <a:chOff x="446908" y="1662601"/>
            <a:chExt cx="6545259" cy="4517481"/>
          </a:xfrm>
        </p:grpSpPr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908" y="1662601"/>
              <a:ext cx="6545259" cy="4517481"/>
            </a:xfrm>
            <a:prstGeom prst="rect">
              <a:avLst/>
            </a:prstGeom>
          </p:spPr>
        </p:pic>
        <p:sp>
          <p:nvSpPr>
            <p:cNvPr id="17" name="Rectángulo 16"/>
            <p:cNvSpPr/>
            <p:nvPr/>
          </p:nvSpPr>
          <p:spPr>
            <a:xfrm>
              <a:off x="1502980" y="3432615"/>
              <a:ext cx="861848" cy="1854088"/>
            </a:xfrm>
            <a:prstGeom prst="rect">
              <a:avLst/>
            </a:prstGeom>
            <a:noFill/>
            <a:ln w="19050">
              <a:solidFill>
                <a:srgbClr val="D719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</p:grpSp>
    </p:spTree>
    <p:extLst>
      <p:ext uri="{BB962C8B-B14F-4D97-AF65-F5344CB8AC3E}">
        <p14:creationId xmlns:p14="http://schemas.microsoft.com/office/powerpoint/2010/main" val="392314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Consideraciones sobre Sentencias Selectivas</a:t>
            </a:r>
            <a:endParaRPr lang="x-none" dirty="0"/>
          </a:p>
        </p:txBody>
      </p:sp>
      <p:sp>
        <p:nvSpPr>
          <p:cNvPr id="7" name="CuadroTexto 6"/>
          <p:cNvSpPr txBox="1"/>
          <p:nvPr/>
        </p:nvSpPr>
        <p:spPr>
          <a:xfrm>
            <a:off x="567558" y="1303282"/>
            <a:ext cx="1104637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100" dirty="0">
                <a:latin typeface="+mj-lt"/>
              </a:rPr>
              <a:t>Las estructuras de selección </a:t>
            </a:r>
            <a:r>
              <a:rPr lang="es-NI" sz="2100" b="1" dirty="0">
                <a:latin typeface="+mj-lt"/>
              </a:rPr>
              <a:t>si </a:t>
            </a:r>
            <a:r>
              <a:rPr lang="es-NI" sz="2100" dirty="0">
                <a:latin typeface="+mj-lt"/>
              </a:rPr>
              <a:t>y </a:t>
            </a:r>
            <a:r>
              <a:rPr lang="es-NI" sz="2100" b="1" dirty="0" smtClean="0">
                <a:latin typeface="+mj-lt"/>
              </a:rPr>
              <a:t>según_sea, </a:t>
            </a:r>
            <a:r>
              <a:rPr lang="es-NI" sz="2100" dirty="0">
                <a:latin typeface="+mj-lt"/>
              </a:rPr>
              <a:t>son sentencias de bifurcación que se ejecutan en función de sus elementos relacionados en las expresiones o condiciones correspondientes que se forman con operadores lógicos y de comparación. Estas sentencias permiten escribir algoritmos que realizan </a:t>
            </a:r>
            <a:r>
              <a:rPr lang="es-NI" sz="2100" dirty="0" smtClean="0">
                <a:latin typeface="+mj-lt"/>
              </a:rPr>
              <a:t>tomas de </a:t>
            </a:r>
            <a:r>
              <a:rPr lang="es-NI" sz="2100" dirty="0">
                <a:latin typeface="+mj-lt"/>
              </a:rPr>
              <a:t>decisiones y reaccionan de modos diferentes a datos diferentes.</a:t>
            </a:r>
          </a:p>
          <a:p>
            <a:pPr algn="just"/>
            <a:endParaRPr lang="es-NI" sz="800" dirty="0">
              <a:latin typeface="+mj-l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NI" sz="2100" dirty="0" smtClean="0">
                <a:latin typeface="+mj-lt"/>
              </a:rPr>
              <a:t>Una </a:t>
            </a:r>
            <a:r>
              <a:rPr lang="es-NI" sz="2100" dirty="0">
                <a:latin typeface="+mj-lt"/>
              </a:rPr>
              <a:t>sentencia de </a:t>
            </a:r>
            <a:r>
              <a:rPr lang="es-NI" sz="2100" dirty="0" smtClean="0">
                <a:latin typeface="+mj-lt"/>
              </a:rPr>
              <a:t>bifurcación, </a:t>
            </a:r>
            <a:r>
              <a:rPr lang="es-NI" sz="2100" dirty="0">
                <a:latin typeface="+mj-lt"/>
              </a:rPr>
              <a:t>es una construcción del lenguaje que utiliza una condición dada (</a:t>
            </a:r>
            <a:r>
              <a:rPr lang="es-NI" sz="2100" dirty="0" smtClean="0">
                <a:latin typeface="+mj-lt"/>
              </a:rPr>
              <a:t>expresión booleana</a:t>
            </a:r>
            <a:r>
              <a:rPr lang="es-NI" sz="2100" dirty="0">
                <a:latin typeface="+mj-lt"/>
              </a:rPr>
              <a:t>) para decidir entre dos o más direcciones alternativas (ramas o bifurcaciones) </a:t>
            </a:r>
            <a:r>
              <a:rPr lang="es-NI" sz="2100" dirty="0" smtClean="0">
                <a:latin typeface="+mj-lt"/>
              </a:rPr>
              <a:t>a seguir </a:t>
            </a:r>
            <a:r>
              <a:rPr lang="es-NI" sz="2100" dirty="0">
                <a:latin typeface="+mj-lt"/>
              </a:rPr>
              <a:t>en un algoritmo.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s-NI" sz="2100" dirty="0" smtClean="0">
                <a:latin typeface="+mj-lt"/>
              </a:rPr>
              <a:t>Un </a:t>
            </a:r>
            <a:r>
              <a:rPr lang="es-NI" sz="2100" dirty="0">
                <a:latin typeface="+mj-lt"/>
              </a:rPr>
              <a:t>programa sin ninguna sentencia de bifurcación o </a:t>
            </a:r>
            <a:r>
              <a:rPr lang="es-NI" sz="2100" dirty="0" smtClean="0">
                <a:latin typeface="+mj-lt"/>
              </a:rPr>
              <a:t>iteración, </a:t>
            </a:r>
            <a:r>
              <a:rPr lang="es-NI" sz="2100" dirty="0">
                <a:latin typeface="+mj-lt"/>
              </a:rPr>
              <a:t>se ejecuta secuencialmente, en el </a:t>
            </a:r>
            <a:r>
              <a:rPr lang="es-NI" sz="2100" dirty="0" smtClean="0">
                <a:latin typeface="+mj-lt"/>
              </a:rPr>
              <a:t>orden en </a:t>
            </a:r>
            <a:r>
              <a:rPr lang="es-NI" sz="2100" dirty="0">
                <a:latin typeface="+mj-lt"/>
              </a:rPr>
              <a:t>que están escritas las sentencias en el código fuente o algoritmo. Estas sentencias se </a:t>
            </a:r>
            <a:r>
              <a:rPr lang="es-NI" sz="2100" dirty="0" smtClean="0">
                <a:latin typeface="+mj-lt"/>
              </a:rPr>
              <a:t>denominan secuenciales</a:t>
            </a:r>
            <a:r>
              <a:rPr lang="es-NI" sz="2100" dirty="0">
                <a:latin typeface="+mj-lt"/>
              </a:rPr>
              <a:t>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s-NI" sz="2100" dirty="0" smtClean="0">
                <a:latin typeface="+mj-lt"/>
              </a:rPr>
              <a:t>La </a:t>
            </a:r>
            <a:r>
              <a:rPr lang="es-NI" sz="2100" dirty="0">
                <a:latin typeface="+mj-lt"/>
              </a:rPr>
              <a:t>sentencia </a:t>
            </a:r>
            <a:r>
              <a:rPr lang="es-NI" sz="2100" b="1" dirty="0" smtClean="0">
                <a:latin typeface="+mj-lt"/>
              </a:rPr>
              <a:t>si, </a:t>
            </a:r>
            <a:r>
              <a:rPr lang="es-NI" sz="2100" dirty="0">
                <a:latin typeface="+mj-lt"/>
              </a:rPr>
              <a:t>es la sentencia de decisión o selectiva fundamental. Contiene una expresión </a:t>
            </a:r>
            <a:r>
              <a:rPr lang="es-NI" sz="2100" dirty="0" smtClean="0">
                <a:latin typeface="+mj-lt"/>
              </a:rPr>
              <a:t>booleana que </a:t>
            </a:r>
            <a:r>
              <a:rPr lang="es-NI" sz="2100" dirty="0">
                <a:latin typeface="+mj-lt"/>
              </a:rPr>
              <a:t>controla si se ejecuta una sentencia (simple o compuesta).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s-NI" sz="2100" dirty="0" smtClean="0">
                <a:latin typeface="+mj-lt"/>
              </a:rPr>
              <a:t>Combinando </a:t>
            </a:r>
            <a:r>
              <a:rPr lang="es-NI" sz="2100" dirty="0">
                <a:latin typeface="+mj-lt"/>
              </a:rPr>
              <a:t>una sentencia </a:t>
            </a:r>
            <a:r>
              <a:rPr lang="es-NI" sz="2100" b="1" dirty="0">
                <a:latin typeface="+mj-lt"/>
              </a:rPr>
              <a:t>si </a:t>
            </a:r>
            <a:r>
              <a:rPr lang="es-NI" sz="2100" dirty="0">
                <a:latin typeface="+mj-lt"/>
              </a:rPr>
              <a:t>con una cláusula </a:t>
            </a:r>
            <a:r>
              <a:rPr lang="es-NI" sz="2100" b="1" dirty="0">
                <a:latin typeface="+mj-lt"/>
              </a:rPr>
              <a:t>sino</a:t>
            </a:r>
            <a:r>
              <a:rPr lang="es-NI" sz="2100" dirty="0">
                <a:latin typeface="+mj-lt"/>
              </a:rPr>
              <a:t>, el algoritmo puede elegir entre la </a:t>
            </a:r>
            <a:r>
              <a:rPr lang="es-NI" sz="2100" dirty="0" smtClean="0">
                <a:latin typeface="+mj-lt"/>
              </a:rPr>
              <a:t>ejecución de </a:t>
            </a:r>
            <a:r>
              <a:rPr lang="es-NI" sz="2100" dirty="0">
                <a:latin typeface="+mj-lt"/>
              </a:rPr>
              <a:t>una o dos acciones alternativas (simple o compuesta</a:t>
            </a:r>
            <a:r>
              <a:rPr lang="es-NI" sz="2100" dirty="0" smtClean="0">
                <a:latin typeface="+mj-lt"/>
              </a:rPr>
              <a:t>).</a:t>
            </a:r>
            <a:endParaRPr lang="es-NI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9507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567558" y="1303282"/>
            <a:ext cx="1104637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5"/>
            </a:pPr>
            <a:r>
              <a:rPr lang="es-NI" sz="2100" dirty="0" smtClean="0">
                <a:latin typeface="+mj-lt"/>
              </a:rPr>
              <a:t>Las </a:t>
            </a:r>
            <a:r>
              <a:rPr lang="es-NI" sz="2100" dirty="0">
                <a:latin typeface="+mj-lt"/>
              </a:rPr>
              <a:t>expresiones relacionales, también denominadas </a:t>
            </a:r>
            <a:r>
              <a:rPr lang="es-NI" sz="2100" i="1" dirty="0">
                <a:latin typeface="+mj-lt"/>
              </a:rPr>
              <a:t>condiciones simples, </a:t>
            </a:r>
            <a:r>
              <a:rPr lang="es-NI" sz="2100" dirty="0">
                <a:latin typeface="+mj-lt"/>
              </a:rPr>
              <a:t>se utilizan para comparar operandos. Si una expresión relacional es </a:t>
            </a:r>
            <a:r>
              <a:rPr lang="es-NI" sz="2100" i="1" dirty="0">
                <a:latin typeface="+mj-lt"/>
              </a:rPr>
              <a:t>verdadera</a:t>
            </a:r>
            <a:r>
              <a:rPr lang="es-NI" sz="2100" dirty="0">
                <a:latin typeface="+mj-lt"/>
              </a:rPr>
              <a:t>, el valor de la expresión se considera </a:t>
            </a:r>
            <a:r>
              <a:rPr lang="es-NI" sz="2400" dirty="0" smtClean="0"/>
              <a:t>—</a:t>
            </a:r>
            <a:r>
              <a:rPr lang="es-NI" sz="2100" dirty="0" smtClean="0">
                <a:latin typeface="+mj-lt"/>
              </a:rPr>
              <a:t>en </a:t>
            </a:r>
            <a:r>
              <a:rPr lang="es-NI" sz="2100" dirty="0">
                <a:latin typeface="+mj-lt"/>
              </a:rPr>
              <a:t>los lenguajes de </a:t>
            </a:r>
            <a:r>
              <a:rPr lang="es-NI" sz="2100" dirty="0" smtClean="0">
                <a:latin typeface="+mj-lt"/>
              </a:rPr>
              <a:t>programación</a:t>
            </a:r>
            <a:r>
              <a:rPr lang="es-NI" sz="2400" dirty="0" smtClean="0"/>
              <a:t>—</a:t>
            </a:r>
            <a:r>
              <a:rPr lang="es-NI" sz="2100" dirty="0" smtClean="0">
                <a:latin typeface="+mj-lt"/>
              </a:rPr>
              <a:t> </a:t>
            </a:r>
            <a:r>
              <a:rPr lang="es-NI" sz="2100" dirty="0">
                <a:latin typeface="+mj-lt"/>
              </a:rPr>
              <a:t>el entero 1. Si la expresión relacional es </a:t>
            </a:r>
            <a:r>
              <a:rPr lang="es-NI" sz="2100" i="1" dirty="0">
                <a:latin typeface="+mj-lt"/>
              </a:rPr>
              <a:t>falsa</a:t>
            </a:r>
            <a:r>
              <a:rPr lang="es-NI" sz="2100" dirty="0">
                <a:latin typeface="+mj-lt"/>
              </a:rPr>
              <a:t>, entonces toma el valor entero de 0.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s-NI" sz="2100" dirty="0" smtClean="0">
                <a:latin typeface="+mj-lt"/>
              </a:rPr>
              <a:t>Se </a:t>
            </a:r>
            <a:r>
              <a:rPr lang="es-NI" sz="2100" dirty="0">
                <a:latin typeface="+mj-lt"/>
              </a:rPr>
              <a:t>pueden construir condiciones complejas utilizando expresiones relacionales mediante los </a:t>
            </a:r>
            <a:r>
              <a:rPr lang="es-NI" sz="2100" dirty="0" smtClean="0">
                <a:latin typeface="+mj-lt"/>
              </a:rPr>
              <a:t>operadores lógicos: </a:t>
            </a:r>
            <a:r>
              <a:rPr lang="es-NI" sz="2100" b="1" dirty="0">
                <a:latin typeface="+mj-lt"/>
              </a:rPr>
              <a:t>Y</a:t>
            </a:r>
            <a:r>
              <a:rPr lang="es-NI" sz="2100" dirty="0">
                <a:latin typeface="+mj-lt"/>
              </a:rPr>
              <a:t>, </a:t>
            </a:r>
            <a:r>
              <a:rPr lang="es-NI" sz="2100" b="1" dirty="0">
                <a:latin typeface="+mj-lt"/>
              </a:rPr>
              <a:t>O</a:t>
            </a:r>
            <a:r>
              <a:rPr lang="es-NI" sz="2100" dirty="0">
                <a:latin typeface="+mj-lt"/>
              </a:rPr>
              <a:t>, </a:t>
            </a:r>
            <a:r>
              <a:rPr lang="es-NI" sz="2100" b="1" dirty="0">
                <a:latin typeface="+mj-lt"/>
              </a:rPr>
              <a:t>NO</a:t>
            </a:r>
            <a:r>
              <a:rPr lang="es-NI" sz="2100" dirty="0">
                <a:latin typeface="+mj-lt"/>
              </a:rPr>
              <a:t>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s-NI" sz="2100" dirty="0" smtClean="0">
                <a:latin typeface="+mj-lt"/>
              </a:rPr>
              <a:t>Una </a:t>
            </a:r>
            <a:r>
              <a:rPr lang="es-NI" sz="2100" dirty="0">
                <a:latin typeface="+mj-lt"/>
              </a:rPr>
              <a:t>sentencia </a:t>
            </a:r>
            <a:r>
              <a:rPr lang="es-NI" sz="2100" b="1" dirty="0" smtClean="0">
                <a:latin typeface="+mj-lt"/>
              </a:rPr>
              <a:t>si-entonces, </a:t>
            </a:r>
            <a:r>
              <a:rPr lang="es-NI" sz="2100" dirty="0">
                <a:latin typeface="+mj-lt"/>
              </a:rPr>
              <a:t>se utiliza para seleccionar entre dos sentencias alternativas basadas </a:t>
            </a:r>
            <a:r>
              <a:rPr lang="es-NI" sz="2100" dirty="0" smtClean="0">
                <a:latin typeface="+mj-lt"/>
              </a:rPr>
              <a:t>en el </a:t>
            </a:r>
            <a:r>
              <a:rPr lang="es-NI" sz="2100" dirty="0">
                <a:latin typeface="+mj-lt"/>
              </a:rPr>
              <a:t>valor de una expresión. Aunque las expresiones relacionales se utilizan normalmente para la </a:t>
            </a:r>
            <a:r>
              <a:rPr lang="es-NI" sz="2100" dirty="0" smtClean="0">
                <a:latin typeface="+mj-lt"/>
              </a:rPr>
              <a:t>expresión a </a:t>
            </a:r>
            <a:r>
              <a:rPr lang="es-NI" sz="2100" dirty="0">
                <a:latin typeface="+mj-lt"/>
              </a:rPr>
              <a:t>comprobar, se puede utilizar cualquier expresión válida. Si la expresión (condición) es </a:t>
            </a:r>
            <a:r>
              <a:rPr lang="es-NI" sz="2100" i="1" dirty="0" smtClean="0">
                <a:latin typeface="+mj-lt"/>
              </a:rPr>
              <a:t>verdadera</a:t>
            </a:r>
            <a:r>
              <a:rPr lang="es-NI" sz="2100" dirty="0" smtClean="0">
                <a:latin typeface="+mj-lt"/>
              </a:rPr>
              <a:t>, </a:t>
            </a:r>
            <a:r>
              <a:rPr lang="es-NI" sz="2100" dirty="0">
                <a:latin typeface="+mj-lt"/>
              </a:rPr>
              <a:t>se ejecuta la </a:t>
            </a:r>
            <a:r>
              <a:rPr lang="es-NI" sz="2100" i="1" dirty="0" smtClean="0">
                <a:latin typeface="+mj-lt"/>
              </a:rPr>
              <a:t>sentencia1</a:t>
            </a:r>
            <a:r>
              <a:rPr lang="es-NI" sz="2100" dirty="0" smtClean="0">
                <a:latin typeface="+mj-lt"/>
              </a:rPr>
              <a:t>, </a:t>
            </a:r>
            <a:r>
              <a:rPr lang="es-NI" sz="2100" dirty="0">
                <a:latin typeface="+mj-lt"/>
              </a:rPr>
              <a:t>y en </a:t>
            </a:r>
            <a:r>
              <a:rPr lang="es-NI" sz="2100" i="1" dirty="0">
                <a:latin typeface="+mj-lt"/>
              </a:rPr>
              <a:t>caso </a:t>
            </a:r>
            <a:r>
              <a:rPr lang="es-NI" sz="2100" i="1" dirty="0" smtClean="0">
                <a:latin typeface="+mj-lt"/>
              </a:rPr>
              <a:t>contrario</a:t>
            </a:r>
            <a:r>
              <a:rPr lang="es-NI" sz="2100" dirty="0" smtClean="0">
                <a:latin typeface="+mj-lt"/>
              </a:rPr>
              <a:t>, </a:t>
            </a:r>
            <a:r>
              <a:rPr lang="es-NI" sz="2100" dirty="0">
                <a:latin typeface="+mj-lt"/>
              </a:rPr>
              <a:t>se ejecuta la </a:t>
            </a:r>
            <a:r>
              <a:rPr lang="es-NI" sz="2100" i="1" dirty="0" smtClean="0">
                <a:latin typeface="+mj-lt"/>
              </a:rPr>
              <a:t>sentencia2</a:t>
            </a:r>
            <a:r>
              <a:rPr lang="es-NI" sz="2100" dirty="0" smtClean="0">
                <a:latin typeface="+mj-lt"/>
              </a:rPr>
              <a:t>.</a:t>
            </a:r>
            <a:endParaRPr lang="es-NI" sz="2100" dirty="0">
              <a:latin typeface="+mj-lt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s-NI" sz="2100" dirty="0" smtClean="0">
                <a:latin typeface="+mj-lt"/>
              </a:rPr>
              <a:t>Una </a:t>
            </a:r>
            <a:r>
              <a:rPr lang="es-NI" sz="2100" dirty="0">
                <a:latin typeface="+mj-lt"/>
              </a:rPr>
              <a:t>sentencia </a:t>
            </a:r>
            <a:r>
              <a:rPr lang="es-NI" sz="2100" dirty="0" smtClean="0">
                <a:latin typeface="+mj-lt"/>
              </a:rPr>
              <a:t>compuesta, </a:t>
            </a:r>
            <a:r>
              <a:rPr lang="es-NI" sz="2100" dirty="0">
                <a:latin typeface="+mj-lt"/>
              </a:rPr>
              <a:t>consta de cualquier número de sentencias individuales encerradas dentro de las palabras reservadas inicio y fin (en el caso de lenguajes de programación como C y C++, entre una pareja de </a:t>
            </a:r>
            <a:r>
              <a:rPr lang="es-NI" sz="2100" dirty="0" smtClean="0">
                <a:latin typeface="+mj-lt"/>
              </a:rPr>
              <a:t>llaves: { </a:t>
            </a:r>
            <a:r>
              <a:rPr lang="es-NI" sz="2100" dirty="0">
                <a:latin typeface="+mj-lt"/>
              </a:rPr>
              <a:t>y </a:t>
            </a:r>
            <a:r>
              <a:rPr lang="es-NI" sz="2100" dirty="0" smtClean="0">
                <a:latin typeface="+mj-lt"/>
              </a:rPr>
              <a:t>}). </a:t>
            </a:r>
            <a:r>
              <a:rPr lang="es-NI" sz="2100" dirty="0">
                <a:latin typeface="+mj-lt"/>
              </a:rPr>
              <a:t>Las sentencias </a:t>
            </a:r>
            <a:r>
              <a:rPr lang="es-NI" sz="2100" dirty="0" smtClean="0">
                <a:latin typeface="+mj-lt"/>
              </a:rPr>
              <a:t>compuestas, </a:t>
            </a:r>
            <a:r>
              <a:rPr lang="es-NI" sz="2100" dirty="0">
                <a:latin typeface="+mj-lt"/>
              </a:rPr>
              <a:t>se tratan como si fuesen una única </a:t>
            </a:r>
            <a:r>
              <a:rPr lang="es-NI" sz="2100" dirty="0" smtClean="0">
                <a:latin typeface="+mj-lt"/>
              </a:rPr>
              <a:t>unidad, </a:t>
            </a:r>
            <a:r>
              <a:rPr lang="es-NI" sz="2100" dirty="0">
                <a:latin typeface="+mj-lt"/>
              </a:rPr>
              <a:t>y se pueden utilizar en </a:t>
            </a:r>
            <a:r>
              <a:rPr lang="es-NI" sz="2100" dirty="0" smtClean="0">
                <a:latin typeface="+mj-lt"/>
              </a:rPr>
              <a:t>cualquier parte </a:t>
            </a:r>
            <a:r>
              <a:rPr lang="es-NI" sz="2100" dirty="0">
                <a:latin typeface="+mj-lt"/>
              </a:rPr>
              <a:t>en que se utilice una sentencia simple</a:t>
            </a:r>
            <a:r>
              <a:rPr lang="es-NI" sz="2100" dirty="0" smtClean="0">
                <a:latin typeface="+mj-lt"/>
              </a:rPr>
              <a:t>.</a:t>
            </a:r>
            <a:endParaRPr lang="es-NI" sz="2100" dirty="0">
              <a:latin typeface="+mj-lt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Consideraciones sobre Sentencias Selectivas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14519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567558" y="1303282"/>
            <a:ext cx="11046373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9"/>
            </a:pPr>
            <a:r>
              <a:rPr lang="es-NI" sz="2100" dirty="0"/>
              <a:t>Anidando sentencias </a:t>
            </a:r>
            <a:r>
              <a:rPr lang="es-NI" sz="2100" b="1" dirty="0"/>
              <a:t>si</a:t>
            </a:r>
            <a:r>
              <a:rPr lang="es-NI" sz="2100" dirty="0"/>
              <a:t>, unas dentro de otras, se pueden diseñar construcciones que pueden </a:t>
            </a:r>
            <a:r>
              <a:rPr lang="es-NI" sz="2100" dirty="0" smtClean="0"/>
              <a:t>elegir entre </a:t>
            </a:r>
            <a:r>
              <a:rPr lang="es-NI" sz="2100" dirty="0"/>
              <a:t>ejecutar cualquier número de acciones (sentencias) diferentes (simples o compuestas).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 startAt="10"/>
            </a:pPr>
            <a:r>
              <a:rPr lang="es-NI" sz="2100" b="1" dirty="0" smtClean="0"/>
              <a:t>En según_sea</a:t>
            </a:r>
            <a:r>
              <a:rPr lang="es-NI" sz="2100" dirty="0" smtClean="0"/>
              <a:t>, el </a:t>
            </a:r>
            <a:r>
              <a:rPr lang="es-NI" sz="2100" dirty="0"/>
              <a:t>valor de la expresión entera se compara con cada una de las constantes enteras (también pueden ser carácter o expresiones constantes). La ejecución del </a:t>
            </a:r>
            <a:r>
              <a:rPr lang="es-NI" sz="2100" dirty="0" smtClean="0"/>
              <a:t>programa, </a:t>
            </a:r>
            <a:r>
              <a:rPr lang="es-NI" sz="2100" dirty="0"/>
              <a:t>se transfiere a la primera sentencia compuesta cuya etiqueta precedente (valor e1, e2</a:t>
            </a:r>
            <a:r>
              <a:rPr lang="es-NI" sz="2100" dirty="0" smtClean="0"/>
              <a:t>, …) </a:t>
            </a:r>
            <a:r>
              <a:rPr lang="es-NI" sz="2100" dirty="0"/>
              <a:t>coincida con el valor de esa </a:t>
            </a:r>
            <a:r>
              <a:rPr lang="es-NI" sz="2100" dirty="0" smtClean="0"/>
              <a:t>expresión, </a:t>
            </a:r>
            <a:r>
              <a:rPr lang="es-NI" sz="2100" dirty="0"/>
              <a:t>y continúa su ejecución hasta la última sentencia de ese bloque, y a continuación termina la sentencia </a:t>
            </a:r>
            <a:r>
              <a:rPr lang="es-NI" sz="2100" b="1" dirty="0"/>
              <a:t>según_sea</a:t>
            </a:r>
            <a:r>
              <a:rPr lang="es-NI" sz="2100" dirty="0"/>
              <a:t>. En caso de que el valor de la expresión no coincida con ningún valor de la lista, entonces se </a:t>
            </a:r>
            <a:r>
              <a:rPr lang="es-NI" sz="2100" dirty="0" smtClean="0"/>
              <a:t>ejecutan </a:t>
            </a:r>
            <a:r>
              <a:rPr lang="es-NI" sz="2100" dirty="0"/>
              <a:t>las sentencias que vienen a continuación de la cláusula </a:t>
            </a:r>
            <a:r>
              <a:rPr lang="es-NI" sz="2100" b="1" dirty="0"/>
              <a:t>otros</a:t>
            </a:r>
            <a:r>
              <a:rPr lang="es-NI" sz="2100" dirty="0" smtClean="0"/>
              <a:t>.</a:t>
            </a:r>
            <a:r>
              <a:rPr lang="es-NI" sz="2100" dirty="0"/>
              <a:t> Normalmente, es más recomendable usar sentencias </a:t>
            </a:r>
            <a:r>
              <a:rPr lang="es-NI" sz="2100" b="1" dirty="0"/>
              <a:t>según_ sea </a:t>
            </a:r>
            <a:r>
              <a:rPr lang="es-NI" sz="2100" dirty="0"/>
              <a:t>que sentencias </a:t>
            </a:r>
            <a:r>
              <a:rPr lang="es-NI" sz="2100" b="1" dirty="0"/>
              <a:t>si-entonces </a:t>
            </a:r>
            <a:r>
              <a:rPr lang="es-NI" sz="2100" dirty="0" smtClean="0"/>
              <a:t>anidadas, </a:t>
            </a:r>
            <a:r>
              <a:rPr lang="es-NI" sz="2100" dirty="0"/>
              <a:t>porque ofrecen un código más simple, más claro y más eficiente</a:t>
            </a:r>
            <a:r>
              <a:rPr lang="es-NI" sz="2100" dirty="0" smtClean="0"/>
              <a:t>.</a:t>
            </a:r>
            <a:endParaRPr lang="es-NI" sz="2100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Consideraciones sobre Sentencias Selectivas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32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25517" y="1435536"/>
            <a:ext cx="111065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Clr>
                <a:srgbClr val="0099A8"/>
              </a:buClr>
              <a:buFont typeface="Arial" panose="020B0604020202020204" pitchFamily="34" charset="0"/>
              <a:buChar char="▪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Libre Franklin"/>
                <a:cs typeface="Arial" panose="020B0604020202020204" pitchFamily="34" charset="0"/>
              </a:rPr>
              <a:t>Joyanes, L. (4</a:t>
            </a:r>
            <a:r>
              <a:rPr lang="es-MX" sz="2400" baseline="30000" dirty="0">
                <a:solidFill>
                  <a:srgbClr val="000000"/>
                </a:solidFill>
                <a:latin typeface="Arial" panose="020B0604020202020204" pitchFamily="34" charset="0"/>
                <a:ea typeface="Libre Franklin"/>
                <a:cs typeface="Arial" panose="020B0604020202020204" pitchFamily="34" charset="0"/>
              </a:rPr>
              <a:t>ta.</a:t>
            </a: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Libre Franklin"/>
                <a:cs typeface="Arial" panose="020B0604020202020204" pitchFamily="34" charset="0"/>
              </a:rPr>
              <a:t> Ed.). Fundamentos de Programación. Algoritmos, estructura de datos y objetos (pp. 127-148). Madrid: McGraw-Hill/Interamericana</a:t>
            </a:r>
            <a:r>
              <a:rPr lang="es-MX" sz="2400" dirty="0" smtClean="0">
                <a:solidFill>
                  <a:srgbClr val="000000"/>
                </a:solidFill>
                <a:latin typeface="Arial" panose="020B0604020202020204" pitchFamily="34" charset="0"/>
                <a:ea typeface="Libre Franklin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spcAft>
                <a:spcPts val="0"/>
              </a:spcAft>
              <a:buClr>
                <a:srgbClr val="0099A8"/>
              </a:buClr>
              <a:buFont typeface="Arial" panose="020B0604020202020204" pitchFamily="34" charset="0"/>
              <a:buChar char="▪"/>
            </a:pPr>
            <a:endParaRPr lang="es-NI" sz="2400" dirty="0">
              <a:latin typeface="Arial" panose="020B0604020202020204" pitchFamily="34" charset="0"/>
              <a:ea typeface="Noto Sans Symbols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Clr>
                <a:srgbClr val="0099A8"/>
              </a:buClr>
              <a:buFont typeface="Arial" panose="020B0604020202020204" pitchFamily="34" charset="0"/>
              <a:buChar char="▪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Libre Franklin"/>
                <a:cs typeface="Arial" panose="020B0604020202020204" pitchFamily="34" charset="0"/>
              </a:rPr>
              <a:t>Gottfried, B. (2</a:t>
            </a:r>
            <a:r>
              <a:rPr lang="es-MX" sz="2400" baseline="30000" dirty="0">
                <a:solidFill>
                  <a:srgbClr val="000000"/>
                </a:solidFill>
                <a:latin typeface="Arial" panose="020B0604020202020204" pitchFamily="34" charset="0"/>
                <a:ea typeface="Libre Franklin"/>
                <a:cs typeface="Arial" panose="020B0604020202020204" pitchFamily="34" charset="0"/>
              </a:rPr>
              <a:t>da.</a:t>
            </a: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Libre Franklin"/>
                <a:cs typeface="Arial" panose="020B0604020202020204" pitchFamily="34" charset="0"/>
              </a:rPr>
              <a:t> Ed.) Programación en C (pp. 168-191) Madrid: McGraw-Hill/Interamericana.</a:t>
            </a:r>
            <a:endParaRPr lang="es-NI" sz="2400" dirty="0">
              <a:latin typeface="Arial" panose="020B0604020202020204" pitchFamily="34" charset="0"/>
              <a:ea typeface="Noto Sans Symbols"/>
              <a:cs typeface="Arial" panose="020B0604020202020204" pitchFamily="34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DCD3186-F893-420E-AE62-1C6965A8DD57}"/>
              </a:ext>
            </a:extLst>
          </p:cNvPr>
          <p:cNvSpPr txBox="1">
            <a:spLocks/>
          </p:cNvSpPr>
          <p:nvPr/>
        </p:nvSpPr>
        <p:spPr>
          <a:xfrm>
            <a:off x="94594" y="212555"/>
            <a:ext cx="10026868" cy="569649"/>
          </a:xfrm>
          <a:prstGeom prst="rect">
            <a:avLst/>
          </a:prstGeom>
        </p:spPr>
        <p:txBody>
          <a:bodyPr/>
          <a:lstStyle>
            <a:defPPr>
              <a:defRPr lang="es-NI"/>
            </a:defPPr>
            <a:lvl1pPr algn="ctr" defTabSz="685800">
              <a:lnSpc>
                <a:spcPts val="3960"/>
              </a:lnSpc>
              <a:spcBef>
                <a:spcPct val="0"/>
              </a:spcBef>
              <a:buNone/>
              <a:defRPr sz="2800" b="1">
                <a:solidFill>
                  <a:srgbClr val="0099A8"/>
                </a:solidFill>
                <a:latin typeface="Arial" charset="0"/>
              </a:defRPr>
            </a:lvl1pPr>
          </a:lstStyle>
          <a:p>
            <a:r>
              <a:rPr lang="es-NI" dirty="0" smtClean="0"/>
              <a:t>Bibliografía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1384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46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1370</TotalTime>
  <Words>1437</Words>
  <Application>Microsoft Office PowerPoint</Application>
  <PresentationFormat>Panorámica</PresentationFormat>
  <Paragraphs>72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Calibri</vt:lpstr>
      <vt:lpstr>Franklin Gothic Book</vt:lpstr>
      <vt:lpstr>Franklin Gothic Medium</vt:lpstr>
      <vt:lpstr>Libre Franklin</vt:lpstr>
      <vt:lpstr>Noto Sans Symbols</vt:lpstr>
      <vt:lpstr>Times New Roman</vt:lpstr>
      <vt:lpstr>Tema de Office</vt:lpstr>
      <vt:lpstr>Lógica y Algoritmos Unidad IV: Control de Flujo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César Marín López</cp:lastModifiedBy>
  <cp:revision>149</cp:revision>
  <dcterms:created xsi:type="dcterms:W3CDTF">2019-03-11T22:56:21Z</dcterms:created>
  <dcterms:modified xsi:type="dcterms:W3CDTF">2024-04-20T01:30:30Z</dcterms:modified>
</cp:coreProperties>
</file>